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3177" r:id="rId2"/>
    <p:sldId id="3161" r:id="rId3"/>
    <p:sldId id="3188" r:id="rId4"/>
    <p:sldId id="3189" r:id="rId5"/>
    <p:sldId id="3184" r:id="rId6"/>
    <p:sldId id="3174" r:id="rId7"/>
    <p:sldId id="3181" r:id="rId8"/>
    <p:sldId id="3175" r:id="rId9"/>
    <p:sldId id="3162" r:id="rId10"/>
    <p:sldId id="3178" r:id="rId11"/>
    <p:sldId id="3167" r:id="rId12"/>
    <p:sldId id="3164" r:id="rId13"/>
    <p:sldId id="3165" r:id="rId14"/>
    <p:sldId id="3166" r:id="rId15"/>
    <p:sldId id="3168" r:id="rId16"/>
    <p:sldId id="3170" r:id="rId17"/>
    <p:sldId id="3179" r:id="rId18"/>
    <p:sldId id="3169" r:id="rId19"/>
    <p:sldId id="3163" r:id="rId20"/>
    <p:sldId id="269" r:id="rId21"/>
    <p:sldId id="3192" r:id="rId22"/>
    <p:sldId id="3191" r:id="rId23"/>
    <p:sldId id="3193" r:id="rId24"/>
    <p:sldId id="3194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7B7"/>
    <a:srgbClr val="E5F1F7"/>
    <a:srgbClr val="008DC5"/>
    <a:srgbClr val="D3E7F1"/>
    <a:srgbClr val="2485B8"/>
    <a:srgbClr val="FFFFFF"/>
    <a:srgbClr val="87DDFB"/>
    <a:srgbClr val="8AA7F8"/>
    <a:srgbClr val="AAD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191E0E-CE88-4ABC-8628-128D1FDED876}" type="datetimeFigureOut">
              <a:rPr lang="de-DE" smtClean="0"/>
              <a:t>15.06.2026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95636-C73D-4D7F-B77D-C9B2E258706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711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AF04-4A57-40C7-FDCB-0C21F534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846583-2992-97E2-5746-ADDB82A446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461D5B5-721F-141B-0161-E4F9EB1C7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AFA7AFD-1718-F71C-11DB-031FB0ACF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4510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5702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372C8-97EE-1F70-9F4D-9852E317A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E00DE50-7F31-D77E-DF65-196004746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B5EFEA-620F-4953-84E6-56A58FEFC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9CCE4C4-52C3-B212-6C86-0EDB15A20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6029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7E362-9413-F290-EEF6-D90B031C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8F2E6CF-E478-125C-47ED-958505F83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2C39640-EC0A-D9E0-7EAA-8A9437546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6DE997-5296-E2FC-2EB2-F7D7AB26D2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0029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F7DD7-17FC-A734-E79D-55496B19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3E21AE0-5BFB-A1F7-F23F-1364A6227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CB68281-8CFF-E955-D10E-9FC199BB0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34A502-08D4-1ADB-F333-6E691FD8E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7580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1DA8-A1B7-6E9B-177E-A1191A53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3608557-FF1F-D0B2-6914-15364F77F9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F34C92B-198E-D4E4-97A5-5541C57FE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B79022-858A-E925-AB84-72C5FD3583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924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F23C3-33E5-5C92-EA0D-51A2065C6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0A2D90B-2E43-C4E8-A4BB-DD985839EB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1BED5E2-0DE7-C0A0-C7B4-74FD6025B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70E08E3-63F0-A851-43D4-02E8273280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2763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6E32-772E-4EF1-9A2B-6B0A3CBE1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0226E66-2443-B934-E38E-7681A077A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9D1B606-55D6-26B1-FA7F-7D8E06232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0A4640E-070A-7F6B-B064-E71834D78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2259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7AD0C-2D85-9CE1-C731-FDD86E20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759093F-C9CF-175A-0554-E98873B3C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3BA51EB-70BA-CFBA-7878-D3EF365FCC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B4BF59-5F5C-EEE1-4735-BB40D85291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830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A9ABA-FE95-5894-58F6-01C578F38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C70DE4-34A6-9079-5F77-6F88E1C62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409C4E7-59F0-B9C6-3084-A4AC7DC93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1D127B9-DB4A-E23A-22B9-FCFEF4C7B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7986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56C14-BAB9-DCB1-07F3-8AC977C76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F4B3B8-31F9-D193-7CAC-BDCE6F31D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0796079-3239-DFF1-B409-1120295F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94D4E3D-238C-8208-BCA1-A3E411194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57010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27507-06E2-1B9E-6927-0A42F2477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02C0FC8-1E48-3040-87B0-D65BC0B7F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8B0BBD3-6E0D-00EA-C2F5-7016EBCF8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19C6972-E0F8-C01D-FAD1-6FA38A532A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1047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6C853-CA45-D315-6D5C-16BEC06BA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FD9178F-6184-CAE2-0E43-7652E5B0C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C8E1DD2-1ECB-3F1E-ACFA-584DC6657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567F29F-8658-2B2C-73C5-46DC454C0F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7692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DA860-8D3D-68F9-3C0B-D97E10EAC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455E46F-F29A-A942-C555-1400D373E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F4578B4-0730-DB25-AF98-FA0DBF200B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A64BD5-CF2B-FA97-7142-389384DF3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19611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8D47C-EBB9-8D49-6119-407DFD7B1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28CFA90-0D5E-463E-3E75-62007FB6E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3B21857-3DFD-2E67-2434-6472C30FC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A5CB8-F43B-5FBE-CD43-9A73FF562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1718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B3613-E5BF-490D-09FB-A1ACDD80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7870E46-B6DF-8F6E-2ED7-759FCE859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B5336CC-34D3-1248-38F0-D215F66B7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Instead of isolated sectors, electricity, heat, mobility and industry interact strongly. Modelling helps understand these interactions.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381DD88-B723-93AC-CD2C-3D0C803FE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49604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4D0C4-AC42-9376-4E65-8EB6889C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BF4697C-5758-3AAC-6519-DE63391B3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04B49DF-E366-BF89-EC16-7F9822237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2130C7C-CB6B-212B-1949-8357A59105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3678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7A36A-742A-D6FC-96DC-B2BB67248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E60A38D-E868-A498-939A-B00968B2D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50E0E87-1EC8-DCD3-7CC5-6206EC361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B225A1E-087D-4371-9BD0-043D66F18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56672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2E8CC-66BC-AAC4-C492-B4611822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57AF58E-6D64-5ED8-EA01-8492B055C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9B862AB-8B07-3213-F5DE-034F7A460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6080FF-65E6-8BE7-27DA-CA5073242A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01374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77FA4-B05A-99C5-2C22-5A6230079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99398F2D-1BB6-AE0B-DAC2-3AE77EDAF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39C741B-CE19-41B5-231C-C36EA9297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1062962-EC7F-7888-CA2B-22CF5F05D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890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26E4-2215-6112-00A6-F031F47C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4C7AC2A-ED46-BFC6-17AD-5C733AF60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5CC86B0-9E4B-1EA2-2D76-D63FA05FA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8A9B91-6608-A007-BF84-2AFEA8338B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422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BD7C-08CA-FB03-088D-BA9DD47C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037ECF9-E1B5-7062-BDFB-E429FE434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CCC8C97-F023-613A-4CAC-8ED50E886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9CD461-C30A-C6CE-ACD3-9988B9962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2061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77EF1-D8D3-CC31-CAA9-ED61DD6A8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E959F41-78A4-5BC2-740A-567BE33C2D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6F2A9D1-B4AC-2213-4DC6-2842FA1EF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A11A7B-08E3-EAF3-ED51-4AA64787B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609AE24-0AFB-4C43-B981-F67D27BA9372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68987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59D5-D5F7-499E-A542-8D67DA1A6D1E}" type="datetime1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202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D458-61E8-4CC3-834E-D15DAAA1EF4C}" type="datetime1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451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78833-8532-4D64-97B8-9F905AFC158B}" type="datetime1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014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53D7-5992-47DA-9C75-D83E63A74F8D}" type="datetime1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168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6FAED-E19B-4E30-966C-CB3FE52CA8BA}" type="datetime1">
              <a:rPr lang="de-DE" smtClean="0"/>
              <a:t>15.06.2026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2117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5849D-EED0-4BCE-BD79-20446DCB883D}" type="datetime1">
              <a:rPr lang="de-DE" smtClean="0"/>
              <a:t>15.06.2026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637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F93C5-7115-4627-BB51-806AD47616E2}" type="datetime1">
              <a:rPr lang="de-DE" smtClean="0"/>
              <a:t>15.06.2026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3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22200-C650-4E9C-B846-D35F5DC73F5E}" type="datetime1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259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A23AA-799F-491B-BA20-5458698C68D5}" type="datetime1">
              <a:rPr lang="de-DE" smtClean="0"/>
              <a:t>15.06.2026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1690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C189F-678B-4E0E-92B0-BACBFB9C16C9}" type="datetime1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44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5999B-875B-4D59-8E1A-2C003F4FE930}" type="datetime1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868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OGRAFIK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244D1152-986E-49C0-9AD4-ADEA35E0CA9E}"/>
              </a:ext>
            </a:extLst>
          </p:cNvPr>
          <p:cNvSpPr/>
          <p:nvPr userDrawn="1"/>
        </p:nvSpPr>
        <p:spPr>
          <a:xfrm>
            <a:off x="-15214" y="5902036"/>
            <a:ext cx="12207214" cy="955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Foliennummernplatzhalter 1">
            <a:extLst>
              <a:ext uri="{FF2B5EF4-FFF2-40B4-BE49-F238E27FC236}">
                <a16:creationId xmlns:a16="http://schemas.microsoft.com/office/drawing/2014/main" id="{E078703A-27C6-4ACF-B8EF-B7A2F9687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1598" y="6356350"/>
            <a:ext cx="108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Roboto" pitchFamily="2" charset="0"/>
                <a:ea typeface="Roboto" pitchFamily="2" charset="0"/>
              </a:defRPr>
            </a:lvl1pPr>
          </a:lstStyle>
          <a:p>
            <a:fld id="{AE96859B-CB9A-4A48-92AD-13FDA335494C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CE388B0B-2774-435E-9F87-AA5A6FC9EF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00000"/>
            <a:ext cx="9720000" cy="4680000"/>
          </a:xfrm>
          <a:prstGeom prst="rect">
            <a:avLst/>
          </a:prstGeom>
        </p:spPr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4DC52E5-6455-4E51-8C37-5B986F173825}"/>
              </a:ext>
            </a:extLst>
          </p:cNvPr>
          <p:cNvCxnSpPr>
            <a:cxnSpLocks/>
          </p:cNvCxnSpPr>
          <p:nvPr userDrawn="1"/>
        </p:nvCxnSpPr>
        <p:spPr>
          <a:xfrm>
            <a:off x="-15214" y="5888976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DEE9782A-C38A-63FF-F648-74DB754A74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347" y="5971811"/>
            <a:ext cx="1586592" cy="78675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F32A5F2-B37A-644D-222D-6B01106D5B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96" y="6017168"/>
            <a:ext cx="1586592" cy="58968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FF4FC99-67C4-7533-5B57-1E2334C71266}"/>
              </a:ext>
            </a:extLst>
          </p:cNvPr>
          <p:cNvSpPr txBox="1"/>
          <p:nvPr userDrawn="1"/>
        </p:nvSpPr>
        <p:spPr>
          <a:xfrm>
            <a:off x="6000132" y="5971811"/>
            <a:ext cx="18777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Roboto Slab" pitchFamily="2" charset="0"/>
                <a:ea typeface="Roboto Slab" pitchFamily="2" charset="0"/>
              </a:rPr>
              <a:t>Projektförderung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76A37E06-9F03-8E31-2E6D-5A9B1D9221F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926" y="5935812"/>
            <a:ext cx="3125731" cy="888409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8A9ADE1-EE3C-B819-87C3-8C9A9E33CBA1}"/>
              </a:ext>
            </a:extLst>
          </p:cNvPr>
          <p:cNvSpPr txBox="1"/>
          <p:nvPr userDrawn="1"/>
        </p:nvSpPr>
        <p:spPr>
          <a:xfrm>
            <a:off x="10852342" y="5989541"/>
            <a:ext cx="13396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6BFD978-2F92-4EF1-A6B3-4D1B2CB54AD7}" type="datetime1">
              <a:rPr lang="de-DE" sz="1600" smtClean="0">
                <a:solidFill>
                  <a:schemeClr val="tx1">
                    <a:lumMod val="75000"/>
                    <a:lumOff val="25000"/>
                  </a:schemeClr>
                </a:solidFill>
                <a:latin typeface="Roboto" pitchFamily="2" charset="0"/>
                <a:ea typeface="Roboto" pitchFamily="2" charset="0"/>
              </a:rPr>
              <a:t>15.06.2026</a:t>
            </a:fld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  <a:latin typeface="Roboto" pitchFamily="2" charset="0"/>
              <a:ea typeface="Robo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64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26D9D-720E-405C-BBD2-F2CBA4D8CA36}" type="datetime1">
              <a:rPr lang="de-DE" smtClean="0"/>
              <a:t>15.06.2026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27958-AE93-4D29-9D14-8A002F7E3E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291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tm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7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6.jpeg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6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11" Type="http://schemas.openxmlformats.org/officeDocument/2006/relationships/image" Target="../media/image23.png"/><Relationship Id="rId5" Type="http://schemas.openxmlformats.org/officeDocument/2006/relationships/image" Target="../media/image7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tmp"/><Relationship Id="rId3" Type="http://schemas.openxmlformats.org/officeDocument/2006/relationships/image" Target="../media/image4.jpeg"/><Relationship Id="rId7" Type="http://schemas.openxmlformats.org/officeDocument/2006/relationships/image" Target="../media/image33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tmp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tmp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81FD8-5EE1-1E93-3797-E2168BB5C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82630CD4-1A37-262E-A066-477F4031B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Untertitel 2">
            <a:extLst>
              <a:ext uri="{FF2B5EF4-FFF2-40B4-BE49-F238E27FC236}">
                <a16:creationId xmlns:a16="http://schemas.microsoft.com/office/drawing/2014/main" id="{0D25054C-4ED9-C91D-C413-CD20CE9FFE93}"/>
              </a:ext>
            </a:extLst>
          </p:cNvPr>
          <p:cNvSpPr txBox="1">
            <a:spLocks/>
          </p:cNvSpPr>
          <p:nvPr/>
        </p:nvSpPr>
        <p:spPr>
          <a:xfrm>
            <a:off x="5370109" y="3429000"/>
            <a:ext cx="4919724" cy="12994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Rohith Bala Krishnan,</a:t>
            </a:r>
            <a:b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</a:br>
            <a: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Hochschule Nordhausen (</a:t>
            </a:r>
            <a:r>
              <a:rPr kumimoji="0" lang="de-DE" altLang="de-DE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in.RET</a:t>
            </a:r>
            <a: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)</a:t>
            </a:r>
            <a:b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</a:br>
            <a:b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</a:br>
            <a:endParaRPr kumimoji="0" lang="de-DE" altLang="de-DE" sz="2000" b="0" i="0" u="none" strike="noStrike" kern="1200" cap="none" spc="0" normalizeH="0" baseline="0" noProof="0" dirty="0">
              <a:ln>
                <a:noFill/>
              </a:ln>
              <a:solidFill>
                <a:srgbClr val="008DC5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altLang="de-DE" sz="2000" dirty="0">
                <a:solidFill>
                  <a:srgbClr val="008DC5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Kassel</a:t>
            </a:r>
            <a: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, den 11. </a:t>
            </a:r>
            <a:r>
              <a:rPr lang="de-DE" altLang="de-DE" sz="2000" dirty="0">
                <a:solidFill>
                  <a:srgbClr val="008DC5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Juni</a:t>
            </a:r>
            <a:r>
              <a:rPr kumimoji="0" lang="de-DE" altLang="de-DE" sz="2000" b="0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2026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</a:br>
            <a:br>
              <a:rPr kumimoji="0" lang="de-DE" altLang="de-DE" sz="1800" b="1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</a:br>
            <a:endParaRPr kumimoji="0" lang="de-DE" altLang="de-DE" sz="1800" b="0" i="0" u="none" strike="noStrike" kern="1200" cap="none" spc="0" normalizeH="0" baseline="-25000" noProof="0" dirty="0">
              <a:ln>
                <a:noFill/>
              </a:ln>
              <a:solidFill>
                <a:srgbClr val="008DC5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824221-77BE-252B-6597-1B04F968CAF3}"/>
              </a:ext>
            </a:extLst>
          </p:cNvPr>
          <p:cNvSpPr txBox="1"/>
          <p:nvPr/>
        </p:nvSpPr>
        <p:spPr>
          <a:xfrm>
            <a:off x="5237818" y="1551460"/>
            <a:ext cx="67337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Wie viel EE braucht Thüringen</a:t>
            </a:r>
            <a:r>
              <a:rPr lang="de-DE" sz="3200" b="1" dirty="0">
                <a:solidFill>
                  <a:srgbClr val="008DC5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bis 2045</a:t>
            </a: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200" b="1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Und woher wissen wir das?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1" i="0" u="none" strike="noStrike" kern="1200" cap="none" spc="0" normalizeH="0" baseline="0" noProof="0" dirty="0">
                <a:ln>
                  <a:noFill/>
                </a:ln>
                <a:solidFill>
                  <a:srgbClr val="008DC5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Ergebnisse der Sensitivitätsanalyse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883BC1-91F4-9426-AFCA-E4EE918AAB16}"/>
              </a:ext>
            </a:extLst>
          </p:cNvPr>
          <p:cNvSpPr txBox="1"/>
          <p:nvPr/>
        </p:nvSpPr>
        <p:spPr>
          <a:xfrm>
            <a:off x="5237818" y="1156748"/>
            <a:ext cx="56537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Workshop „Robuste Transformationspfade“</a:t>
            </a:r>
            <a:br>
              <a:rPr kumimoji="0" lang="de-DE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</a:b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BB4ADE-CD7F-F8A6-1E24-BF92AFB5390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51A47DC-D919-73F9-5A90-4CA86ACB79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" r="3753" b="5582"/>
          <a:stretch>
            <a:fillRect/>
          </a:stretch>
        </p:blipFill>
        <p:spPr>
          <a:xfrm>
            <a:off x="19049" y="466725"/>
            <a:ext cx="5233819" cy="539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7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7B49B68-B784-4945-91E9-B3C70430E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166A08A-E3BA-4FBA-A8B8-677304C00D17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6652631E-5A38-4678-83BB-172A02202E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26D1A32F-3F8F-440D-A525-FC1913578ACC}"/>
              </a:ext>
            </a:extLst>
          </p:cNvPr>
          <p:cNvSpPr txBox="1">
            <a:spLocks/>
          </p:cNvSpPr>
          <p:nvPr/>
        </p:nvSpPr>
        <p:spPr>
          <a:xfrm>
            <a:off x="548960" y="178403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Antwort: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Wie viel PV und WIND braucht Thüringen?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ED59108-26ED-3534-4777-AE758FEC72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9068F5E4-105C-9125-E7C4-CC9359AEC0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6371D627-B9BC-1596-B59E-F16E2BEAE3C9}"/>
              </a:ext>
            </a:extLst>
          </p:cNvPr>
          <p:cNvGrpSpPr/>
          <p:nvPr/>
        </p:nvGrpSpPr>
        <p:grpSpPr>
          <a:xfrm>
            <a:off x="771526" y="1829355"/>
            <a:ext cx="5457823" cy="2984780"/>
            <a:chOff x="744366" y="1137642"/>
            <a:chExt cx="5457823" cy="2984780"/>
          </a:xfrm>
        </p:grpSpPr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B9D463B1-EBB1-1DE6-E495-A350A6B86E71}"/>
                </a:ext>
              </a:extLst>
            </p:cNvPr>
            <p:cNvSpPr txBox="1"/>
            <p:nvPr/>
          </p:nvSpPr>
          <p:spPr>
            <a:xfrm>
              <a:off x="1091682" y="1829357"/>
              <a:ext cx="4604580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de-DE" sz="2800" b="1" dirty="0">
                <a:solidFill>
                  <a:srgbClr val="2485B8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de-DE" sz="2800" b="1" dirty="0">
                  <a:solidFill>
                    <a:srgbClr val="2485B8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 – 10,7 GW</a:t>
              </a:r>
            </a:p>
            <a:p>
              <a:pPr algn="ctr"/>
              <a:r>
                <a:rPr lang="de-DE" sz="1100" b="1" i="1" dirty="0">
                  <a:solidFill>
                    <a:srgbClr val="2485B8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(Median)</a:t>
              </a:r>
              <a:endParaRPr lang="de-DE" sz="2800" b="1" i="1" dirty="0">
                <a:solidFill>
                  <a:srgbClr val="2485B8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de-DE" dirty="0"/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E9C8C09-5FA0-FD30-66FE-FB39663DD212}"/>
                </a:ext>
              </a:extLst>
            </p:cNvPr>
            <p:cNvSpPr txBox="1"/>
            <p:nvPr/>
          </p:nvSpPr>
          <p:spPr>
            <a:xfrm>
              <a:off x="744366" y="2911834"/>
              <a:ext cx="5457823" cy="121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dirty="0">
                  <a:latin typeface="Roboto" panose="02000000000000000000" pitchFamily="2" charset="0"/>
                  <a:ea typeface="Roboto" panose="02000000000000000000" pitchFamily="2" charset="0"/>
                </a:rPr>
                <a:t>📈 +563 % im Vergleich zu heute (1,9 GW*)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dirty="0">
                  <a:latin typeface="Roboto" panose="02000000000000000000" pitchFamily="2" charset="0"/>
                  <a:ea typeface="Roboto" panose="02000000000000000000" pitchFamily="2" charset="0"/>
                </a:rPr>
                <a:t>⚡ ca. 24 - 26 TWh Jahresproduktion (2300 </a:t>
              </a:r>
              <a:r>
                <a:rPr lang="de-DE" dirty="0" err="1">
                  <a:latin typeface="Roboto" panose="02000000000000000000" pitchFamily="2" charset="0"/>
                  <a:ea typeface="Roboto" panose="02000000000000000000" pitchFamily="2" charset="0"/>
                </a:rPr>
                <a:t>VLh</a:t>
              </a:r>
              <a:r>
                <a:rPr lang="de-DE" dirty="0">
                  <a:latin typeface="Roboto" panose="02000000000000000000" pitchFamily="2" charset="0"/>
                  <a:ea typeface="Roboto" panose="02000000000000000000" pitchFamily="2" charset="0"/>
                </a:rPr>
                <a:t>)</a:t>
              </a:r>
            </a:p>
            <a:p>
              <a:pPr algn="ctr">
                <a:lnSpc>
                  <a:spcPct val="150000"/>
                </a:lnSpc>
              </a:pPr>
              <a:r>
                <a:rPr lang="de-DE" sz="1400" i="1" dirty="0">
                  <a:latin typeface="Roboto" panose="02000000000000000000" pitchFamily="2" charset="0"/>
                  <a:ea typeface="Roboto" panose="02000000000000000000" pitchFamily="2" charset="0"/>
                </a:rPr>
                <a:t>90% Konfidenzintervall: 8,8 – 12 GW</a:t>
              </a:r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FA1D6B70-E3C9-FF51-F9B6-FF375FBC9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9122" y="1137642"/>
              <a:ext cx="1116000" cy="1116000"/>
            </a:xfrm>
            <a:prstGeom prst="rect">
              <a:avLst/>
            </a:prstGeom>
          </p:spPr>
        </p:pic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D3152501-5F30-1D87-3EC4-1E3B5F7371D5}"/>
              </a:ext>
            </a:extLst>
          </p:cNvPr>
          <p:cNvGrpSpPr/>
          <p:nvPr/>
        </p:nvGrpSpPr>
        <p:grpSpPr>
          <a:xfrm>
            <a:off x="6468577" y="1838368"/>
            <a:ext cx="5342423" cy="2975767"/>
            <a:chOff x="6435867" y="1057276"/>
            <a:chExt cx="5342423" cy="2975767"/>
          </a:xfrm>
        </p:grpSpPr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57BCEE66-EB78-8C6D-9D99-22742BF36232}"/>
                </a:ext>
              </a:extLst>
            </p:cNvPr>
            <p:cNvSpPr txBox="1"/>
            <p:nvPr/>
          </p:nvSpPr>
          <p:spPr>
            <a:xfrm>
              <a:off x="6435868" y="1829355"/>
              <a:ext cx="4525347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de-DE" sz="2800" b="1" dirty="0">
                <a:solidFill>
                  <a:srgbClr val="2485B8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de-DE" sz="2800" b="1" dirty="0">
                  <a:solidFill>
                    <a:srgbClr val="2485B8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10,5 – 10,8 GW</a:t>
              </a:r>
            </a:p>
            <a:p>
              <a:pPr algn="ctr"/>
              <a:r>
                <a:rPr lang="de-DE" sz="1100" b="1" i="1" dirty="0">
                  <a:solidFill>
                    <a:srgbClr val="2485B8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(Median)</a:t>
              </a:r>
              <a:endParaRPr lang="de-DE" sz="1100" b="1" dirty="0">
                <a:solidFill>
                  <a:srgbClr val="2485B8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endParaRPr lang="de-DE" dirty="0"/>
            </a:p>
          </p:txBody>
        </p: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017CF618-3F7A-3942-8DCD-D6EDDB7B5DFD}"/>
                </a:ext>
              </a:extLst>
            </p:cNvPr>
            <p:cNvSpPr txBox="1"/>
            <p:nvPr/>
          </p:nvSpPr>
          <p:spPr>
            <a:xfrm>
              <a:off x="6435867" y="2822455"/>
              <a:ext cx="5342423" cy="12105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dirty="0">
                  <a:latin typeface="Roboto" panose="02000000000000000000" pitchFamily="2" charset="0"/>
                  <a:ea typeface="Roboto" panose="02000000000000000000" pitchFamily="2" charset="0"/>
                </a:rPr>
                <a:t>📈 +338 % im Vergleich zu heute (3,2 GW*)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de-DE" dirty="0">
                  <a:latin typeface="Roboto" panose="02000000000000000000" pitchFamily="2" charset="0"/>
                  <a:ea typeface="Roboto" panose="02000000000000000000" pitchFamily="2" charset="0"/>
                </a:rPr>
                <a:t>⚡ ca. 10 - 11 TWh Jahresproduktion (950 </a:t>
              </a:r>
              <a:r>
                <a:rPr lang="de-DE" dirty="0" err="1">
                  <a:latin typeface="Roboto" panose="02000000000000000000" pitchFamily="2" charset="0"/>
                  <a:ea typeface="Roboto" panose="02000000000000000000" pitchFamily="2" charset="0"/>
                </a:rPr>
                <a:t>VLh</a:t>
              </a:r>
              <a:r>
                <a:rPr lang="de-DE" dirty="0">
                  <a:latin typeface="Roboto" panose="02000000000000000000" pitchFamily="2" charset="0"/>
                  <a:ea typeface="Roboto" panose="02000000000000000000" pitchFamily="2" charset="0"/>
                </a:rPr>
                <a:t>)</a:t>
              </a:r>
            </a:p>
            <a:p>
              <a:pPr algn="ctr">
                <a:lnSpc>
                  <a:spcPct val="150000"/>
                </a:lnSpc>
              </a:pPr>
              <a:r>
                <a:rPr lang="de-DE" sz="1400" i="1" dirty="0">
                  <a:latin typeface="Roboto" panose="02000000000000000000" pitchFamily="2" charset="0"/>
                  <a:ea typeface="Roboto" panose="02000000000000000000" pitchFamily="2" charset="0"/>
                </a:rPr>
                <a:t>90% Konfidenzintervall: 7,5 – 14,3 GW</a:t>
              </a:r>
            </a:p>
          </p:txBody>
        </p:sp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D4013A9E-CD5E-C758-2080-A988DAC25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0542" y="1057276"/>
              <a:ext cx="1116000" cy="1116000"/>
            </a:xfrm>
            <a:prstGeom prst="rect">
              <a:avLst/>
            </a:prstGeom>
          </p:spPr>
        </p:pic>
      </p:grpSp>
      <p:sp>
        <p:nvSpPr>
          <p:cNvPr id="23" name="Textfeld 22">
            <a:extLst>
              <a:ext uri="{FF2B5EF4-FFF2-40B4-BE49-F238E27FC236}">
                <a16:creationId xmlns:a16="http://schemas.microsoft.com/office/drawing/2014/main" id="{D6BC679A-B1AD-65A0-7FC6-EA659714E1F4}"/>
              </a:ext>
            </a:extLst>
          </p:cNvPr>
          <p:cNvSpPr txBox="1"/>
          <p:nvPr/>
        </p:nvSpPr>
        <p:spPr>
          <a:xfrm>
            <a:off x="128588" y="5539114"/>
            <a:ext cx="27908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Roboto" panose="02000000000000000000" pitchFamily="2" charset="0"/>
                <a:ea typeface="Roboto" panose="02000000000000000000" pitchFamily="2" charset="0"/>
              </a:rPr>
              <a:t>*Quelle: Energieatlas Thüringen</a:t>
            </a:r>
          </a:p>
        </p:txBody>
      </p:sp>
    </p:spTree>
    <p:extLst>
      <p:ext uri="{BB962C8B-B14F-4D97-AF65-F5344CB8AC3E}">
        <p14:creationId xmlns:p14="http://schemas.microsoft.com/office/powerpoint/2010/main" val="115547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B4D6-16C4-5062-C94D-591BB38F9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8DAA66E-93EC-5C39-2D5D-CD0DDAEDE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B7AED87-2335-41F5-55EE-E3FD44A30CE8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CF45179-BD5D-BE6D-F966-FE60BFFD137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493F2DE9-C10B-B55E-DAF1-D7806A3874E7}"/>
              </a:ext>
            </a:extLst>
          </p:cNvPr>
          <p:cNvSpPr txBox="1">
            <a:spLocks/>
          </p:cNvSpPr>
          <p:nvPr/>
        </p:nvSpPr>
        <p:spPr>
          <a:xfrm>
            <a:off x="529910" y="362439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Energysystemmodell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2647AE6-ABE8-9BC0-DEAD-7A8430AB58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BE9FF816-3AEA-5F85-8290-4EE2A997DA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78AD683-17CB-ECAA-7075-E48358BF61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8" y="1192108"/>
            <a:ext cx="4900612" cy="469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1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FADB9-65A2-BBD7-CB1F-67A3327E1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4CDC40D-3624-B7CC-E5CA-DE79B5909E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46A7D01-41FD-6FD6-7CB8-A8CB47438B4F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9B3C044-7C4D-E7FE-A7FA-4707298309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68E79C42-A1F2-80B5-1622-448F0F41DE60}"/>
              </a:ext>
            </a:extLst>
          </p:cNvPr>
          <p:cNvSpPr txBox="1">
            <a:spLocks/>
          </p:cNvSpPr>
          <p:nvPr/>
        </p:nvSpPr>
        <p:spPr>
          <a:xfrm>
            <a:off x="529910" y="362439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Energysystemmodell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54A7857-779E-4F73-F40E-934BD390A4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003550D8-49CA-36D1-E00D-6DC9D066F1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718901AA-B558-326E-6434-E2CB13751B2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8" y="1192108"/>
            <a:ext cx="4900612" cy="469482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A15FDF10-663D-E11D-BB2D-4A6F1F3C13C4}"/>
              </a:ext>
            </a:extLst>
          </p:cNvPr>
          <p:cNvSpPr/>
          <p:nvPr/>
        </p:nvSpPr>
        <p:spPr>
          <a:xfrm>
            <a:off x="7116699" y="1164255"/>
            <a:ext cx="5058932" cy="7725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effectLst>
                <a:outerShdw blurRad="50800" dist="50800" dir="5400000" algn="ctr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0FE77CF-627A-F64E-A9DA-606FA5F7EE9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t="-496" r="31512" b="84169"/>
          <a:stretch>
            <a:fillRect/>
          </a:stretch>
        </p:blipFill>
        <p:spPr>
          <a:xfrm>
            <a:off x="463235" y="2868007"/>
            <a:ext cx="587692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409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A398-8749-7B8F-36E1-836A65F9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D8E06D6-50C1-92B9-F39C-7A3A66576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FC924E5-D07C-D72F-9304-9AF9091741B8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9311259-5553-0E0E-10E2-213863E74F0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83C46123-4D8A-4351-7815-7D1C741DA4D1}"/>
              </a:ext>
            </a:extLst>
          </p:cNvPr>
          <p:cNvSpPr txBox="1">
            <a:spLocks/>
          </p:cNvSpPr>
          <p:nvPr/>
        </p:nvSpPr>
        <p:spPr>
          <a:xfrm>
            <a:off x="529910" y="362439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Energysystemmodell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8912592-DC1F-CE81-F245-FDC9DD7E28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C76F2136-64EF-17E8-0B7A-DFEC981D83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60D6941-7BE9-2D57-90D7-2A9FDE19BDC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8" y="1192108"/>
            <a:ext cx="4900612" cy="469482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867F2AF3-14A1-6A81-80B9-68B8862237FF}"/>
              </a:ext>
            </a:extLst>
          </p:cNvPr>
          <p:cNvSpPr/>
          <p:nvPr/>
        </p:nvSpPr>
        <p:spPr>
          <a:xfrm>
            <a:off x="7116699" y="2028826"/>
            <a:ext cx="5058932" cy="22288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effectLst>
                <a:outerShdw blurRad="50800" dist="50800" dir="5400000" algn="ctr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D5593CF-27D9-2D9C-3ADD-7E9FE440375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t="18537" r="31512" b="35261"/>
          <a:stretch>
            <a:fillRect/>
          </a:stretch>
        </p:blipFill>
        <p:spPr>
          <a:xfrm>
            <a:off x="529910" y="1651345"/>
            <a:ext cx="5876925" cy="3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2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5A0D-9D80-9AA8-32AD-A218D448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91401582-F6A1-47A9-97C1-2A0428077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72B46B5-9C60-A8E8-400E-BBCB16291F87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53AD471-2CD6-9EC0-2523-176DA3B11C8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9BEBE815-5FF1-3120-A46C-215EFA8A5F0F}"/>
              </a:ext>
            </a:extLst>
          </p:cNvPr>
          <p:cNvSpPr txBox="1">
            <a:spLocks/>
          </p:cNvSpPr>
          <p:nvPr/>
        </p:nvSpPr>
        <p:spPr>
          <a:xfrm>
            <a:off x="529910" y="362439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Energysystemmodell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0552348-75F7-61D5-0645-7A87E1E4E78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4AC3BACF-165D-42FA-E818-AB7BDF3892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3D8E701-809B-6037-064C-84E10665743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8" y="1192108"/>
            <a:ext cx="4900612" cy="469482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4B63625B-D766-C670-3FF4-43829ECCB828}"/>
              </a:ext>
            </a:extLst>
          </p:cNvPr>
          <p:cNvSpPr/>
          <p:nvPr/>
        </p:nvSpPr>
        <p:spPr>
          <a:xfrm>
            <a:off x="7116699" y="4248150"/>
            <a:ext cx="5058932" cy="11334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effectLst>
                <a:outerShdw blurRad="50800" dist="50800" dir="5400000" algn="ctr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6EFBC5-8F34-E133-72FA-2FDE60A6DFC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67" t="65737" r="4001" b="12262"/>
          <a:stretch>
            <a:fillRect/>
          </a:stretch>
        </p:blipFill>
        <p:spPr>
          <a:xfrm>
            <a:off x="200025" y="2634645"/>
            <a:ext cx="66484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175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8EEE-517A-3DCA-DC3B-0A416A47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966F18B-7404-22A1-FAD5-55F697EA5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35EBFF6-A25C-5778-F9C8-69248663A6EB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3FF5F8E-00B6-70CA-A091-942F68D701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FE35250F-8A62-55D8-4EF7-378DD722ACA4}"/>
              </a:ext>
            </a:extLst>
          </p:cNvPr>
          <p:cNvSpPr txBox="1">
            <a:spLocks/>
          </p:cNvSpPr>
          <p:nvPr/>
        </p:nvSpPr>
        <p:spPr>
          <a:xfrm>
            <a:off x="529910" y="362439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Energysystemmodell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CD1070E-B5DB-1603-D028-C30FBEE0B4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1375991E-29FA-5267-341A-2B61AD5A72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ADC5486-4CFA-FB8D-F83C-01A1DD691B0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228" y="1192108"/>
            <a:ext cx="4900612" cy="469482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B3E9F84-2F8F-7132-19BC-174736A91BA3}"/>
              </a:ext>
            </a:extLst>
          </p:cNvPr>
          <p:cNvSpPr/>
          <p:nvPr/>
        </p:nvSpPr>
        <p:spPr>
          <a:xfrm>
            <a:off x="7116699" y="5362575"/>
            <a:ext cx="5058932" cy="524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effectLst>
                <a:outerShdw blurRad="50800" dist="50800" dir="5400000" algn="ctr" rotWithShape="0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7E96F70-C215-FCD5-8327-62180603201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14" t="89058" r="30404" b="-636"/>
          <a:stretch>
            <a:fillRect/>
          </a:stretch>
        </p:blipFill>
        <p:spPr>
          <a:xfrm>
            <a:off x="554301" y="3314700"/>
            <a:ext cx="60198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94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98C81-353B-75B5-1434-5DDE9A1D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8948ECB-2C05-C32B-A560-D6FD18639D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19" name="Picture 1">
            <a:extLst>
              <a:ext uri="{FF2B5EF4-FFF2-40B4-BE49-F238E27FC236}">
                <a16:creationId xmlns:a16="http://schemas.microsoft.com/office/drawing/2014/main" id="{BD1FF0A3-D80C-BE32-23AB-9E16F0DE5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66" y="4832481"/>
            <a:ext cx="1998820" cy="817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D1AC6A2-B484-34F7-0430-2066F4E1D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3D84A08-0C32-7B70-45EF-A283E9739087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B197B77-0B9A-E504-DC09-5B4E530555D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239E7073-95BF-6DE0-F453-874BFE4777A8}"/>
              </a:ext>
            </a:extLst>
          </p:cNvPr>
          <p:cNvSpPr txBox="1">
            <a:spLocks/>
          </p:cNvSpPr>
          <p:nvPr/>
        </p:nvSpPr>
        <p:spPr>
          <a:xfrm>
            <a:off x="529910" y="362439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Energysystemmodell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49" name="Grafik 48">
            <a:extLst>
              <a:ext uri="{FF2B5EF4-FFF2-40B4-BE49-F238E27FC236}">
                <a16:creationId xmlns:a16="http://schemas.microsoft.com/office/drawing/2014/main" id="{99C9F931-8A4D-B9A1-ECFE-FED79CCE53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580C205-F87B-8C3D-90C8-31514EA62E95}"/>
              </a:ext>
            </a:extLst>
          </p:cNvPr>
          <p:cNvSpPr txBox="1"/>
          <p:nvPr/>
        </p:nvSpPr>
        <p:spPr>
          <a:xfrm>
            <a:off x="433388" y="1238817"/>
            <a:ext cx="6105524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altLang="de-DE" b="1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Wie wir Thüringens Energiezukunft simulieren?</a:t>
            </a: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851D16C-FB5A-05C1-8781-AD0CB5607B07}"/>
              </a:ext>
            </a:extLst>
          </p:cNvPr>
          <p:cNvSpPr txBox="1"/>
          <p:nvPr/>
        </p:nvSpPr>
        <p:spPr>
          <a:xfrm>
            <a:off x="1310634" y="2200004"/>
            <a:ext cx="2638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Technoökonomische Parameter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B40B7D34-5695-934E-CCA6-2E2800E9485A}"/>
              </a:ext>
            </a:extLst>
          </p:cNvPr>
          <p:cNvSpPr txBox="1"/>
          <p:nvPr/>
        </p:nvSpPr>
        <p:spPr>
          <a:xfrm>
            <a:off x="1665789" y="3085771"/>
            <a:ext cx="22526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600" dirty="0" err="1">
                <a:latin typeface="Roboto" panose="02000000000000000000" pitchFamily="2" charset="0"/>
                <a:ea typeface="Roboto" panose="02000000000000000000" pitchFamily="2" charset="0"/>
              </a:rPr>
              <a:t>Randbedinungen</a:t>
            </a:r>
            <a:endParaRPr lang="de-DE" sz="16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848C888-86B7-5948-8451-192DD852349B}"/>
              </a:ext>
            </a:extLst>
          </p:cNvPr>
          <p:cNvSpPr txBox="1"/>
          <p:nvPr/>
        </p:nvSpPr>
        <p:spPr>
          <a:xfrm>
            <a:off x="2046982" y="3865039"/>
            <a:ext cx="18689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Zeitreihen</a:t>
            </a: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EB75DCEB-1AF7-7903-4A3E-F38AD5A65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457" y="4744392"/>
            <a:ext cx="2017312" cy="914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">
            <a:extLst>
              <a:ext uri="{FF2B5EF4-FFF2-40B4-BE49-F238E27FC236}">
                <a16:creationId xmlns:a16="http://schemas.microsoft.com/office/drawing/2014/main" id="{520FEFD1-06AA-BF51-89B2-CE0E71B42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10"/>
          <a:stretch>
            <a:fillRect/>
          </a:stretch>
        </p:blipFill>
        <p:spPr bwMode="auto">
          <a:xfrm>
            <a:off x="209320" y="3720967"/>
            <a:ext cx="2035805" cy="823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4D4D9EC0-96F9-762E-7D5B-BB97D94B916D}"/>
              </a:ext>
            </a:extLst>
          </p:cNvPr>
          <p:cNvSpPr txBox="1"/>
          <p:nvPr/>
        </p:nvSpPr>
        <p:spPr>
          <a:xfrm>
            <a:off x="376144" y="3394770"/>
            <a:ext cx="1868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Lastprofile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D2EFC13E-51A3-69CB-8B61-6986EFCCCE11}"/>
              </a:ext>
            </a:extLst>
          </p:cNvPr>
          <p:cNvSpPr txBox="1"/>
          <p:nvPr/>
        </p:nvSpPr>
        <p:spPr>
          <a:xfrm>
            <a:off x="377239" y="4555482"/>
            <a:ext cx="18689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Einspeiseprofile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8E46232A-B0F9-8ED2-3C52-7C9A18B0FB3E}"/>
              </a:ext>
            </a:extLst>
          </p:cNvPr>
          <p:cNvSpPr txBox="1"/>
          <p:nvPr/>
        </p:nvSpPr>
        <p:spPr>
          <a:xfrm>
            <a:off x="2180848" y="4465440"/>
            <a:ext cx="2017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dirty="0">
                <a:solidFill>
                  <a:schemeClr val="accent3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Importstrompreise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BDB0EC71-6C5E-D496-DC13-07E57A146588}"/>
              </a:ext>
            </a:extLst>
          </p:cNvPr>
          <p:cNvSpPr/>
          <p:nvPr/>
        </p:nvSpPr>
        <p:spPr>
          <a:xfrm>
            <a:off x="4914372" y="2091707"/>
            <a:ext cx="2638423" cy="2925636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6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31F8F6-4D21-6107-B92C-A19E34F42BD9}"/>
              </a:ext>
            </a:extLst>
          </p:cNvPr>
          <p:cNvSpPr txBox="1"/>
          <p:nvPr/>
        </p:nvSpPr>
        <p:spPr>
          <a:xfrm>
            <a:off x="1728788" y="1580698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 err="1">
                <a:latin typeface="Roboto" panose="02000000000000000000" pitchFamily="2" charset="0"/>
                <a:ea typeface="Roboto" panose="02000000000000000000" pitchFamily="2" charset="0"/>
              </a:rPr>
              <a:t>Preprocessing</a:t>
            </a:r>
            <a:endParaRPr lang="de-DE" b="1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15F4FBB3-DED2-2BF5-8EBE-D6D53C664DCC}"/>
              </a:ext>
            </a:extLst>
          </p:cNvPr>
          <p:cNvSpPr txBox="1"/>
          <p:nvPr/>
        </p:nvSpPr>
        <p:spPr>
          <a:xfrm>
            <a:off x="4970052" y="1580449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Processing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AAA4E73E-C2DD-C97E-32D4-A35A098DCCF6}"/>
              </a:ext>
            </a:extLst>
          </p:cNvPr>
          <p:cNvSpPr txBox="1"/>
          <p:nvPr/>
        </p:nvSpPr>
        <p:spPr>
          <a:xfrm>
            <a:off x="8897949" y="1553320"/>
            <a:ext cx="25336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Post-Processing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F5E3ED5-F401-F08E-C91A-0CA4E6059D33}"/>
              </a:ext>
            </a:extLst>
          </p:cNvPr>
          <p:cNvSpPr txBox="1"/>
          <p:nvPr/>
        </p:nvSpPr>
        <p:spPr>
          <a:xfrm>
            <a:off x="4965290" y="2268952"/>
            <a:ext cx="25336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Model </a:t>
            </a:r>
            <a:r>
              <a:rPr lang="de-DE" dirty="0" err="1"/>
              <a:t>aufbau</a:t>
            </a:r>
            <a:endParaRPr lang="de-DE" dirty="0"/>
          </a:p>
          <a:p>
            <a:pPr algn="ctr"/>
            <a:r>
              <a:rPr lang="de-DE" sz="1050" i="1" dirty="0">
                <a:latin typeface="Roboto" panose="02000000000000000000" pitchFamily="2" charset="0"/>
                <a:ea typeface="Roboto" panose="02000000000000000000" pitchFamily="2" charset="0"/>
              </a:rPr>
              <a:t>mit Open Energy Modelling Framework (</a:t>
            </a:r>
            <a:r>
              <a:rPr lang="de-DE" sz="1050" i="1" dirty="0" err="1">
                <a:latin typeface="Roboto" panose="02000000000000000000" pitchFamily="2" charset="0"/>
                <a:ea typeface="Roboto" panose="02000000000000000000" pitchFamily="2" charset="0"/>
              </a:rPr>
              <a:t>oemof</a:t>
            </a:r>
            <a:r>
              <a:rPr lang="de-DE" sz="1050" i="1" dirty="0">
                <a:latin typeface="Roboto" panose="02000000000000000000" pitchFamily="2" charset="0"/>
                <a:ea typeface="Roboto" panose="02000000000000000000" pitchFamily="2" charset="0"/>
              </a:rPr>
              <a:t>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73088E5-A0B1-4BC3-9772-A54BF9DF47C3}"/>
              </a:ext>
            </a:extLst>
          </p:cNvPr>
          <p:cNvSpPr txBox="1"/>
          <p:nvPr/>
        </p:nvSpPr>
        <p:spPr>
          <a:xfrm>
            <a:off x="5097772" y="3326672"/>
            <a:ext cx="2268684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Constraints</a:t>
            </a:r>
          </a:p>
          <a:p>
            <a:pPr algn="ctr"/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Optimierung</a:t>
            </a:r>
          </a:p>
          <a:p>
            <a:pPr algn="ctr"/>
            <a:r>
              <a:rPr lang="de-DE" sz="1100" i="1" dirty="0">
                <a:latin typeface="Roboto" panose="02000000000000000000" pitchFamily="2" charset="0"/>
                <a:ea typeface="Roboto" panose="02000000000000000000" pitchFamily="2" charset="0"/>
              </a:rPr>
              <a:t>Solver: </a:t>
            </a:r>
            <a:r>
              <a:rPr lang="de-DE" sz="1100" i="1" dirty="0" err="1">
                <a:latin typeface="Roboto" panose="02000000000000000000" pitchFamily="2" charset="0"/>
                <a:ea typeface="Roboto" panose="02000000000000000000" pitchFamily="2" charset="0"/>
              </a:rPr>
              <a:t>Gurobi</a:t>
            </a:r>
            <a:r>
              <a:rPr lang="de-DE" sz="1100" i="1" dirty="0">
                <a:latin typeface="Roboto" panose="02000000000000000000" pitchFamily="2" charset="0"/>
                <a:ea typeface="Roboto" panose="02000000000000000000" pitchFamily="2" charset="0"/>
              </a:rPr>
              <a:t>/CBC</a:t>
            </a:r>
          </a:p>
          <a:p>
            <a:pPr algn="ctr"/>
            <a:r>
              <a:rPr lang="de-DE" sz="1100" i="1" dirty="0">
                <a:latin typeface="Roboto" panose="02000000000000000000" pitchFamily="2" charset="0"/>
                <a:ea typeface="Roboto" panose="02000000000000000000" pitchFamily="2" charset="0"/>
              </a:rPr>
              <a:t>Zielfunktion: Kosten Minimierung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59FDC0BD-7D08-0037-6127-A53D52612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824" y="1949781"/>
            <a:ext cx="2874314" cy="3303423"/>
          </a:xfrm>
          <a:prstGeom prst="roundRect">
            <a:avLst/>
          </a:prstGeom>
          <a:noFill/>
          <a:ln w="38100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defPPr>
              <a:defRPr lang="de-DE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+mn-cs"/>
              </a:defRPr>
            </a:lvl9pPr>
          </a:lstStyle>
          <a:p>
            <a:pPr>
              <a:spcBef>
                <a:spcPts val="700"/>
              </a:spcBef>
              <a:spcAft>
                <a:spcPts val="0"/>
              </a:spcAft>
            </a:pPr>
            <a:r>
              <a:rPr lang="de-DE" altLang="de-DE" sz="1600" b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Optimierte </a:t>
            </a:r>
            <a:r>
              <a:rPr lang="de-DE" altLang="de-DE" sz="1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E</a:t>
            </a:r>
            <a:r>
              <a:rPr lang="de-DE" altLang="de-DE" sz="1600" b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E-Leistung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endParaRPr lang="de-DE" altLang="de-DE" sz="1600" b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lang="de-DE" altLang="de-DE" sz="1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Optimierte</a:t>
            </a:r>
            <a:r>
              <a:rPr lang="de-DE" altLang="de-DE" sz="1600" b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 </a:t>
            </a:r>
            <a:r>
              <a:rPr lang="de-DE" altLang="de-DE" sz="1600" b="0" dirty="0" err="1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PtX</a:t>
            </a:r>
            <a:r>
              <a:rPr lang="de-DE" altLang="de-DE" sz="1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-L</a:t>
            </a:r>
            <a:r>
              <a:rPr lang="de-DE" altLang="de-DE" sz="1600" b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eistung</a:t>
            </a:r>
          </a:p>
          <a:p>
            <a:pPr>
              <a:spcBef>
                <a:spcPts val="700"/>
              </a:spcBef>
              <a:spcAft>
                <a:spcPts val="0"/>
              </a:spcAft>
            </a:pPr>
            <a:endParaRPr lang="de-DE" altLang="de-DE" sz="1600" b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lang="de-DE" altLang="de-DE" sz="1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Speicherkapazität</a:t>
            </a:r>
            <a:endParaRPr lang="de-DE" altLang="de-DE" sz="1600" b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spcAft>
                <a:spcPts val="0"/>
              </a:spcAft>
            </a:pPr>
            <a:endParaRPr lang="de-DE" altLang="de-DE" sz="1600" b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lang="de-DE" altLang="de-DE" sz="1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Gesamtsystemkosten</a:t>
            </a:r>
            <a:endParaRPr lang="de-DE" altLang="de-DE" sz="1600" b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spcAft>
                <a:spcPts val="0"/>
              </a:spcAft>
            </a:pPr>
            <a:endParaRPr lang="de-DE" altLang="de-DE" sz="1600" b="0" dirty="0">
              <a:latin typeface="Roboto" panose="02000000000000000000" pitchFamily="2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ts val="700"/>
              </a:spcBef>
              <a:spcAft>
                <a:spcPts val="0"/>
              </a:spcAft>
            </a:pPr>
            <a:r>
              <a:rPr lang="de-DE" altLang="de-DE" sz="160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Gesamtsystem</a:t>
            </a:r>
            <a:r>
              <a:rPr lang="de-DE" altLang="de-DE" sz="1600" b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emissionen</a:t>
            </a:r>
          </a:p>
        </p:txBody>
      </p:sp>
      <p:sp>
        <p:nvSpPr>
          <p:cNvPr id="37" name="Pfeil: nach rechts 36">
            <a:extLst>
              <a:ext uri="{FF2B5EF4-FFF2-40B4-BE49-F238E27FC236}">
                <a16:creationId xmlns:a16="http://schemas.microsoft.com/office/drawing/2014/main" id="{99E64821-052B-B3D7-697D-871D78543A3B}"/>
              </a:ext>
            </a:extLst>
          </p:cNvPr>
          <p:cNvSpPr/>
          <p:nvPr/>
        </p:nvSpPr>
        <p:spPr>
          <a:xfrm>
            <a:off x="7549855" y="3118870"/>
            <a:ext cx="1109194" cy="564421"/>
          </a:xfrm>
          <a:prstGeom prst="rightArrow">
            <a:avLst/>
          </a:prstGeom>
          <a:solidFill>
            <a:srgbClr val="D3E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Pfeil: nach rechts 37">
            <a:extLst>
              <a:ext uri="{FF2B5EF4-FFF2-40B4-BE49-F238E27FC236}">
                <a16:creationId xmlns:a16="http://schemas.microsoft.com/office/drawing/2014/main" id="{501F9411-BB90-09D8-C042-63A7AD7049A9}"/>
              </a:ext>
            </a:extLst>
          </p:cNvPr>
          <p:cNvSpPr/>
          <p:nvPr/>
        </p:nvSpPr>
        <p:spPr>
          <a:xfrm>
            <a:off x="3939640" y="3118870"/>
            <a:ext cx="959393" cy="341632"/>
          </a:xfrm>
          <a:prstGeom prst="rightArrow">
            <a:avLst/>
          </a:prstGeom>
          <a:solidFill>
            <a:srgbClr val="D3E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9" name="Pfeil: nach rechts 38">
            <a:extLst>
              <a:ext uri="{FF2B5EF4-FFF2-40B4-BE49-F238E27FC236}">
                <a16:creationId xmlns:a16="http://schemas.microsoft.com/office/drawing/2014/main" id="{517BF66D-7B49-AA80-A3F2-878FD8A91AA2}"/>
              </a:ext>
            </a:extLst>
          </p:cNvPr>
          <p:cNvSpPr/>
          <p:nvPr/>
        </p:nvSpPr>
        <p:spPr>
          <a:xfrm>
            <a:off x="3923633" y="3880858"/>
            <a:ext cx="959393" cy="341632"/>
          </a:xfrm>
          <a:prstGeom prst="rightArrow">
            <a:avLst/>
          </a:prstGeom>
          <a:solidFill>
            <a:srgbClr val="D3E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Pfeil: nach rechts 39">
            <a:extLst>
              <a:ext uri="{FF2B5EF4-FFF2-40B4-BE49-F238E27FC236}">
                <a16:creationId xmlns:a16="http://schemas.microsoft.com/office/drawing/2014/main" id="{A5FE502A-4124-A180-76D0-F72EF97BE2E0}"/>
              </a:ext>
            </a:extLst>
          </p:cNvPr>
          <p:cNvSpPr/>
          <p:nvPr/>
        </p:nvSpPr>
        <p:spPr>
          <a:xfrm>
            <a:off x="3924706" y="2452079"/>
            <a:ext cx="959393" cy="341632"/>
          </a:xfrm>
          <a:prstGeom prst="rightArrow">
            <a:avLst/>
          </a:prstGeom>
          <a:solidFill>
            <a:srgbClr val="D3E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16F4F7D-9559-39C0-EEF8-C8A32CCE9E3A}"/>
              </a:ext>
            </a:extLst>
          </p:cNvPr>
          <p:cNvCxnSpPr>
            <a:cxnSpLocks/>
          </p:cNvCxnSpPr>
          <p:nvPr/>
        </p:nvCxnSpPr>
        <p:spPr>
          <a:xfrm flipH="1">
            <a:off x="2245125" y="3981450"/>
            <a:ext cx="498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ECAF4DBC-A1B3-956D-5EB0-FCC62C770217}"/>
              </a:ext>
            </a:extLst>
          </p:cNvPr>
          <p:cNvCxnSpPr>
            <a:cxnSpLocks/>
          </p:cNvCxnSpPr>
          <p:nvPr/>
        </p:nvCxnSpPr>
        <p:spPr>
          <a:xfrm flipH="1">
            <a:off x="2046982" y="4133850"/>
            <a:ext cx="753368" cy="698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73CE6B5-B6E6-D370-35DB-0BAED79741E3}"/>
              </a:ext>
            </a:extLst>
          </p:cNvPr>
          <p:cNvCxnSpPr>
            <a:cxnSpLocks/>
          </p:cNvCxnSpPr>
          <p:nvPr/>
        </p:nvCxnSpPr>
        <p:spPr>
          <a:xfrm>
            <a:off x="3123446" y="4222490"/>
            <a:ext cx="0" cy="2066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69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7" grpId="0"/>
      <p:bldP spid="22" grpId="0"/>
      <p:bldP spid="23" grpId="0"/>
      <p:bldP spid="24" grpId="0"/>
      <p:bldP spid="25" grpId="0" animBg="1"/>
      <p:bldP spid="29" grpId="0"/>
      <p:bldP spid="30" grpId="0"/>
      <p:bldP spid="33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021B5-E6B3-CC0B-E7C0-8E723A50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94420AE-E8EA-8F21-7F0F-CBE8C65D2C9B}"/>
              </a:ext>
            </a:extLst>
          </p:cNvPr>
          <p:cNvSpPr/>
          <p:nvPr/>
        </p:nvSpPr>
        <p:spPr>
          <a:xfrm>
            <a:off x="1206106" y="2474117"/>
            <a:ext cx="2378024" cy="2634948"/>
          </a:xfrm>
          <a:prstGeom prst="roundRect">
            <a:avLst/>
          </a:prstGeom>
          <a:solidFill>
            <a:srgbClr val="E5F1F7"/>
          </a:solidFill>
          <a:ln>
            <a:solidFill>
              <a:srgbClr val="AAD7D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0040" tIns="345967" rIns="320040" bIns="320040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</p:txBody>
      </p:sp>
      <p:sp>
        <p:nvSpPr>
          <p:cNvPr id="46" name="Flussdiagramm: Verbinder 45">
            <a:extLst>
              <a:ext uri="{FF2B5EF4-FFF2-40B4-BE49-F238E27FC236}">
                <a16:creationId xmlns:a16="http://schemas.microsoft.com/office/drawing/2014/main" id="{03CDC193-3834-C55D-05AC-787FDF9DE566}"/>
              </a:ext>
            </a:extLst>
          </p:cNvPr>
          <p:cNvSpPr/>
          <p:nvPr/>
        </p:nvSpPr>
        <p:spPr>
          <a:xfrm>
            <a:off x="936829" y="2213316"/>
            <a:ext cx="648000" cy="648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F9F45915-632D-62DF-253A-BEC69B145AB2}"/>
              </a:ext>
            </a:extLst>
          </p:cNvPr>
          <p:cNvSpPr/>
          <p:nvPr/>
        </p:nvSpPr>
        <p:spPr>
          <a:xfrm>
            <a:off x="4769978" y="2474117"/>
            <a:ext cx="2378024" cy="2634948"/>
          </a:xfrm>
          <a:prstGeom prst="roundRect">
            <a:avLst/>
          </a:prstGeom>
          <a:solidFill>
            <a:srgbClr val="E5F1F7"/>
          </a:solidFill>
          <a:ln>
            <a:solidFill>
              <a:srgbClr val="AAD7D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0040" tIns="345967" rIns="320040" bIns="320040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</p:txBody>
      </p:sp>
      <p:sp>
        <p:nvSpPr>
          <p:cNvPr id="38" name="Flussdiagramm: Verbinder 37">
            <a:extLst>
              <a:ext uri="{FF2B5EF4-FFF2-40B4-BE49-F238E27FC236}">
                <a16:creationId xmlns:a16="http://schemas.microsoft.com/office/drawing/2014/main" id="{5A7DD014-BC89-52CE-6E3A-C40F65F79A57}"/>
              </a:ext>
            </a:extLst>
          </p:cNvPr>
          <p:cNvSpPr/>
          <p:nvPr/>
        </p:nvSpPr>
        <p:spPr>
          <a:xfrm>
            <a:off x="4555825" y="2213316"/>
            <a:ext cx="648000" cy="6480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51BC938-9283-BF13-4645-0046843BA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4E7C8C10-3AC7-6F7F-46E0-572F0E661FB1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F0C2D2D-2219-2662-9D17-1A646A603E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678C0478-3523-C9A8-B4FF-EF162B889781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Unsere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Methodik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Zwei </a:t>
            </a: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Wege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zum</a:t>
            </a: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selben</a:t>
            </a: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Ergebnis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DA3EBC2-1C2D-3F5B-1AB8-E15FE04913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81CE29A7-7A29-A21A-CE76-B2908907CA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EB9ECB92-2CC4-8700-EAA4-410B2E0E64FE}"/>
              </a:ext>
            </a:extLst>
          </p:cNvPr>
          <p:cNvSpPr/>
          <p:nvPr/>
        </p:nvSpPr>
        <p:spPr>
          <a:xfrm rot="16200000">
            <a:off x="1266450" y="3730589"/>
            <a:ext cx="2418221" cy="338733"/>
          </a:xfrm>
          <a:custGeom>
            <a:avLst/>
            <a:gdLst>
              <a:gd name="connsiteX0" fmla="*/ 0 w 4226560"/>
              <a:gd name="connsiteY0" fmla="*/ 0 h 392277"/>
              <a:gd name="connsiteX1" fmla="*/ 4226560 w 4226560"/>
              <a:gd name="connsiteY1" fmla="*/ 0 h 392277"/>
              <a:gd name="connsiteX2" fmla="*/ 4226560 w 4226560"/>
              <a:gd name="connsiteY2" fmla="*/ 392277 h 392277"/>
              <a:gd name="connsiteX3" fmla="*/ 0 w 4226560"/>
              <a:gd name="connsiteY3" fmla="*/ 392277 h 392277"/>
              <a:gd name="connsiteX4" fmla="*/ 0 w 4226560"/>
              <a:gd name="connsiteY4" fmla="*/ 0 h 39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560" h="392277">
                <a:moveTo>
                  <a:pt x="0" y="0"/>
                </a:moveTo>
                <a:lnTo>
                  <a:pt x="4226560" y="0"/>
                </a:lnTo>
                <a:lnTo>
                  <a:pt x="4226560" y="392277"/>
                </a:lnTo>
                <a:lnTo>
                  <a:pt x="0" y="3922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-1" tIns="-1" rIns="345967" bIns="0" numCol="1" spcCol="1270" anchor="t" anchorCtr="0">
            <a:noAutofit/>
          </a:bodyPr>
          <a:lstStyle/>
          <a:p>
            <a:pPr marL="0" lvl="0" indent="0" algn="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2800" kern="1200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58BEE27-BAFB-9179-8D11-E0DF938A3413}"/>
              </a:ext>
            </a:extLst>
          </p:cNvPr>
          <p:cNvSpPr/>
          <p:nvPr/>
        </p:nvSpPr>
        <p:spPr>
          <a:xfrm rot="16200000">
            <a:off x="3720129" y="3730589"/>
            <a:ext cx="2418221" cy="338733"/>
          </a:xfrm>
          <a:custGeom>
            <a:avLst/>
            <a:gdLst>
              <a:gd name="connsiteX0" fmla="*/ 0 w 4226560"/>
              <a:gd name="connsiteY0" fmla="*/ 0 h 392277"/>
              <a:gd name="connsiteX1" fmla="*/ 4226560 w 4226560"/>
              <a:gd name="connsiteY1" fmla="*/ 0 h 392277"/>
              <a:gd name="connsiteX2" fmla="*/ 4226560 w 4226560"/>
              <a:gd name="connsiteY2" fmla="*/ 392277 h 392277"/>
              <a:gd name="connsiteX3" fmla="*/ 0 w 4226560"/>
              <a:gd name="connsiteY3" fmla="*/ 392277 h 392277"/>
              <a:gd name="connsiteX4" fmla="*/ 0 w 4226560"/>
              <a:gd name="connsiteY4" fmla="*/ 0 h 392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26560" h="392277">
                <a:moveTo>
                  <a:pt x="0" y="0"/>
                </a:moveTo>
                <a:lnTo>
                  <a:pt x="4226560" y="0"/>
                </a:lnTo>
                <a:lnTo>
                  <a:pt x="4226560" y="392277"/>
                </a:lnTo>
                <a:lnTo>
                  <a:pt x="0" y="39227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-1" tIns="-1" rIns="345967" bIns="0" numCol="1" spcCol="1270" anchor="t" anchorCtr="0">
            <a:noAutofit/>
          </a:bodyPr>
          <a:lstStyle/>
          <a:p>
            <a:pPr marL="0" lvl="0" indent="0" algn="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de-DE" sz="2800" kern="120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8D3CC33-7484-BBCA-832F-35F3635968C6}"/>
              </a:ext>
            </a:extLst>
          </p:cNvPr>
          <p:cNvSpPr txBox="1"/>
          <p:nvPr/>
        </p:nvSpPr>
        <p:spPr>
          <a:xfrm>
            <a:off x="1317582" y="2796470"/>
            <a:ext cx="2243006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So </a:t>
            </a:r>
            <a:r>
              <a:rPr lang="en-US" sz="1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funtioniert</a:t>
            </a:r>
            <a:r>
              <a: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es: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Start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mit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Basis-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Werten</a:t>
            </a: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Ändere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EINEN Parameter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Messe die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Änderung</a:t>
            </a: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Wiederhole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100 mal pro Parameter</a:t>
            </a:r>
          </a:p>
          <a:p>
            <a:pPr>
              <a:spcBef>
                <a:spcPts val="600"/>
              </a:spcBef>
            </a:pP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Ergebnis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: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Welche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Parameter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überhaupt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Einfluss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haben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?</a:t>
            </a:r>
            <a:endParaRPr lang="de-DE" sz="1100" i="1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41E8C1C3-5F56-FDA8-1532-5F7F07D9F299}"/>
              </a:ext>
            </a:extLst>
          </p:cNvPr>
          <p:cNvSpPr txBox="1"/>
          <p:nvPr/>
        </p:nvSpPr>
        <p:spPr>
          <a:xfrm>
            <a:off x="951563" y="1540955"/>
            <a:ext cx="2869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Morris</a:t>
            </a:r>
          </a:p>
          <a:p>
            <a:pPr algn="ctr"/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Der schnelle Screening-Test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3EE279B3-F5C8-30E3-9AE2-523779228C27}"/>
              </a:ext>
            </a:extLst>
          </p:cNvPr>
          <p:cNvSpPr txBox="1"/>
          <p:nvPr/>
        </p:nvSpPr>
        <p:spPr>
          <a:xfrm>
            <a:off x="4452586" y="1540954"/>
            <a:ext cx="2869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Monte Carlo</a:t>
            </a:r>
          </a:p>
          <a:p>
            <a:pPr algn="ctr"/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Die gründliche Simulation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133955D5-F3A9-6C25-B7A9-D57E2A5AE966}"/>
              </a:ext>
            </a:extLst>
          </p:cNvPr>
          <p:cNvSpPr txBox="1"/>
          <p:nvPr/>
        </p:nvSpPr>
        <p:spPr>
          <a:xfrm>
            <a:off x="7923487" y="1488571"/>
            <a:ext cx="28699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Validierung</a:t>
            </a:r>
          </a:p>
          <a:p>
            <a:pPr algn="ctr"/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Zwei Methoden, eine Antwort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09129DC1-E5D0-4A62-ED6A-19B911528796}"/>
              </a:ext>
            </a:extLst>
          </p:cNvPr>
          <p:cNvSpPr txBox="1"/>
          <p:nvPr/>
        </p:nvSpPr>
        <p:spPr>
          <a:xfrm>
            <a:off x="4871480" y="2796470"/>
            <a:ext cx="2243006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So </a:t>
            </a:r>
            <a:r>
              <a:rPr lang="en-US" sz="1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funtioniert</a:t>
            </a:r>
            <a:r>
              <a: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es: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Zufällige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Werte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für ALLE Parameter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Berechne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das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Ergebnis</a:t>
            </a: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Wiederhole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1400 mal</a:t>
            </a:r>
          </a:p>
          <a:p>
            <a:pPr marL="228600" indent="-228600">
              <a:spcBef>
                <a:spcPts val="600"/>
              </a:spcBef>
              <a:buFont typeface="+mj-lt"/>
              <a:buAutoNum type="arabicPeriod"/>
            </a:pP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Analysiere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die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Verteilung</a:t>
            </a: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>
              <a:spcBef>
                <a:spcPts val="600"/>
              </a:spcBef>
            </a:pP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Ergebnis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: Wie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sicher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ist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die 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Vorhersage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? (</a:t>
            </a:r>
            <a:r>
              <a:rPr lang="en-US" sz="1100" i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Unsicherheit</a:t>
            </a:r>
            <a:r>
              <a:rPr lang="en-US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)</a:t>
            </a:r>
            <a:endParaRPr lang="de-DE" sz="1100" i="1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02AEA841-23AB-3B38-CCBC-4DA4AE594E40}"/>
              </a:ext>
            </a:extLst>
          </p:cNvPr>
          <p:cNvSpPr/>
          <p:nvPr/>
        </p:nvSpPr>
        <p:spPr>
          <a:xfrm>
            <a:off x="8339758" y="2474117"/>
            <a:ext cx="2378024" cy="2634948"/>
          </a:xfrm>
          <a:prstGeom prst="roundRect">
            <a:avLst/>
          </a:prstGeom>
          <a:solidFill>
            <a:srgbClr val="E5F1F7"/>
          </a:solidFill>
          <a:ln>
            <a:solidFill>
              <a:srgbClr val="AAD7D4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0040" tIns="345967" rIns="320040" bIns="320040" numCol="1" spcCol="1270" anchor="t" anchorCtr="0">
            <a:noAutofit/>
          </a:bodyPr>
          <a:lstStyle/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  <a:p>
            <a:pPr marL="285750" lvl="1" indent="-285750" algn="l" defTabSz="15557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3500" kern="1200" dirty="0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12B5DE39-24D3-B1B6-5BAC-E1DB64180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219" y="2213316"/>
            <a:ext cx="612000" cy="612000"/>
          </a:xfrm>
          <a:prstGeom prst="rect">
            <a:avLst/>
          </a:prstGeom>
        </p:spPr>
      </p:pic>
      <p:sp>
        <p:nvSpPr>
          <p:cNvPr id="35" name="Textfeld 34">
            <a:extLst>
              <a:ext uri="{FF2B5EF4-FFF2-40B4-BE49-F238E27FC236}">
                <a16:creationId xmlns:a16="http://schemas.microsoft.com/office/drawing/2014/main" id="{A82C57BE-EE71-00A6-F73D-4EE629DDAF7D}"/>
              </a:ext>
            </a:extLst>
          </p:cNvPr>
          <p:cNvSpPr txBox="1"/>
          <p:nvPr/>
        </p:nvSpPr>
        <p:spPr>
          <a:xfrm>
            <a:off x="8438219" y="2690844"/>
            <a:ext cx="224300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de-DE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Die 3 wichtigen Parameter sind identisch</a:t>
            </a:r>
          </a:p>
          <a:p>
            <a:pPr marL="171450" indent="-1714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In 90% der Fälle gleiches Ranking</a:t>
            </a:r>
          </a:p>
          <a:p>
            <a:pPr>
              <a:spcBef>
                <a:spcPts val="600"/>
              </a:spcBef>
            </a:pPr>
            <a:endParaRPr lang="de-DE" sz="1200" dirty="0">
              <a:solidFill>
                <a:prstClr val="black">
                  <a:lumMod val="75000"/>
                  <a:lumOff val="25000"/>
                </a:prstClr>
              </a:solidFill>
              <a:latin typeface="Roboto" pitchFamily="2" charset="0"/>
              <a:ea typeface="Roboto" pitchFamily="2" charset="0"/>
            </a:endParaRPr>
          </a:p>
          <a:p>
            <a:pPr>
              <a:spcBef>
                <a:spcPts val="600"/>
              </a:spcBef>
            </a:pPr>
            <a:r>
              <a:rPr lang="de-DE" sz="1100" i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Das bedeutet</a:t>
            </a:r>
            <a:r>
              <a:rPr lang="de-DE" sz="1100" i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: Robuste und unabhängige Ergebnisse von der gewählten Methode</a:t>
            </a: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2085323E-9D61-67E5-1AC1-41D9C1F5AE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7226" y="2213316"/>
            <a:ext cx="612000" cy="61200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6D6460B9-31DD-0E39-1386-9D268F1E1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631" y="2244928"/>
            <a:ext cx="584775" cy="584775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F584C35D-45E5-DFE9-3614-509EF6E5C68E}"/>
              </a:ext>
            </a:extLst>
          </p:cNvPr>
          <p:cNvSpPr txBox="1"/>
          <p:nvPr/>
        </p:nvSpPr>
        <p:spPr>
          <a:xfrm>
            <a:off x="1286549" y="5214690"/>
            <a:ext cx="2378024" cy="569387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Auswertung</a:t>
            </a:r>
            <a:r>
              <a: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:</a:t>
            </a:r>
          </a:p>
          <a:p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SALib: Morris Analyze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433B05C8-9745-3845-65E0-78FF096ED203}"/>
              </a:ext>
            </a:extLst>
          </p:cNvPr>
          <p:cNvSpPr txBox="1"/>
          <p:nvPr/>
        </p:nvSpPr>
        <p:spPr>
          <a:xfrm>
            <a:off x="4384109" y="5132880"/>
            <a:ext cx="3955649" cy="75405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b="1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Auswertung</a:t>
            </a:r>
            <a:r>
              <a:rPr 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:</a:t>
            </a:r>
          </a:p>
          <a:p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2D Surface Plot,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RandomForest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 Regressor(Importance Feature), Partial Dependencies, </a:t>
            </a:r>
            <a:r>
              <a:rPr lang="en-US" sz="12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usw</a:t>
            </a:r>
            <a:r>
              <a:rPr lang="en-US" sz="1200" dirty="0">
                <a:solidFill>
                  <a:prstClr val="black">
                    <a:lumMod val="75000"/>
                    <a:lumOff val="25000"/>
                  </a:prstClr>
                </a:solidFill>
                <a:latin typeface="Roboto" pitchFamily="2" charset="0"/>
                <a:ea typeface="Roboto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4763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8" grpId="0"/>
      <p:bldP spid="29" grpId="0"/>
      <p:bldP spid="32" grpId="0"/>
      <p:bldP spid="33" grpId="0" animBg="1"/>
      <p:bldP spid="35" grpId="0"/>
      <p:bldP spid="7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4514-9C0E-2890-43DC-C30019E8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8E3FDA8-0231-179B-39F1-1DCF2B2B2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32C57E6E-F341-6B00-7E52-F6CB8EF543E8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DB95B61-C000-FC18-0A43-D702F5F2B37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Untertitel 2">
                <a:extLst>
                  <a:ext uri="{FF2B5EF4-FFF2-40B4-BE49-F238E27FC236}">
                    <a16:creationId xmlns:a16="http://schemas.microsoft.com/office/drawing/2014/main" id="{C89196C5-1AFB-E0F5-E7BE-1DAE966F39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8959" y="229578"/>
                <a:ext cx="7404160" cy="633122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de-DE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Roboto Slab" pitchFamily="2" charset="0"/>
                    <a:ea typeface="Roboto Slab" pitchFamily="2" charset="0"/>
                    <a:cs typeface="Arial" panose="020B0604020202020204" pitchFamily="34" charset="0"/>
                  </a:rPr>
                  <a:t>Kenngrößen</a:t>
                </a:r>
              </a:p>
              <a:p>
                <a:pPr lvl="0" algn="l"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de-DE" altLang="de-DE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de-DE" altLang="de-DE" sz="2000" b="1" i="1">
                              <a:solidFill>
                                <a:prstClr val="white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𝝁</m:t>
                          </m:r>
                        </m:e>
                        <m:sup>
                          <m:r>
                            <a:rPr kumimoji="0" lang="de-DE" altLang="de-DE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𝒖𝒏𝒅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𝑷𝒂𝒓𝒕𝒊𝒂𝒍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𝑫𝒆𝒑𝒆𝒏𝒅𝒆𝒏𝒄𝒊𝒆𝒔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 (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𝑷𝑫𝑷</m:t>
                      </m:r>
                      <m:r>
                        <a:rPr kumimoji="0" lang="de-DE" altLang="de-DE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kumimoji="0" lang="de-DE" altLang="de-DE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Slab" pitchFamily="2" charset="0"/>
                  <a:ea typeface="Roboto Slab" pitchFamily="2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Untertitel 2">
                <a:extLst>
                  <a:ext uri="{FF2B5EF4-FFF2-40B4-BE49-F238E27FC236}">
                    <a16:creationId xmlns:a16="http://schemas.microsoft.com/office/drawing/2014/main" id="{C89196C5-1AFB-E0F5-E7BE-1DAE966F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959" y="229578"/>
                <a:ext cx="7404160" cy="633122"/>
              </a:xfrm>
              <a:prstGeom prst="rect">
                <a:avLst/>
              </a:prstGeom>
              <a:blipFill>
                <a:blip r:embed="rId4"/>
                <a:stretch>
                  <a:fillRect l="-2469" t="-20192" b="-134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Grafik 2">
            <a:extLst>
              <a:ext uri="{FF2B5EF4-FFF2-40B4-BE49-F238E27FC236}">
                <a16:creationId xmlns:a16="http://schemas.microsoft.com/office/drawing/2014/main" id="{143EBD0D-ED91-E878-772A-A3770DC506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F606B20F-C79B-1B20-BFC1-D5E0A929A7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88CFDF2-5C2A-5E6C-C48E-46DF65B82E6D}"/>
                  </a:ext>
                </a:extLst>
              </p:cNvPr>
              <p:cNvSpPr txBox="1"/>
              <p:nvPr/>
            </p:nvSpPr>
            <p:spPr>
              <a:xfrm>
                <a:off x="1524001" y="1443189"/>
                <a:ext cx="368617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altLang="de-DE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altLang="de-DE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𝛍</m:t>
                        </m:r>
                      </m:e>
                      <m:sup>
                        <m:r>
                          <a:rPr lang="de-DE" altLang="de-DE" b="1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de-DE" b="1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 (MU-STAR) Einflussstärke</a:t>
                </a:r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88CFDF2-5C2A-5E6C-C48E-46DF65B82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1" y="1443189"/>
                <a:ext cx="3686175" cy="369332"/>
              </a:xfrm>
              <a:prstGeom prst="rect">
                <a:avLst/>
              </a:prstGeom>
              <a:blipFill>
                <a:blip r:embed="rId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5FC6564-EF79-7BA0-A5AE-DFD283D91309}"/>
                  </a:ext>
                </a:extLst>
              </p:cNvPr>
              <p:cNvSpPr txBox="1"/>
              <p:nvPr/>
            </p:nvSpPr>
            <p:spPr>
              <a:xfrm>
                <a:off x="511679" y="2037699"/>
                <a:ext cx="553938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b="1" dirty="0">
                    <a:solidFill>
                      <a:srgbClr val="008DC5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Was sagt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altLang="de-DE" b="1" i="1" smtClean="0">
                            <a:solidFill>
                              <a:srgbClr val="008DC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altLang="de-DE" b="1" i="0">
                            <a:solidFill>
                              <a:srgbClr val="008DC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𝛍</m:t>
                        </m:r>
                      </m:e>
                      <m:sup>
                        <m:r>
                          <a:rPr lang="de-DE" altLang="de-DE" b="1" i="0">
                            <a:solidFill>
                              <a:srgbClr val="008DC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de-DE" altLang="de-DE" b="1" i="0" smtClean="0">
                        <a:solidFill>
                          <a:srgbClr val="008DC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de-DE" altLang="de-DE" b="1" i="0" smtClean="0">
                        <a:solidFill>
                          <a:srgbClr val="008DC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𝐚𝐮𝐬</m:t>
                    </m:r>
                    <m:r>
                      <a:rPr lang="de-DE" altLang="de-DE" b="1" i="0" smtClean="0">
                        <a:solidFill>
                          <a:srgbClr val="008DC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?</m:t>
                    </m:r>
                  </m:oMath>
                </a14:m>
                <a:endParaRPr lang="de-DE" altLang="de-DE" b="1" dirty="0">
                  <a:solidFill>
                    <a:srgbClr val="008DC5"/>
                  </a:solidFill>
                  <a:latin typeface="Roboto" panose="02000000000000000000" pitchFamily="2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endParaRPr lang="de-DE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r>
                  <a:rPr lang="de-DE" dirty="0">
                    <a:latin typeface="Roboto" panose="02000000000000000000" pitchFamily="2" charset="0"/>
                    <a:ea typeface="Roboto" panose="02000000000000000000" pitchFamily="2" charset="0"/>
                  </a:rPr>
                  <a:t>„Wie stark ändert sich das Ergebnis wenn ich diesen Parameter ändere?“</a:t>
                </a:r>
              </a:p>
              <a:p>
                <a:endParaRPr lang="de-DE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de-DE" altLang="de-DE" b="1" i="1">
                            <a:solidFill>
                              <a:srgbClr val="008DC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altLang="de-DE" b="1">
                            <a:solidFill>
                              <a:srgbClr val="008DC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𝛍</m:t>
                        </m:r>
                      </m:e>
                      <m:sup>
                        <m:r>
                          <a:rPr lang="de-DE" altLang="de-DE" b="1">
                            <a:solidFill>
                              <a:srgbClr val="008DC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de-DE" altLang="de-DE" b="1">
                        <a:solidFill>
                          <a:srgbClr val="008DC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de-DE" dirty="0">
                    <a:latin typeface="Roboto" panose="02000000000000000000" pitchFamily="2" charset="0"/>
                    <a:ea typeface="Roboto" panose="02000000000000000000" pitchFamily="2" charset="0"/>
                  </a:rPr>
                  <a:t>= Mittelwert der absoluten Einflüsse. Je großer, desto wichtiger der Parameter</a:t>
                </a:r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5FC6564-EF79-7BA0-A5AE-DFD283D913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679" y="2037699"/>
                <a:ext cx="5539381" cy="2031325"/>
              </a:xfrm>
              <a:prstGeom prst="rect">
                <a:avLst/>
              </a:prstGeom>
              <a:blipFill>
                <a:blip r:embed="rId8"/>
                <a:stretch>
                  <a:fillRect l="-990" t="-1201" r="-110" b="-42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57281960-3F36-E2E2-82F8-540CF3782E7E}"/>
                  </a:ext>
                </a:extLst>
              </p:cNvPr>
              <p:cNvSpPr/>
              <p:nvPr/>
            </p:nvSpPr>
            <p:spPr>
              <a:xfrm>
                <a:off x="985839" y="4159055"/>
                <a:ext cx="2160092" cy="1000125"/>
              </a:xfrm>
              <a:prstGeom prst="rect">
                <a:avLst/>
              </a:prstGeom>
              <a:solidFill>
                <a:srgbClr val="F3B7B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rgbClr val="FF000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Großer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altLang="de-D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altLang="de-D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𝝁</m:t>
                        </m:r>
                      </m:e>
                      <m:sup>
                        <m:r>
                          <a:rPr lang="de-DE" altLang="de-DE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de-DE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endParaRPr lang="de-DE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r>
                  <a:rPr lang="de-DE" sz="14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Parameter ist wichtig</a:t>
                </a:r>
              </a:p>
            </p:txBody>
          </p:sp>
        </mc:Choice>
        <mc:Fallback xmlns="">
          <p:sp>
            <p:nvSpPr>
              <p:cNvPr id="8" name="Rechteck 7">
                <a:extLst>
                  <a:ext uri="{FF2B5EF4-FFF2-40B4-BE49-F238E27FC236}">
                    <a16:creationId xmlns:a16="http://schemas.microsoft.com/office/drawing/2014/main" id="{57281960-3F36-E2E2-82F8-540CF3782E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39" y="4159055"/>
                <a:ext cx="2160092" cy="100012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237D51FA-4C84-1D9F-55A9-9811C5D9CEE2}"/>
                  </a:ext>
                </a:extLst>
              </p:cNvPr>
              <p:cNvSpPr/>
              <p:nvPr/>
            </p:nvSpPr>
            <p:spPr>
              <a:xfrm>
                <a:off x="3492995" y="4165210"/>
                <a:ext cx="2160093" cy="100012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dirty="0">
                    <a:solidFill>
                      <a:srgbClr val="00B050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Kleiner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altLang="de-DE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de-DE" altLang="de-DE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𝝁</m:t>
                        </m:r>
                      </m:e>
                      <m:sup>
                        <m:r>
                          <a:rPr lang="de-DE" altLang="de-DE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de-DE" dirty="0">
                  <a:solidFill>
                    <a:srgbClr val="00B050"/>
                  </a:solidFill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endParaRPr lang="de-DE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  <a:p>
                <a:pPr algn="ctr"/>
                <a:r>
                  <a:rPr lang="de-DE" sz="1400" dirty="0">
                    <a:solidFill>
                      <a:schemeClr val="tx1"/>
                    </a:solidFill>
                    <a:latin typeface="Roboto" panose="02000000000000000000" pitchFamily="2" charset="0"/>
                    <a:ea typeface="Roboto" panose="02000000000000000000" pitchFamily="2" charset="0"/>
                  </a:rPr>
                  <a:t>Parameter ist unwichtig</a:t>
                </a:r>
              </a:p>
            </p:txBody>
          </p:sp>
        </mc:Choice>
        <mc:Fallback xmlns="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237D51FA-4C84-1D9F-55A9-9811C5D9CE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995" y="4165210"/>
                <a:ext cx="2160093" cy="10001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feld 10">
            <a:extLst>
              <a:ext uri="{FF2B5EF4-FFF2-40B4-BE49-F238E27FC236}">
                <a16:creationId xmlns:a16="http://schemas.microsoft.com/office/drawing/2014/main" id="{6ADD9D89-7A2C-E295-F233-7295DB04681D}"/>
              </a:ext>
            </a:extLst>
          </p:cNvPr>
          <p:cNvSpPr txBox="1"/>
          <p:nvPr/>
        </p:nvSpPr>
        <p:spPr>
          <a:xfrm>
            <a:off x="7496176" y="1443189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Partial </a:t>
            </a:r>
            <a:r>
              <a:rPr lang="de-DE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Dependencies</a:t>
            </a:r>
            <a:endParaRPr lang="de-DE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9F20B4D7-C364-7B9A-6C77-4D70F3FA4EA2}"/>
              </a:ext>
            </a:extLst>
          </p:cNvPr>
          <p:cNvSpPr txBox="1"/>
          <p:nvPr/>
        </p:nvSpPr>
        <p:spPr>
          <a:xfrm>
            <a:off x="6355641" y="1812521"/>
            <a:ext cx="5615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„Wie verändert sich das Ergebnis wenn der Parameter steigt?“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30F12F8-6C29-E06D-346D-6C12829293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03" t="29891" r="31094" b="6776"/>
          <a:stretch>
            <a:fillRect/>
          </a:stretch>
        </p:blipFill>
        <p:spPr>
          <a:xfrm>
            <a:off x="7347222" y="2390429"/>
            <a:ext cx="3979785" cy="3103661"/>
          </a:xfrm>
          <a:prstGeom prst="rect">
            <a:avLst/>
          </a:prstGeom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8B70A27D-9EF7-7392-1E12-440DC270DC55}"/>
              </a:ext>
            </a:extLst>
          </p:cNvPr>
          <p:cNvCxnSpPr/>
          <p:nvPr/>
        </p:nvCxnSpPr>
        <p:spPr>
          <a:xfrm>
            <a:off x="6096000" y="1443189"/>
            <a:ext cx="0" cy="42813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>
            <a:extLst>
              <a:ext uri="{FF2B5EF4-FFF2-40B4-BE49-F238E27FC236}">
                <a16:creationId xmlns:a16="http://schemas.microsoft.com/office/drawing/2014/main" id="{7C3C2FB3-1378-BF33-5489-1EEAB850F9E6}"/>
              </a:ext>
            </a:extLst>
          </p:cNvPr>
          <p:cNvSpPr/>
          <p:nvPr/>
        </p:nvSpPr>
        <p:spPr>
          <a:xfrm>
            <a:off x="7347222" y="2229132"/>
            <a:ext cx="292589" cy="495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0439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02E41-30E8-2B03-48C5-A970B8694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341AFCB-6CDC-12FE-8562-AACCABD66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238E58F-DF76-FBB4-8189-4FB9C439355D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B5580D9-9EDB-FB06-3A6C-A966EB3E99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686D4B1F-B25A-6A49-22ED-5AC677137C4C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35E720-69A0-BABB-C357-914AE74411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6676F050-CBD8-973C-A5AA-B420F8D810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2216BEC-E050-E49E-CD4B-6F437BF82F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" t="12093" r="859" b="1694"/>
          <a:stretch>
            <a:fillRect/>
          </a:stretch>
        </p:blipFill>
        <p:spPr>
          <a:xfrm>
            <a:off x="123824" y="1218011"/>
            <a:ext cx="11944351" cy="396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989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706E-A747-8974-D377-167E3667E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AC89B6E-4F49-4DA0-660A-075B4C81A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CDDFF999-FDA5-9EB7-9B33-69376DCA0D2F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5A43186-DF66-7862-F5F0-84CA0003319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230237D0-D985-67BA-4C5B-B8DED1BCF090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Wind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Leistung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251FF84F-BB56-1724-3429-5168B36579F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FDC88A04-3410-8F5B-DA9C-32A7946AB8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025FCDA-FC2B-42A0-3BB3-EE6E808A0047}"/>
              </a:ext>
            </a:extLst>
          </p:cNvPr>
          <p:cNvSpPr txBox="1"/>
          <p:nvPr/>
        </p:nvSpPr>
        <p:spPr>
          <a:xfrm>
            <a:off x="730028" y="2799710"/>
            <a:ext cx="5224134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Nur drei Parameter bestimmen das Ergebnis:</a:t>
            </a:r>
          </a:p>
          <a:p>
            <a:pPr marL="742950" lvl="1" indent="-285750">
              <a:spcBef>
                <a:spcPts val="600"/>
              </a:spcBef>
              <a:buFont typeface="Symbol" panose="05050102010706020507" pitchFamily="18" charset="2"/>
              <a:buChar char="-"/>
            </a:pP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Wind-Potenzial, </a:t>
            </a:r>
          </a:p>
          <a:p>
            <a:pPr marL="742950" lvl="1" indent="-285750">
              <a:spcBef>
                <a:spcPts val="600"/>
              </a:spcBef>
              <a:buFont typeface="Symbol" panose="05050102010706020507" pitchFamily="18" charset="2"/>
              <a:buChar char="-"/>
            </a:pP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Wind- und PV-Volllaststunden. </a:t>
            </a:r>
          </a:p>
          <a:p>
            <a:pPr>
              <a:spcBef>
                <a:spcPts val="600"/>
              </a:spcBef>
            </a:pP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Alles andere ist zweitrangig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8E42B08F-84CD-93A7-71ED-D999DD45759B}"/>
              </a:ext>
            </a:extLst>
          </p:cNvPr>
          <p:cNvSpPr txBox="1"/>
          <p:nvPr/>
        </p:nvSpPr>
        <p:spPr>
          <a:xfrm>
            <a:off x="491809" y="1292924"/>
            <a:ext cx="4078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de-DE" sz="2000" b="1" dirty="0">
                <a:latin typeface="Roboto" panose="02000000000000000000" pitchFamily="2" charset="0"/>
                <a:ea typeface="Roboto" panose="02000000000000000000" pitchFamily="2" charset="0"/>
              </a:rPr>
              <a:t>Was sind die kritische Parameter?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F710C150-626F-9853-4FD6-06FBC179B1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" t="26158" r="61719" b="10195"/>
          <a:stretch>
            <a:fillRect/>
          </a:stretch>
        </p:blipFill>
        <p:spPr>
          <a:xfrm>
            <a:off x="6096000" y="1527252"/>
            <a:ext cx="6069080" cy="394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85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D314-5827-9DE1-941F-639B89012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45389B7-F6E0-481C-3A14-CCBAA7DF8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30F51E0-D22A-C045-71DC-F875363342F1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CDBEEDC5-0796-672E-C884-2804493C9D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4A875A87-D3F7-D207-0592-5AADE5BF9F19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Wind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Leistung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DF08336F-5AD4-72BD-42E1-195303E1A1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9F60A5DD-2539-06C1-5DC1-13B8589169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DF28050-4266-8AC7-238E-109813382EF4}"/>
              </a:ext>
            </a:extLst>
          </p:cNvPr>
          <p:cNvSpPr txBox="1"/>
          <p:nvPr/>
        </p:nvSpPr>
        <p:spPr>
          <a:xfrm>
            <a:off x="699282" y="2782669"/>
            <a:ext cx="6106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Der Zusammenhang ist linear und vorhersagbar – je mehr verfügbare Landesfläche, desto mehr Wind. Keine Überraschungen</a:t>
            </a:r>
            <a:r>
              <a:rPr lang="de-DE" i="1" dirty="0"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1F78D67-2D72-A472-7BF0-3C0FA04AEF1D}"/>
              </a:ext>
            </a:extLst>
          </p:cNvPr>
          <p:cNvSpPr txBox="1"/>
          <p:nvPr/>
        </p:nvSpPr>
        <p:spPr>
          <a:xfrm>
            <a:off x="491809" y="1292924"/>
            <a:ext cx="4078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de-DE" sz="2000" b="1" dirty="0">
                <a:latin typeface="Roboto" panose="02000000000000000000" pitchFamily="2" charset="0"/>
                <a:ea typeface="Roboto" panose="02000000000000000000" pitchFamily="2" charset="0"/>
              </a:rPr>
              <a:t>Wie wirken diese Parameter?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0E4DF9C-101D-36C9-1B4F-130A03168A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15" t="25951" r="31484" b="5841"/>
          <a:stretch>
            <a:fillRect/>
          </a:stretch>
        </p:blipFill>
        <p:spPr>
          <a:xfrm>
            <a:off x="7382909" y="1527252"/>
            <a:ext cx="4588689" cy="393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22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66474-0C98-A9BE-B57C-BDB898482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26CAC1B-3E3C-33AF-8A86-14F5FB6DD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D688919-D91A-D439-59DD-0B2FD0EC0330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75FE601-4826-EBFD-D56A-25A979CE30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BD741AFD-B373-622F-E5A4-BFB6F16BFD16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Wind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Leistung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F170A2D-3305-3EF7-45DF-0853555F27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7DBB7E5B-CA10-340A-986C-852D52C685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C5C3488-FBAF-F3AD-38F5-F9FE67AC1217}"/>
              </a:ext>
            </a:extLst>
          </p:cNvPr>
          <p:cNvSpPr txBox="1"/>
          <p:nvPr/>
        </p:nvSpPr>
        <p:spPr>
          <a:xfrm>
            <a:off x="739858" y="2782669"/>
            <a:ext cx="62324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Roboto" panose="02000000000000000000" pitchFamily="2" charset="0"/>
                <a:ea typeface="Roboto" panose="02000000000000000000" pitchFamily="2" charset="0"/>
              </a:rPr>
              <a:t>Die Verteilung aus 1.400 Simulationen zeigt: Der Median ist stabil.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F74FDEB-9190-A71E-CE2B-8D376941CCE0}"/>
              </a:ext>
            </a:extLst>
          </p:cNvPr>
          <p:cNvSpPr txBox="1"/>
          <p:nvPr/>
        </p:nvSpPr>
        <p:spPr>
          <a:xfrm>
            <a:off x="491809" y="1292924"/>
            <a:ext cx="40785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de-DE" sz="2000" b="1" dirty="0">
                <a:latin typeface="Roboto" panose="02000000000000000000" pitchFamily="2" charset="0"/>
                <a:ea typeface="Roboto" panose="02000000000000000000" pitchFamily="2" charset="0"/>
              </a:rPr>
              <a:t>Wie unsicher ist unser Optimum?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61713C1-1CA3-7501-93EB-5529984ABD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47" t="23049" r="1093" b="3561"/>
          <a:stretch>
            <a:fillRect/>
          </a:stretch>
        </p:blipFill>
        <p:spPr>
          <a:xfrm>
            <a:off x="7897585" y="1527252"/>
            <a:ext cx="4134107" cy="403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263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DFAED-3C00-ABC7-47F6-D7003A30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06509D2-465E-8335-4362-444C990FC7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FE3B3AC6-385C-00BF-E1C1-1309730545A6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CD532D8-57C8-44C7-93E9-7E3BFA560A8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8800D723-0F92-4674-AF3F-2D90F735AC65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PV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Leistung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29F92FB-A076-792A-C958-6D83AEF973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2D20FAE1-DF30-F207-6E1E-1C197EC8D32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A7A5F15-3DBF-8AD4-5275-1C015FD75F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1" t="12093" r="1172" b="3145"/>
          <a:stretch>
            <a:fillRect/>
          </a:stretch>
        </p:blipFill>
        <p:spPr>
          <a:xfrm>
            <a:off x="171449" y="1481888"/>
            <a:ext cx="11849101" cy="389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512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C784A-F2D1-4709-E9EF-014E9C53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859C4AA-10A6-50AE-E89C-8A40B8842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7DBF22-3FEC-3C6A-D174-DD456C332354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B4072536-3CEB-864C-281B-F2A3CBF70AC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4357C4A0-D412-AFF8-007F-4DF246280580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Stromspeicher</a:t>
            </a:r>
            <a:r>
              <a:rPr lang="en-US" altLang="de-DE" sz="2000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Kapazität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F01B70E-4645-3B02-D965-C2CD5250170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41BD6C22-8B41-E7EE-7E1F-ED004FFB749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28E8388-92D9-3203-7339-993F5CB3A6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" t="12093" r="1094" b="2939"/>
          <a:stretch>
            <a:fillRect/>
          </a:stretch>
        </p:blipFill>
        <p:spPr>
          <a:xfrm>
            <a:off x="166687" y="1596887"/>
            <a:ext cx="11858626" cy="390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014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A04EA-BA0C-5560-BF36-4831D4BE2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9B5A82-253B-A662-DF0C-9CCDB371A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86ADA12-E5A3-37EC-3BD6-E61125B0C85E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39FE91B-8727-9923-EF05-7743C9C9B97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8707517C-AB94-A61B-CBE0-673CF8A277E6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Wärmespeicher-Kapazität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21132D3-82E0-E996-80CF-16C913CCA53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F1CD711D-CFB4-1F17-F8EA-66DBEC7708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39CA020-32A7-7B51-9793-430B1A3A4C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" t="23049" r="1808" b="3561"/>
          <a:stretch>
            <a:fillRect/>
          </a:stretch>
        </p:blipFill>
        <p:spPr>
          <a:xfrm>
            <a:off x="190500" y="1743662"/>
            <a:ext cx="11781098" cy="337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250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9AA6-B6B5-5F09-BBC2-235E19783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2EF0A9A-D3B8-167D-E3D2-3285227F9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64CDB46-98FE-0445-EDEA-A03E174CA147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FC77ED5-ADE0-60C4-05C2-2D273711F8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7CD714F6-2071-53B0-6F0A-EAE5237973D4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376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Die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Beweiskette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sz="2000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Gesamtkosten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233666F-FDAA-B968-2877-7770D0C965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CF56919B-0957-523E-3620-28B519B1E6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AEDB2E8-F922-BCFB-0D26-51C043EF4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2" t="24914" r="31015" b="3561"/>
          <a:stretch>
            <a:fillRect/>
          </a:stretch>
        </p:blipFill>
        <p:spPr>
          <a:xfrm>
            <a:off x="1426044" y="1674018"/>
            <a:ext cx="8779994" cy="350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31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D045E-7CDB-CD35-A44C-8F325507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BBD0B41-8559-DB80-4BAD-110E91346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83DFE7C-E332-74B1-1DED-49278B7AC12A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24776515-D95B-4A85-3B9F-D92746CD2E1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79AC4B9F-7A68-F0DC-2EFD-7EED67FCF17D}"/>
              </a:ext>
            </a:extLst>
          </p:cNvPr>
          <p:cNvSpPr txBox="1">
            <a:spLocks/>
          </p:cNvSpPr>
          <p:nvPr/>
        </p:nvSpPr>
        <p:spPr>
          <a:xfrm>
            <a:off x="620619" y="179079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Heute </a:t>
            </a:r>
            <a:r>
              <a:rPr kumimoji="0" lang="de-DE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vs</a:t>
            </a:r>
            <a:r>
              <a:rPr kumimoji="0" lang="de-DE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2045?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de-DE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66B05ED-FC07-EAF4-5CA1-292983EFA7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sp>
        <p:nvSpPr>
          <p:cNvPr id="54" name="Freihandform: Form 53">
            <a:extLst>
              <a:ext uri="{FF2B5EF4-FFF2-40B4-BE49-F238E27FC236}">
                <a16:creationId xmlns:a16="http://schemas.microsoft.com/office/drawing/2014/main" id="{1C618362-EABB-13E9-2BE5-002F70D9F58D}"/>
              </a:ext>
            </a:extLst>
          </p:cNvPr>
          <p:cNvSpPr/>
          <p:nvPr/>
        </p:nvSpPr>
        <p:spPr>
          <a:xfrm>
            <a:off x="10410227" y="1894269"/>
            <a:ext cx="1537917" cy="954046"/>
          </a:xfrm>
          <a:custGeom>
            <a:avLst/>
            <a:gdLst>
              <a:gd name="connsiteX0" fmla="*/ 0 w 2343150"/>
              <a:gd name="connsiteY0" fmla="*/ 0 h 1562100"/>
              <a:gd name="connsiteX1" fmla="*/ 2343150 w 2343150"/>
              <a:gd name="connsiteY1" fmla="*/ 0 h 1562100"/>
              <a:gd name="connsiteX2" fmla="*/ 2343150 w 2343150"/>
              <a:gd name="connsiteY2" fmla="*/ 1562100 h 1562100"/>
              <a:gd name="connsiteX3" fmla="*/ 0 w 2343150"/>
              <a:gd name="connsiteY3" fmla="*/ 1562100 h 1562100"/>
              <a:gd name="connsiteX4" fmla="*/ 0 w 2343150"/>
              <a:gd name="connsiteY4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1562100">
                <a:moveTo>
                  <a:pt x="0" y="0"/>
                </a:moveTo>
                <a:lnTo>
                  <a:pt x="2343150" y="0"/>
                </a:lnTo>
                <a:lnTo>
                  <a:pt x="23431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</p:txBody>
      </p:sp>
      <p:sp>
        <p:nvSpPr>
          <p:cNvPr id="56" name="Freihandform: Form 55">
            <a:extLst>
              <a:ext uri="{FF2B5EF4-FFF2-40B4-BE49-F238E27FC236}">
                <a16:creationId xmlns:a16="http://schemas.microsoft.com/office/drawing/2014/main" id="{481C5A76-FA75-F8DA-2371-806A0CE0C434}"/>
              </a:ext>
            </a:extLst>
          </p:cNvPr>
          <p:cNvSpPr/>
          <p:nvPr/>
        </p:nvSpPr>
        <p:spPr>
          <a:xfrm>
            <a:off x="10749334" y="3071907"/>
            <a:ext cx="1537917" cy="954046"/>
          </a:xfrm>
          <a:custGeom>
            <a:avLst/>
            <a:gdLst>
              <a:gd name="connsiteX0" fmla="*/ 0 w 2343150"/>
              <a:gd name="connsiteY0" fmla="*/ 0 h 1562100"/>
              <a:gd name="connsiteX1" fmla="*/ 2343150 w 2343150"/>
              <a:gd name="connsiteY1" fmla="*/ 0 h 1562100"/>
              <a:gd name="connsiteX2" fmla="*/ 2343150 w 2343150"/>
              <a:gd name="connsiteY2" fmla="*/ 1562100 h 1562100"/>
              <a:gd name="connsiteX3" fmla="*/ 0 w 2343150"/>
              <a:gd name="connsiteY3" fmla="*/ 1562100 h 1562100"/>
              <a:gd name="connsiteX4" fmla="*/ 0 w 2343150"/>
              <a:gd name="connsiteY4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1562100">
                <a:moveTo>
                  <a:pt x="0" y="0"/>
                </a:moveTo>
                <a:lnTo>
                  <a:pt x="2343150" y="0"/>
                </a:lnTo>
                <a:lnTo>
                  <a:pt x="23431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9DB1523B-4F26-E2E7-8D0A-F85F6F188EFE}"/>
              </a:ext>
            </a:extLst>
          </p:cNvPr>
          <p:cNvSpPr/>
          <p:nvPr/>
        </p:nvSpPr>
        <p:spPr>
          <a:xfrm>
            <a:off x="10410227" y="4249546"/>
            <a:ext cx="1537917" cy="954046"/>
          </a:xfrm>
          <a:custGeom>
            <a:avLst/>
            <a:gdLst>
              <a:gd name="connsiteX0" fmla="*/ 0 w 2343150"/>
              <a:gd name="connsiteY0" fmla="*/ 0 h 1562100"/>
              <a:gd name="connsiteX1" fmla="*/ 2343150 w 2343150"/>
              <a:gd name="connsiteY1" fmla="*/ 0 h 1562100"/>
              <a:gd name="connsiteX2" fmla="*/ 2343150 w 2343150"/>
              <a:gd name="connsiteY2" fmla="*/ 1562100 h 1562100"/>
              <a:gd name="connsiteX3" fmla="*/ 0 w 2343150"/>
              <a:gd name="connsiteY3" fmla="*/ 1562100 h 1562100"/>
              <a:gd name="connsiteX4" fmla="*/ 0 w 2343150"/>
              <a:gd name="connsiteY4" fmla="*/ 0 h 156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3150" h="1562100">
                <a:moveTo>
                  <a:pt x="0" y="0"/>
                </a:moveTo>
                <a:lnTo>
                  <a:pt x="2343150" y="0"/>
                </a:lnTo>
                <a:lnTo>
                  <a:pt x="23431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  <a:p>
            <a:pPr marL="285750" lvl="1" indent="-285750" algn="l" defTabSz="2266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de-DE" sz="5100" kern="1200"/>
          </a:p>
        </p:txBody>
      </p:sp>
      <p:pic>
        <p:nvPicPr>
          <p:cNvPr id="88" name="Grafik 87">
            <a:extLst>
              <a:ext uri="{FF2B5EF4-FFF2-40B4-BE49-F238E27FC236}">
                <a16:creationId xmlns:a16="http://schemas.microsoft.com/office/drawing/2014/main" id="{CE56A3D8-288B-7EE1-ACC3-19BB9C4013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B5DCFCB-FDB4-2C72-9758-45B4005F8F40}"/>
              </a:ext>
            </a:extLst>
          </p:cNvPr>
          <p:cNvSpPr txBox="1"/>
          <p:nvPr/>
        </p:nvSpPr>
        <p:spPr>
          <a:xfrm>
            <a:off x="2671004" y="1272604"/>
            <a:ext cx="4061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Jahressystemkosten im Überblick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69B232B-EB0E-ACC5-9CAC-57B412BC9D01}"/>
              </a:ext>
            </a:extLst>
          </p:cNvPr>
          <p:cNvSpPr txBox="1"/>
          <p:nvPr/>
        </p:nvSpPr>
        <p:spPr>
          <a:xfrm>
            <a:off x="492914" y="2039005"/>
            <a:ext cx="36400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Aktuelle </a:t>
            </a:r>
            <a:r>
              <a:rPr lang="de-DE" b="1" dirty="0" err="1">
                <a:latin typeface="Roboto" panose="02000000000000000000" pitchFamily="2" charset="0"/>
                <a:ea typeface="Roboto" panose="02000000000000000000" pitchFamily="2" charset="0"/>
              </a:rPr>
              <a:t>Enegiepolitik</a:t>
            </a:r>
            <a:endParaRPr lang="de-DE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de-DE" dirty="0"/>
          </a:p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DE: 113 – 316 Milliarden € </a:t>
            </a:r>
          </a:p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(DIHK-Studie, 2025)</a:t>
            </a:r>
          </a:p>
          <a:p>
            <a:pPr algn="ctr"/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TH: 2.848 – 7.963 Mio. €</a:t>
            </a:r>
          </a:p>
          <a:p>
            <a:pPr algn="ctr"/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(untergerechnet auf 2,52 % Bevölkerungsanteil)</a:t>
            </a:r>
          </a:p>
          <a:p>
            <a:pPr algn="ctr"/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Pro Einwohner: 1.340 – 3.760 €</a:t>
            </a:r>
            <a:endParaRPr lang="de-DE" sz="2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635676A-C190-AA5D-8B55-C09AC732D22E}"/>
              </a:ext>
            </a:extLst>
          </p:cNvPr>
          <p:cNvSpPr txBox="1"/>
          <p:nvPr/>
        </p:nvSpPr>
        <p:spPr>
          <a:xfrm>
            <a:off x="4475458" y="1882598"/>
            <a:ext cx="34938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Roboto" panose="02000000000000000000" pitchFamily="2" charset="0"/>
                <a:ea typeface="Roboto" panose="02000000000000000000" pitchFamily="2" charset="0"/>
              </a:rPr>
              <a:t>2045</a:t>
            </a:r>
          </a:p>
          <a:p>
            <a:endParaRPr lang="de-DE" dirty="0"/>
          </a:p>
          <a:p>
            <a:pPr algn="ctr"/>
            <a:r>
              <a:rPr lang="de-DE" sz="2400" b="1" dirty="0">
                <a:solidFill>
                  <a:srgbClr val="2485B8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2.727</a:t>
            </a:r>
          </a:p>
          <a:p>
            <a:pPr algn="ctr"/>
            <a:r>
              <a:rPr lang="de-DE" sz="1600" b="1" dirty="0">
                <a:latin typeface="Roboto" panose="02000000000000000000" pitchFamily="2" charset="0"/>
                <a:ea typeface="Roboto" panose="02000000000000000000" pitchFamily="2" charset="0"/>
              </a:rPr>
              <a:t>Mio. € pro </a:t>
            </a:r>
            <a:r>
              <a:rPr lang="de-DE" sz="1600" b="1" dirty="0" err="1">
                <a:latin typeface="Roboto" panose="02000000000000000000" pitchFamily="2" charset="0"/>
                <a:ea typeface="Roboto" panose="02000000000000000000" pitchFamily="2" charset="0"/>
              </a:rPr>
              <a:t>jahr</a:t>
            </a:r>
            <a:endParaRPr lang="de-DE" sz="1600" b="1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de-DE" dirty="0"/>
          </a:p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90% Konfidenzintervall:</a:t>
            </a:r>
          </a:p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2.479 – 3.047 Mio. €</a:t>
            </a:r>
          </a:p>
          <a:p>
            <a:pPr algn="ctr"/>
            <a:endParaRPr lang="de-DE" sz="16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Pro Einwohner: 1.170 – 1.440 €</a:t>
            </a:r>
          </a:p>
          <a:p>
            <a:pPr algn="ctr"/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7EFEA91-B936-5618-C377-4D6D5C0858FA}"/>
              </a:ext>
            </a:extLst>
          </p:cNvPr>
          <p:cNvSpPr txBox="1"/>
          <p:nvPr/>
        </p:nvSpPr>
        <p:spPr>
          <a:xfrm>
            <a:off x="366011" y="5586069"/>
            <a:ext cx="11152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Roboto" panose="02000000000000000000" pitchFamily="2" charset="0"/>
                <a:ea typeface="Roboto" panose="02000000000000000000" pitchFamily="2" charset="0"/>
              </a:rPr>
              <a:t>*DIHK-Studie (Frontier Economics), September 2025 " Aktuelle Energiewende-Politik kostet bis zu 5,4 Billionen Euro„)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A7E0958-EAED-F1D7-649C-32EA118DCDBF}"/>
              </a:ext>
            </a:extLst>
          </p:cNvPr>
          <p:cNvSpPr txBox="1"/>
          <p:nvPr/>
        </p:nvSpPr>
        <p:spPr>
          <a:xfrm>
            <a:off x="1912874" y="5031398"/>
            <a:ext cx="4819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>
                <a:latin typeface="Roboto" panose="02000000000000000000" pitchFamily="2" charset="0"/>
                <a:ea typeface="Roboto" panose="02000000000000000000" pitchFamily="2" charset="0"/>
              </a:rPr>
              <a:t>Kosteneinsparung: ca. 12 – 62 %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4D80C42-0CF1-D25D-5B66-85349B1BA621}"/>
              </a:ext>
            </a:extLst>
          </p:cNvPr>
          <p:cNvCxnSpPr/>
          <p:nvPr/>
        </p:nvCxnSpPr>
        <p:spPr>
          <a:xfrm>
            <a:off x="4322699" y="1894269"/>
            <a:ext cx="0" cy="26872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fik 31">
            <a:extLst>
              <a:ext uri="{FF2B5EF4-FFF2-40B4-BE49-F238E27FC236}">
                <a16:creationId xmlns:a16="http://schemas.microsoft.com/office/drawing/2014/main" id="{E627B2DE-6DA9-E9D4-9F6C-DB1D38B5CC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000" t="22079" r="781" b="3050"/>
          <a:stretch>
            <a:fillRect/>
          </a:stretch>
        </p:blipFill>
        <p:spPr>
          <a:xfrm>
            <a:off x="8193844" y="1497452"/>
            <a:ext cx="3786428" cy="365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23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6798" y="-142425"/>
            <a:ext cx="12192000" cy="7251700"/>
            <a:chOff x="0" y="-177077"/>
            <a:chExt cx="5913785" cy="3261643"/>
          </a:xfrm>
        </p:grpSpPr>
        <p:sp>
          <p:nvSpPr>
            <p:cNvPr id="5" name="Freeform 4"/>
            <p:cNvSpPr/>
            <p:nvPr/>
          </p:nvSpPr>
          <p:spPr>
            <a:xfrm>
              <a:off x="0" y="-177077"/>
              <a:ext cx="5913785" cy="3084567"/>
            </a:xfrm>
            <a:custGeom>
              <a:avLst/>
              <a:gdLst/>
              <a:ahLst/>
              <a:cxnLst/>
              <a:rect l="l" t="t" r="r" b="b"/>
              <a:pathLst>
                <a:path w="5913785" h="3084567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  <p:txBody>
            <a:bodyPr/>
            <a:lstStyle/>
            <a:p>
              <a:endParaRPr lang="de-DE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</p:grpSp>
      <p:sp>
        <p:nvSpPr>
          <p:cNvPr id="7" name="Textfeld 6"/>
          <p:cNvSpPr txBox="1"/>
          <p:nvPr/>
        </p:nvSpPr>
        <p:spPr>
          <a:xfrm>
            <a:off x="1478773" y="1662146"/>
            <a:ext cx="92344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Thank</a:t>
            </a:r>
            <a:r>
              <a:rPr lang="de-DE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de-DE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de-DE" sz="4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Your</a:t>
            </a:r>
            <a:r>
              <a:rPr lang="de-DE" sz="4400" b="1" dirty="0">
                <a:latin typeface="Arial" panose="020B0604020202020204" pitchFamily="34" charset="0"/>
                <a:cs typeface="Arial" panose="020B0604020202020204" pitchFamily="34" charset="0"/>
              </a:rPr>
              <a:t> Attention</a:t>
            </a:r>
          </a:p>
        </p:txBody>
      </p:sp>
      <p:grpSp>
        <p:nvGrpSpPr>
          <p:cNvPr id="18" name="Group 6"/>
          <p:cNvGrpSpPr/>
          <p:nvPr/>
        </p:nvGrpSpPr>
        <p:grpSpPr>
          <a:xfrm>
            <a:off x="3337286" y="2334956"/>
            <a:ext cx="5517427" cy="931819"/>
            <a:chOff x="0" y="-38100"/>
            <a:chExt cx="1839192" cy="369066"/>
          </a:xfrm>
        </p:grpSpPr>
        <p:sp>
          <p:nvSpPr>
            <p:cNvPr id="19" name="Freeform 7"/>
            <p:cNvSpPr/>
            <p:nvPr/>
          </p:nvSpPr>
          <p:spPr>
            <a:xfrm>
              <a:off x="0" y="154719"/>
              <a:ext cx="1839192" cy="176247"/>
            </a:xfrm>
            <a:custGeom>
              <a:avLst/>
              <a:gdLst/>
              <a:ahLst/>
              <a:cxnLst/>
              <a:rect l="l" t="t" r="r" b="b"/>
              <a:pathLst>
                <a:path w="1839192" h="176247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noFill/>
              <a:prstDash val="solid"/>
              <a:miter/>
            </a:ln>
          </p:spPr>
          <p:txBody>
            <a:bodyPr/>
            <a:lstStyle/>
            <a:p>
              <a:pPr algn="ctr"/>
              <a:r>
                <a:rPr lang="de-DE" b="1" i="1" dirty="0">
                  <a:latin typeface="Arial" panose="020B0604020202020204" pitchFamily="34" charset="0"/>
                  <a:cs typeface="Arial" panose="020B0604020202020204" pitchFamily="34" charset="0"/>
                </a:rPr>
                <a:t>rbala@hs-nordhausen.de</a:t>
              </a:r>
            </a:p>
          </p:txBody>
        </p:sp>
        <p:sp>
          <p:nvSpPr>
            <p:cNvPr id="20" name="TextBox 8"/>
            <p:cNvSpPr txBox="1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  <a:ln>
              <a:noFill/>
            </a:ln>
          </p:spPr>
          <p:txBody>
            <a:bodyPr lIns="33780" tIns="33780" rIns="33780" bIns="33780" rtlCol="0" anchor="ctr"/>
            <a:lstStyle/>
            <a:p>
              <a:pPr algn="ctr">
                <a:lnSpc>
                  <a:spcPts val="1768"/>
                </a:lnSpc>
              </a:pPr>
              <a:endParaRPr sz="797"/>
            </a:p>
          </p:txBody>
        </p:sp>
      </p:grpSp>
      <p:sp>
        <p:nvSpPr>
          <p:cNvPr id="22" name="Ellipse 21"/>
          <p:cNvSpPr/>
          <p:nvPr/>
        </p:nvSpPr>
        <p:spPr>
          <a:xfrm>
            <a:off x="3094396" y="2808180"/>
            <a:ext cx="468000" cy="46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353" y="-324457"/>
            <a:ext cx="2151921" cy="1291153"/>
          </a:xfrm>
          <a:prstGeom prst="rect">
            <a:avLst/>
          </a:prstGeom>
        </p:spPr>
      </p:pic>
      <p:grpSp>
        <p:nvGrpSpPr>
          <p:cNvPr id="9" name="Gruppieren 8"/>
          <p:cNvGrpSpPr/>
          <p:nvPr/>
        </p:nvGrpSpPr>
        <p:grpSpPr>
          <a:xfrm>
            <a:off x="0" y="5722166"/>
            <a:ext cx="12192000" cy="1387109"/>
            <a:chOff x="0" y="5722166"/>
            <a:chExt cx="12192000" cy="1387109"/>
          </a:xfrm>
        </p:grpSpPr>
        <p:sp>
          <p:nvSpPr>
            <p:cNvPr id="10" name="Textfeld 9"/>
            <p:cNvSpPr txBox="1"/>
            <p:nvPr/>
          </p:nvSpPr>
          <p:spPr>
            <a:xfrm>
              <a:off x="0" y="5892339"/>
              <a:ext cx="12192000" cy="9636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endParaRPr lang="de-DE" dirty="0"/>
            </a:p>
          </p:txBody>
        </p:sp>
        <p:pic>
          <p:nvPicPr>
            <p:cNvPr id="11" name="Grafik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049"/>
            <a:stretch/>
          </p:blipFill>
          <p:spPr>
            <a:xfrm>
              <a:off x="8112929" y="5946397"/>
              <a:ext cx="4079071" cy="845103"/>
            </a:xfrm>
            <a:prstGeom prst="rect">
              <a:avLst/>
            </a:prstGeom>
          </p:spPr>
        </p:pic>
        <p:pic>
          <p:nvPicPr>
            <p:cNvPr id="12" name="Grafik 1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88889" y="5722166"/>
              <a:ext cx="2533532" cy="1387109"/>
            </a:xfrm>
            <a:prstGeom prst="rect">
              <a:avLst/>
            </a:prstGeom>
          </p:spPr>
        </p:pic>
        <p:pic>
          <p:nvPicPr>
            <p:cNvPr id="13" name="Grafik 12" descr="Bildschirmausschnitt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8636" y="6027812"/>
              <a:ext cx="1925824" cy="713502"/>
            </a:xfrm>
            <a:prstGeom prst="rect">
              <a:avLst/>
            </a:prstGeom>
          </p:spPr>
        </p:pic>
        <p:pic>
          <p:nvPicPr>
            <p:cNvPr id="14" name="Grafik 1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1495" y="5986247"/>
              <a:ext cx="1829338" cy="712215"/>
            </a:xfrm>
            <a:prstGeom prst="rect">
              <a:avLst/>
            </a:prstGeom>
          </p:spPr>
        </p:pic>
        <p:sp>
          <p:nvSpPr>
            <p:cNvPr id="15" name="Textfeld 14"/>
            <p:cNvSpPr txBox="1"/>
            <p:nvPr/>
          </p:nvSpPr>
          <p:spPr>
            <a:xfrm>
              <a:off x="16798" y="5890308"/>
              <a:ext cx="113884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Project title:</a:t>
              </a:r>
            </a:p>
          </p:txBody>
        </p:sp>
        <p:sp>
          <p:nvSpPr>
            <p:cNvPr id="16" name="Textfeld 15"/>
            <p:cNvSpPr txBox="1"/>
            <p:nvPr/>
          </p:nvSpPr>
          <p:spPr>
            <a:xfrm>
              <a:off x="3117038" y="5890308"/>
              <a:ext cx="13263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Project </a:t>
              </a:r>
              <a:r>
                <a:rPr lang="de-DE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partners</a:t>
              </a:r>
              <a:r>
                <a:rPr lang="de-DE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8244018" y="5890309"/>
              <a:ext cx="132638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Funded</a:t>
              </a:r>
              <a:r>
                <a:rPr lang="de-DE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by</a:t>
              </a:r>
              <a:r>
                <a:rPr lang="de-DE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</p:grpSp>
      <p:pic>
        <p:nvPicPr>
          <p:cNvPr id="21" name="Grafik 20" descr="Veilig e-mail - Lesmateriaal - Wikiwijs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857" y="2884608"/>
            <a:ext cx="293077" cy="315144"/>
          </a:xfrm>
          <a:prstGeom prst="rect">
            <a:avLst/>
          </a:prstGeom>
        </p:spPr>
      </p:pic>
      <p:pic>
        <p:nvPicPr>
          <p:cNvPr id="23" name="Grafik 22" descr="Bildschirmausschnitt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5354" y="4019387"/>
            <a:ext cx="1856645" cy="187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989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E058-50B9-8774-B075-35BF7903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D03682A2-60DA-B0ED-DBE2-81D69BD5F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77EEDD59-4F90-6F69-8890-AAC3D084C3AD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140E6EB-58D0-1151-B013-681DA5EBEE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D5AE6CB1-4D7C-7D6F-A4C9-405AD8D99541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Analyse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im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Hintergrund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Morris Sensitivity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C2D0D23-EE20-9D9C-7781-CE4012EC0C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F770AA2B-A279-DE29-35E6-854FF439AF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53D039A-98AE-BE0E-6ABB-31FA0BCE6E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2" t="6302" r="1163" b="2121"/>
          <a:stretch>
            <a:fillRect/>
          </a:stretch>
        </p:blipFill>
        <p:spPr>
          <a:xfrm>
            <a:off x="1170915" y="1032676"/>
            <a:ext cx="9276785" cy="479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94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5FE20-8B42-1493-A01B-D716E4C4B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C8E0FC8-B0E1-005E-559F-09146F7B9A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5239E8B-909C-45E1-45E8-2C4FB951187B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1656E4A-116B-AAC2-66F3-2ACF97716F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8808E0F0-174F-4C4D-9ABA-DB5C601775D9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Analyse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im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Hintergrund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Morris Sensitivity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FB9D9CA3-5AA5-41E3-7978-16AC7D1C56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6031A7AC-56D4-8CE0-B80B-5B12541406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7CE2E77-4A92-41BB-D6D1-C30A428444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9" t="9242" r="2841" b="2399"/>
          <a:stretch>
            <a:fillRect/>
          </a:stretch>
        </p:blipFill>
        <p:spPr>
          <a:xfrm>
            <a:off x="2510329" y="1021705"/>
            <a:ext cx="6609904" cy="481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339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9A85-1291-DA0E-7643-1F70F1AB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1DA4DCC-E56D-1A17-8F69-5D8FFFB06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65AF12D3-1483-F55F-CA79-4294623EB40A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EFE84FD6-D083-5BF6-5781-3D41C08598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10026683-70A3-57B9-D4D4-B02AA3D1BCA9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Analyse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im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Hintergrund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de-DE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Input-Output </a:t>
            </a:r>
            <a:r>
              <a:rPr lang="en-US" altLang="de-DE" b="1" dirty="0" err="1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Korrelationen</a:t>
            </a:r>
            <a:endParaRPr kumimoji="0" lang="de-DE" altLang="de-DE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43D49A3-4FB6-7963-B371-7BAE20855DD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FCB14987-BBB5-1B41-0C7B-72F79DBEAA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8FA77C8-708F-0AF6-C64F-68F8810494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65" b="3367"/>
          <a:stretch>
            <a:fillRect/>
          </a:stretch>
        </p:blipFill>
        <p:spPr>
          <a:xfrm>
            <a:off x="2486844" y="1047435"/>
            <a:ext cx="6373582" cy="476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45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9B307-4A9F-7879-F656-527668DE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7F82AB2-283C-9E67-50ED-63F8B4AF6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607D-6A01-495F-9A84-F02DD8D8495D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itchFamily="2" charset="0"/>
                <a:ea typeface="Roboto" pitchFamily="2" charset="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Roboto" pitchFamily="2" charset="0"/>
              <a:ea typeface="Roboto" pitchFamily="2" charset="0"/>
              <a:cs typeface="+mn-cs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BB928DB7-6B85-A183-3F84-7A1D0D7DEDC8}"/>
              </a:ext>
            </a:extLst>
          </p:cNvPr>
          <p:cNvSpPr txBox="1">
            <a:spLocks/>
          </p:cNvSpPr>
          <p:nvPr/>
        </p:nvSpPr>
        <p:spPr>
          <a:xfrm>
            <a:off x="1524001" y="1057276"/>
            <a:ext cx="160735" cy="160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13216D3-EC20-B65E-6393-8BB232B1CA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662534" cy="1057835"/>
          </a:xfrm>
          <a:prstGeom prst="rect">
            <a:avLst/>
          </a:prstGeom>
        </p:spPr>
      </p:pic>
      <p:sp>
        <p:nvSpPr>
          <p:cNvPr id="13" name="Untertitel 2">
            <a:extLst>
              <a:ext uri="{FF2B5EF4-FFF2-40B4-BE49-F238E27FC236}">
                <a16:creationId xmlns:a16="http://schemas.microsoft.com/office/drawing/2014/main" id="{E89651DE-798B-59BF-94CD-B8E76F53B7F2}"/>
              </a:ext>
            </a:extLst>
          </p:cNvPr>
          <p:cNvSpPr txBox="1">
            <a:spLocks/>
          </p:cNvSpPr>
          <p:nvPr/>
        </p:nvSpPr>
        <p:spPr>
          <a:xfrm>
            <a:off x="548959" y="164547"/>
            <a:ext cx="7404160" cy="793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Analyse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im</a:t>
            </a: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 </a:t>
            </a:r>
            <a:r>
              <a:rPr kumimoji="0" lang="en-US" altLang="de-DE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Hintergrund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de-DE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2</a:t>
            </a:r>
            <a:r>
              <a:rPr lang="en-US" altLang="de-DE" b="1" dirty="0">
                <a:solidFill>
                  <a:prstClr val="white"/>
                </a:solidFill>
                <a:latin typeface="Roboto Slab" pitchFamily="2" charset="0"/>
                <a:ea typeface="Roboto Slab" pitchFamily="2" charset="0"/>
                <a:cs typeface="Arial" panose="020B0604020202020204" pitchFamily="34" charset="0"/>
              </a:rPr>
              <a:t>D Surface Plots</a:t>
            </a:r>
            <a:endParaRPr kumimoji="0" lang="en-US" altLang="de-DE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Slab" pitchFamily="2" charset="0"/>
              <a:ea typeface="Roboto Slab" pitchFamily="2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EEF1667-053E-437F-571A-44BD2CC1349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7"/>
          <a:stretch/>
        </p:blipFill>
        <p:spPr>
          <a:xfrm>
            <a:off x="10793436" y="5114338"/>
            <a:ext cx="1398564" cy="772595"/>
          </a:xfrm>
          <a:prstGeom prst="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07824531-B1DA-D088-5570-6D8F5A4C764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256" y="6047820"/>
            <a:ext cx="3325368" cy="78333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F43887D-8B3D-3745-3E95-867B37A349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" t="16553" r="7688"/>
          <a:stretch>
            <a:fillRect/>
          </a:stretch>
        </p:blipFill>
        <p:spPr>
          <a:xfrm>
            <a:off x="2978091" y="1122132"/>
            <a:ext cx="5880683" cy="47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71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703</Words>
  <Application>Microsoft Office PowerPoint</Application>
  <PresentationFormat>Breitbild</PresentationFormat>
  <Paragraphs>228</Paragraphs>
  <Slides>24</Slides>
  <Notes>23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Roboto</vt:lpstr>
      <vt:lpstr>Roboto Slab</vt:lpstr>
      <vt:lpstr>Symbol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Hochschule Nordhausen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Stochastic time series forecasting approach using Markov Chain for Robust Energy System Planning</dc:title>
  <dc:creator>Bala Krishnan, Rohith Krishnan</dc:creator>
  <cp:lastModifiedBy>Bala Krishnan, Rohith Krishnan</cp:lastModifiedBy>
  <cp:revision>86</cp:revision>
  <dcterms:created xsi:type="dcterms:W3CDTF">2025-10-23T13:52:50Z</dcterms:created>
  <dcterms:modified xsi:type="dcterms:W3CDTF">2026-06-15T10:34:10Z</dcterms:modified>
</cp:coreProperties>
</file>