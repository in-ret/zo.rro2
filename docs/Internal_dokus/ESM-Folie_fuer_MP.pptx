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5"/>
  </p:notesMasterIdLst>
  <p:sldIdLst>
    <p:sldId id="3161" r:id="rId2"/>
    <p:sldId id="3162" r:id="rId3"/>
    <p:sldId id="3163" r:id="rId4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5F1F7"/>
    <a:srgbClr val="D3E7F1"/>
    <a:srgbClr val="87DDFB"/>
    <a:srgbClr val="8AA7F8"/>
    <a:srgbClr val="AAD7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92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3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191E0E-CE88-4ABC-8628-128D1FDED876}" type="datetimeFigureOut">
              <a:rPr lang="de-DE" smtClean="0"/>
              <a:t>27.05.2026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D95636-C73D-4D7F-B77D-C9B2E258706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171137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We build a virtual version of the regional energy system and test future scenarios before decisions are made in reality.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609AE24-0AFB-4C43-B981-F67D27BA9372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de-DE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95702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67AD0C-2D85-9CE1-C731-FDD86E20B8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E759093F-C9CF-175A-0554-E98873B3C8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33BA51EB-70BA-CFBA-7878-D3EF365FCC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Instead of isolated sectors, electricity, heat, mobility and industry interact strongly. Modelling helps understand these interactions.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3B4BF59-5F5C-EEE1-4735-BB40D852911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609AE24-0AFB-4C43-B981-F67D27BA9372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de-DE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288303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A2E8CC-66BC-AAC4-C492-B4611822C2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057AF58E-6D64-5ED8-EA01-8492B055C4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F9B862AB-8B07-3213-F5DE-034F7A4607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This addresses the interest in storage while positioning Thuringia as a region that can actively shape future energy infrastructure.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E6080FF-65E6-8BE7-27DA-CA5073242AC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609AE24-0AFB-4C43-B981-F67D27BA9372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de-DE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901374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C59D5-D5F7-499E-A542-8D67DA1A6D1E}" type="datetime1">
              <a:rPr lang="de-DE" smtClean="0"/>
              <a:t>27.05.2026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27958-AE93-4D29-9D14-8A002F7E3E9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120243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2D458-61E8-4CC3-834E-D15DAAA1EF4C}" type="datetime1">
              <a:rPr lang="de-DE" smtClean="0"/>
              <a:t>27.05.2026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27958-AE93-4D29-9D14-8A002F7E3E9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045123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78833-8532-4D64-97B8-9F905AFC158B}" type="datetime1">
              <a:rPr lang="de-DE" smtClean="0"/>
              <a:t>27.05.2026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27958-AE93-4D29-9D14-8A002F7E3E9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501414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E453D7-5992-47DA-9C75-D83E63A74F8D}" type="datetime1">
              <a:rPr lang="de-DE" smtClean="0"/>
              <a:t>27.05.2026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27958-AE93-4D29-9D14-8A002F7E3E9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516812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6FAED-E19B-4E30-966C-CB3FE52CA8BA}" type="datetime1">
              <a:rPr lang="de-DE" smtClean="0"/>
              <a:t>27.05.2026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27958-AE93-4D29-9D14-8A002F7E3E9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721177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5849D-EED0-4BCE-BD79-20446DCB883D}" type="datetime1">
              <a:rPr lang="de-DE" smtClean="0"/>
              <a:t>27.05.2026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27958-AE93-4D29-9D14-8A002F7E3E9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963799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F93C5-7115-4627-BB51-806AD47616E2}" type="datetime1">
              <a:rPr lang="de-DE" smtClean="0"/>
              <a:t>27.05.2026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27958-AE93-4D29-9D14-8A002F7E3E9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42349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122200-C650-4E9C-B846-D35F5DC73F5E}" type="datetime1">
              <a:rPr lang="de-DE" smtClean="0"/>
              <a:t>27.05.2026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27958-AE93-4D29-9D14-8A002F7E3E9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125975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AA23AA-799F-491B-BA20-5458698C68D5}" type="datetime1">
              <a:rPr lang="de-DE" smtClean="0"/>
              <a:t>27.05.2026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27958-AE93-4D29-9D14-8A002F7E3E9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316905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C189F-678B-4E0E-92B0-BACBFB9C16C9}" type="datetime1">
              <a:rPr lang="de-DE" smtClean="0"/>
              <a:t>27.05.2026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27958-AE93-4D29-9D14-8A002F7E3E9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034456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5999B-875B-4D59-8E1A-2C003F4FE930}" type="datetime1">
              <a:rPr lang="de-DE" smtClean="0"/>
              <a:t>27.05.2026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27958-AE93-4D29-9D14-8A002F7E3E9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928682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FOGRAFIK mi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244D1152-986E-49C0-9AD4-ADEA35E0CA9E}"/>
              </a:ext>
            </a:extLst>
          </p:cNvPr>
          <p:cNvSpPr/>
          <p:nvPr userDrawn="1"/>
        </p:nvSpPr>
        <p:spPr>
          <a:xfrm>
            <a:off x="-15214" y="5902036"/>
            <a:ext cx="12207214" cy="9559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9" name="Foliennummernplatzhalter 1">
            <a:extLst>
              <a:ext uri="{FF2B5EF4-FFF2-40B4-BE49-F238E27FC236}">
                <a16:creationId xmlns:a16="http://schemas.microsoft.com/office/drawing/2014/main" id="{E078703A-27C6-4ACF-B8EF-B7A2F96878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91598" y="6356350"/>
            <a:ext cx="1080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Roboto" pitchFamily="2" charset="0"/>
                <a:ea typeface="Roboto" pitchFamily="2" charset="0"/>
              </a:defRPr>
            </a:lvl1pPr>
          </a:lstStyle>
          <a:p>
            <a:fld id="{AE96859B-CB9A-4A48-92AD-13FDA335494C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3" name="Bildplatzhalter 6">
            <a:extLst>
              <a:ext uri="{FF2B5EF4-FFF2-40B4-BE49-F238E27FC236}">
                <a16:creationId xmlns:a16="http://schemas.microsoft.com/office/drawing/2014/main" id="{CE388B0B-2774-435E-9F87-AA5A6FC9EFA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68000" y="900000"/>
            <a:ext cx="9720000" cy="4680000"/>
          </a:xfrm>
          <a:prstGeom prst="rect">
            <a:avLst/>
          </a:prstGeom>
        </p:spPr>
      </p:sp>
      <p:cxnSp>
        <p:nvCxnSpPr>
          <p:cNvPr id="6" name="Gerader Verbinder 5">
            <a:extLst>
              <a:ext uri="{FF2B5EF4-FFF2-40B4-BE49-F238E27FC236}">
                <a16:creationId xmlns:a16="http://schemas.microsoft.com/office/drawing/2014/main" id="{24DC52E5-6455-4E51-8C37-5B986F173825}"/>
              </a:ext>
            </a:extLst>
          </p:cNvPr>
          <p:cNvCxnSpPr>
            <a:cxnSpLocks/>
          </p:cNvCxnSpPr>
          <p:nvPr userDrawn="1"/>
        </p:nvCxnSpPr>
        <p:spPr>
          <a:xfrm>
            <a:off x="-15214" y="5888976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Grafik 3">
            <a:extLst>
              <a:ext uri="{FF2B5EF4-FFF2-40B4-BE49-F238E27FC236}">
                <a16:creationId xmlns:a16="http://schemas.microsoft.com/office/drawing/2014/main" id="{DEE9782A-C38A-63FF-F648-74DB754A748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3347" y="5971811"/>
            <a:ext cx="1586592" cy="786755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9F32A5F2-B37A-644D-222D-6B01106D5B1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696" y="6017168"/>
            <a:ext cx="1586592" cy="589683"/>
          </a:xfrm>
          <a:prstGeom prst="rect">
            <a:avLst/>
          </a:prstGeom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9FF4FC99-67C4-7533-5B57-1E2334C71266}"/>
              </a:ext>
            </a:extLst>
          </p:cNvPr>
          <p:cNvSpPr txBox="1"/>
          <p:nvPr userDrawn="1"/>
        </p:nvSpPr>
        <p:spPr>
          <a:xfrm>
            <a:off x="6000132" y="5971811"/>
            <a:ext cx="187778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dirty="0">
                <a:latin typeface="Roboto Slab" pitchFamily="2" charset="0"/>
                <a:ea typeface="Roboto Slab" pitchFamily="2" charset="0"/>
              </a:rPr>
              <a:t>Projektförderung </a:t>
            </a: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76A37E06-9F03-8E31-2E6D-5A9B1D9221F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3926" y="5935812"/>
            <a:ext cx="3125731" cy="888409"/>
          </a:xfrm>
          <a:prstGeom prst="rect">
            <a:avLst/>
          </a:prstGeom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48A9ADE1-EE3C-B819-87C3-8C9A9E33CBA1}"/>
              </a:ext>
            </a:extLst>
          </p:cNvPr>
          <p:cNvSpPr txBox="1"/>
          <p:nvPr userDrawn="1"/>
        </p:nvSpPr>
        <p:spPr>
          <a:xfrm>
            <a:off x="10852342" y="5989541"/>
            <a:ext cx="13396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A6BFD978-2F92-4EF1-A6B3-4D1B2CB54AD7}" type="datetime1">
              <a:rPr lang="de-DE" sz="1600" smtClean="0">
                <a:solidFill>
                  <a:schemeClr val="tx1">
                    <a:lumMod val="75000"/>
                    <a:lumOff val="25000"/>
                  </a:schemeClr>
                </a:solidFill>
                <a:latin typeface="Roboto" pitchFamily="2" charset="0"/>
                <a:ea typeface="Roboto" pitchFamily="2" charset="0"/>
              </a:rPr>
              <a:t>27.05.2026</a:t>
            </a:fld>
            <a:endParaRPr lang="de-DE" sz="1600" dirty="0">
              <a:solidFill>
                <a:schemeClr val="tx1">
                  <a:lumMod val="75000"/>
                  <a:lumOff val="25000"/>
                </a:schemeClr>
              </a:solidFill>
              <a:latin typeface="Roboto" pitchFamily="2" charset="0"/>
              <a:ea typeface="Roboto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36493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F26D9D-720E-405C-BBD2-F2CBA4D8CA36}" type="datetime1">
              <a:rPr lang="de-DE" smtClean="0"/>
              <a:t>27.05.2026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27958-AE93-4D29-9D14-8A002F7E3E9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529151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jpe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eg"/><Relationship Id="rId3" Type="http://schemas.openxmlformats.org/officeDocument/2006/relationships/image" Target="../media/image4.jpe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10.jpeg"/><Relationship Id="rId3" Type="http://schemas.openxmlformats.org/officeDocument/2006/relationships/image" Target="../media/image4.jpeg"/><Relationship Id="rId7" Type="http://schemas.openxmlformats.org/officeDocument/2006/relationships/image" Target="../media/image16.png"/><Relationship Id="rId12" Type="http://schemas.openxmlformats.org/officeDocument/2006/relationships/image" Target="../media/image2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5.png"/><Relationship Id="rId11" Type="http://schemas.openxmlformats.org/officeDocument/2006/relationships/image" Target="../media/image19.png"/><Relationship Id="rId5" Type="http://schemas.openxmlformats.org/officeDocument/2006/relationships/image" Target="../media/image14.png"/><Relationship Id="rId10" Type="http://schemas.openxmlformats.org/officeDocument/2006/relationships/image" Target="../media/image18.png"/><Relationship Id="rId4" Type="http://schemas.openxmlformats.org/officeDocument/2006/relationships/image" Target="../media/image5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67B49B68-B784-4945-91E9-B3C70430E3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DF607D-6A01-495F-9A84-F02DD8D8495D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de-DE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F166A08A-E3BA-4FBA-A8B8-677304C00D17}"/>
              </a:ext>
            </a:extLst>
          </p:cNvPr>
          <p:cNvSpPr txBox="1">
            <a:spLocks/>
          </p:cNvSpPr>
          <p:nvPr/>
        </p:nvSpPr>
        <p:spPr>
          <a:xfrm>
            <a:off x="1524001" y="1057276"/>
            <a:ext cx="160735" cy="1607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5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9292714B-4C24-4FA1-B87A-F13343866B5A}"/>
              </a:ext>
            </a:extLst>
          </p:cNvPr>
          <p:cNvSpPr txBox="1"/>
          <p:nvPr/>
        </p:nvSpPr>
        <p:spPr>
          <a:xfrm>
            <a:off x="548959" y="1104836"/>
            <a:ext cx="1062316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+mn-cs"/>
              </a:rPr>
              <a:t>We create a digital representation of Thuringia's future energy system in order to assess pathways toward a </a:t>
            </a:r>
          </a:p>
          <a:p>
            <a:pPr marL="1200150" lvl="2" indent="-285750">
              <a:buFont typeface="Arial" panose="020B0604020202020204" pitchFamily="34" charset="0"/>
              <a:buChar char="•"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+mn-cs"/>
              </a:rPr>
              <a:t>secure, </a:t>
            </a:r>
          </a:p>
          <a:p>
            <a:pPr marL="1200150" lvl="2" indent="-285750"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Roboto" pitchFamily="2" charset="0"/>
                <a:ea typeface="Roboto" pitchFamily="2" charset="0"/>
              </a:rPr>
              <a:t>a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+mn-cs"/>
              </a:rPr>
              <a:t>ffordable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+mn-cs"/>
              </a:rPr>
              <a:t> and </a:t>
            </a:r>
          </a:p>
          <a:p>
            <a:pPr marL="1200150" lvl="2" indent="-285750">
              <a:buFont typeface="Arial" panose="020B0604020202020204" pitchFamily="34" charset="0"/>
              <a:buChar char="•"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+mn-cs"/>
              </a:rPr>
              <a:t>climate-neutral energy supply.</a:t>
            </a: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6652631E-5A38-4678-83BB-172A02202E0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9662534" cy="1057835"/>
          </a:xfrm>
          <a:prstGeom prst="rect">
            <a:avLst/>
          </a:prstGeom>
        </p:spPr>
      </p:pic>
      <p:sp>
        <p:nvSpPr>
          <p:cNvPr id="13" name="Untertitel 2">
            <a:extLst>
              <a:ext uri="{FF2B5EF4-FFF2-40B4-BE49-F238E27FC236}">
                <a16:creationId xmlns:a16="http://schemas.microsoft.com/office/drawing/2014/main" id="{26D1A32F-3F8F-440D-A525-FC1913578ACC}"/>
              </a:ext>
            </a:extLst>
          </p:cNvPr>
          <p:cNvSpPr txBox="1">
            <a:spLocks/>
          </p:cNvSpPr>
          <p:nvPr/>
        </p:nvSpPr>
        <p:spPr>
          <a:xfrm>
            <a:off x="548960" y="178403"/>
            <a:ext cx="7404160" cy="12536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de-DE" altLang="de-DE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Slab" pitchFamily="2" charset="0"/>
                <a:ea typeface="Roboto Slab" pitchFamily="2" charset="0"/>
                <a:cs typeface="Arial" panose="020B0604020202020204" pitchFamily="34" charset="0"/>
              </a:rPr>
              <a:t>Energy System Modeling 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de-DE" altLang="de-DE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Slab" pitchFamily="2" charset="0"/>
                <a:ea typeface="Roboto Slab" pitchFamily="2" charset="0"/>
                <a:cs typeface="Arial" panose="020B0604020202020204" pitchFamily="34" charset="0"/>
              </a:rPr>
              <a:t>for</a:t>
            </a:r>
            <a:r>
              <a:rPr kumimoji="0" lang="de-DE" altLang="de-DE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Slab" pitchFamily="2" charset="0"/>
                <a:ea typeface="Roboto Slab" pitchFamily="2" charset="0"/>
                <a:cs typeface="Arial" panose="020B0604020202020204" pitchFamily="34" charset="0"/>
              </a:rPr>
              <a:t> </a:t>
            </a:r>
            <a:r>
              <a:rPr kumimoji="0" lang="de-DE" altLang="de-DE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Slab" pitchFamily="2" charset="0"/>
                <a:ea typeface="Roboto Slab" pitchFamily="2" charset="0"/>
                <a:cs typeface="Arial" panose="020B0604020202020204" pitchFamily="34" charset="0"/>
              </a:rPr>
              <a:t>Thuringia</a:t>
            </a:r>
            <a:endParaRPr kumimoji="0" lang="de-DE" altLang="de-DE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Slab" pitchFamily="2" charset="0"/>
              <a:ea typeface="Roboto Slab" pitchFamily="2" charset="0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de-DE" altLang="de-DE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Slab" pitchFamily="2" charset="0"/>
              <a:ea typeface="Roboto Slab" pitchFamily="2" charset="0"/>
              <a:cs typeface="Arial" panose="020B0604020202020204" pitchFamily="34" charset="0"/>
            </a:endParaRP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2ED59108-26ED-3534-4777-AE758FEC72D8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47"/>
          <a:stretch/>
        </p:blipFill>
        <p:spPr>
          <a:xfrm>
            <a:off x="10793436" y="5114338"/>
            <a:ext cx="1398564" cy="772595"/>
          </a:xfrm>
          <a:prstGeom prst="rect">
            <a:avLst/>
          </a:prstGeom>
        </p:spPr>
      </p:pic>
      <p:sp>
        <p:nvSpPr>
          <p:cNvPr id="36" name="Textfeld 35">
            <a:extLst>
              <a:ext uri="{FF2B5EF4-FFF2-40B4-BE49-F238E27FC236}">
                <a16:creationId xmlns:a16="http://schemas.microsoft.com/office/drawing/2014/main" id="{BE9BF03B-A958-976E-D7EE-5D0D440AC95C}"/>
              </a:ext>
            </a:extLst>
          </p:cNvPr>
          <p:cNvSpPr txBox="1"/>
          <p:nvPr/>
        </p:nvSpPr>
        <p:spPr>
          <a:xfrm>
            <a:off x="790508" y="5500635"/>
            <a:ext cx="933826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i="1" dirty="0">
                <a:solidFill>
                  <a:prstClr val="black">
                    <a:lumMod val="75000"/>
                    <a:lumOff val="25000"/>
                  </a:prstClr>
                </a:solidFill>
                <a:latin typeface="Roboto" pitchFamily="2" charset="0"/>
                <a:ea typeface="Roboto" pitchFamily="2" charset="0"/>
              </a:rPr>
              <a:t>Model built based on sector-coupled modeling with the open-source Open-energy Modelling Framework (</a:t>
            </a:r>
            <a:r>
              <a:rPr lang="en-US" sz="1400" i="1" dirty="0" err="1">
                <a:solidFill>
                  <a:prstClr val="black">
                    <a:lumMod val="75000"/>
                    <a:lumOff val="25000"/>
                  </a:prstClr>
                </a:solidFill>
                <a:latin typeface="Roboto" pitchFamily="2" charset="0"/>
                <a:ea typeface="Roboto" pitchFamily="2" charset="0"/>
              </a:rPr>
              <a:t>oemof</a:t>
            </a:r>
            <a:r>
              <a:rPr lang="en-US" sz="1400" i="1" dirty="0">
                <a:solidFill>
                  <a:prstClr val="black">
                    <a:lumMod val="75000"/>
                    <a:lumOff val="25000"/>
                  </a:prstClr>
                </a:solidFill>
                <a:latin typeface="Roboto" pitchFamily="2" charset="0"/>
                <a:ea typeface="Roboto" pitchFamily="2" charset="0"/>
              </a:rPr>
              <a:t>)</a:t>
            </a:r>
            <a:endParaRPr lang="de-DE" sz="1400" i="1" dirty="0"/>
          </a:p>
        </p:txBody>
      </p:sp>
      <p:grpSp>
        <p:nvGrpSpPr>
          <p:cNvPr id="47" name="Gruppieren 46">
            <a:extLst>
              <a:ext uri="{FF2B5EF4-FFF2-40B4-BE49-F238E27FC236}">
                <a16:creationId xmlns:a16="http://schemas.microsoft.com/office/drawing/2014/main" id="{012D0DE4-AE8B-02E4-DE11-DEB6FE49BB6E}"/>
              </a:ext>
            </a:extLst>
          </p:cNvPr>
          <p:cNvGrpSpPr/>
          <p:nvPr/>
        </p:nvGrpSpPr>
        <p:grpSpPr>
          <a:xfrm>
            <a:off x="790508" y="3143109"/>
            <a:ext cx="10799925" cy="1868744"/>
            <a:chOff x="790508" y="3019284"/>
            <a:chExt cx="10799925" cy="1868744"/>
          </a:xfrm>
        </p:grpSpPr>
        <p:grpSp>
          <p:nvGrpSpPr>
            <p:cNvPr id="32" name="Gruppieren 31">
              <a:extLst>
                <a:ext uri="{FF2B5EF4-FFF2-40B4-BE49-F238E27FC236}">
                  <a16:creationId xmlns:a16="http://schemas.microsoft.com/office/drawing/2014/main" id="{9ADF8463-9FEC-A5E5-A04D-1D2D708915F8}"/>
                </a:ext>
              </a:extLst>
            </p:cNvPr>
            <p:cNvGrpSpPr/>
            <p:nvPr/>
          </p:nvGrpSpPr>
          <p:grpSpPr>
            <a:xfrm>
              <a:off x="790508" y="3019284"/>
              <a:ext cx="10799925" cy="1868744"/>
              <a:chOff x="411817" y="2694189"/>
              <a:chExt cx="10799925" cy="1868744"/>
            </a:xfrm>
          </p:grpSpPr>
          <p:sp>
            <p:nvSpPr>
              <p:cNvPr id="25" name="Freihandform: Form 24">
                <a:extLst>
                  <a:ext uri="{FF2B5EF4-FFF2-40B4-BE49-F238E27FC236}">
                    <a16:creationId xmlns:a16="http://schemas.microsoft.com/office/drawing/2014/main" id="{AEF60144-8737-747E-8FA4-91470AC3B34D}"/>
                  </a:ext>
                </a:extLst>
              </p:cNvPr>
              <p:cNvSpPr/>
              <p:nvPr/>
            </p:nvSpPr>
            <p:spPr>
              <a:xfrm>
                <a:off x="3648026" y="2722998"/>
                <a:ext cx="1765006" cy="706002"/>
              </a:xfrm>
              <a:custGeom>
                <a:avLst/>
                <a:gdLst>
                  <a:gd name="connsiteX0" fmla="*/ 0 w 1765006"/>
                  <a:gd name="connsiteY0" fmla="*/ 0 h 706002"/>
                  <a:gd name="connsiteX1" fmla="*/ 1412005 w 1765006"/>
                  <a:gd name="connsiteY1" fmla="*/ 0 h 706002"/>
                  <a:gd name="connsiteX2" fmla="*/ 1765006 w 1765006"/>
                  <a:gd name="connsiteY2" fmla="*/ 353001 h 706002"/>
                  <a:gd name="connsiteX3" fmla="*/ 1412005 w 1765006"/>
                  <a:gd name="connsiteY3" fmla="*/ 706002 h 706002"/>
                  <a:gd name="connsiteX4" fmla="*/ 0 w 1765006"/>
                  <a:gd name="connsiteY4" fmla="*/ 706002 h 706002"/>
                  <a:gd name="connsiteX5" fmla="*/ 353001 w 1765006"/>
                  <a:gd name="connsiteY5" fmla="*/ 353001 h 706002"/>
                  <a:gd name="connsiteX6" fmla="*/ 0 w 1765006"/>
                  <a:gd name="connsiteY6" fmla="*/ 0 h 706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65006" h="706002">
                    <a:moveTo>
                      <a:pt x="0" y="0"/>
                    </a:moveTo>
                    <a:lnTo>
                      <a:pt x="1412005" y="0"/>
                    </a:lnTo>
                    <a:lnTo>
                      <a:pt x="1765006" y="353001"/>
                    </a:lnTo>
                    <a:lnTo>
                      <a:pt x="1412005" y="706002"/>
                    </a:lnTo>
                    <a:lnTo>
                      <a:pt x="0" y="706002"/>
                    </a:lnTo>
                    <a:lnTo>
                      <a:pt x="353001" y="35300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 w="28575">
                <a:solidFill>
                  <a:schemeClr val="accent2">
                    <a:lumMod val="75000"/>
                  </a:schemeClr>
                </a:solidFill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477017" tIns="41339" rIns="394340" bIns="41339" numCol="1" spcCol="1270" anchor="ctr" anchorCtr="0">
                <a:noAutofit/>
              </a:bodyPr>
              <a:lstStyle/>
              <a:p>
                <a:pPr marL="0" lvl="0" indent="0" algn="ctr" defTabSz="13779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endParaRPr lang="de-DE" sz="3100" kern="1200" dirty="0"/>
              </a:p>
            </p:txBody>
          </p:sp>
          <p:sp>
            <p:nvSpPr>
              <p:cNvPr id="8" name="Freihandform: Form 7">
                <a:extLst>
                  <a:ext uri="{FF2B5EF4-FFF2-40B4-BE49-F238E27FC236}">
                    <a16:creationId xmlns:a16="http://schemas.microsoft.com/office/drawing/2014/main" id="{84A4D842-A43D-4969-7372-5B03EF77EB8C}"/>
                  </a:ext>
                </a:extLst>
              </p:cNvPr>
              <p:cNvSpPr/>
              <p:nvPr/>
            </p:nvSpPr>
            <p:spPr>
              <a:xfrm>
                <a:off x="937623" y="2694189"/>
                <a:ext cx="1765006" cy="706002"/>
              </a:xfrm>
              <a:custGeom>
                <a:avLst/>
                <a:gdLst>
                  <a:gd name="connsiteX0" fmla="*/ 0 w 1765006"/>
                  <a:gd name="connsiteY0" fmla="*/ 0 h 706002"/>
                  <a:gd name="connsiteX1" fmla="*/ 1412005 w 1765006"/>
                  <a:gd name="connsiteY1" fmla="*/ 0 h 706002"/>
                  <a:gd name="connsiteX2" fmla="*/ 1765006 w 1765006"/>
                  <a:gd name="connsiteY2" fmla="*/ 353001 h 706002"/>
                  <a:gd name="connsiteX3" fmla="*/ 1412005 w 1765006"/>
                  <a:gd name="connsiteY3" fmla="*/ 706002 h 706002"/>
                  <a:gd name="connsiteX4" fmla="*/ 0 w 1765006"/>
                  <a:gd name="connsiteY4" fmla="*/ 706002 h 706002"/>
                  <a:gd name="connsiteX5" fmla="*/ 353001 w 1765006"/>
                  <a:gd name="connsiteY5" fmla="*/ 353001 h 706002"/>
                  <a:gd name="connsiteX6" fmla="*/ 0 w 1765006"/>
                  <a:gd name="connsiteY6" fmla="*/ 0 h 706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65006" h="706002">
                    <a:moveTo>
                      <a:pt x="0" y="0"/>
                    </a:moveTo>
                    <a:lnTo>
                      <a:pt x="1412005" y="0"/>
                    </a:lnTo>
                    <a:lnTo>
                      <a:pt x="1765006" y="353001"/>
                    </a:lnTo>
                    <a:lnTo>
                      <a:pt x="1412005" y="706002"/>
                    </a:lnTo>
                    <a:lnTo>
                      <a:pt x="0" y="706002"/>
                    </a:lnTo>
                    <a:lnTo>
                      <a:pt x="353001" y="35300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 w="28575">
                <a:solidFill>
                  <a:schemeClr val="accent4"/>
                </a:solidFill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477017" tIns="41339" rIns="394340" bIns="41339" numCol="1" spcCol="1270" anchor="ctr" anchorCtr="0">
                <a:noAutofit/>
              </a:bodyPr>
              <a:lstStyle/>
              <a:p>
                <a:pPr marL="0" lvl="0" indent="0" algn="ctr" defTabSz="13779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endParaRPr lang="de-DE" sz="3100" kern="1200" dirty="0"/>
              </a:p>
            </p:txBody>
          </p:sp>
          <p:sp>
            <p:nvSpPr>
              <p:cNvPr id="19" name="Textfeld 18">
                <a:extLst>
                  <a:ext uri="{FF2B5EF4-FFF2-40B4-BE49-F238E27FC236}">
                    <a16:creationId xmlns:a16="http://schemas.microsoft.com/office/drawing/2014/main" id="{5195B694-1641-E63E-5176-776780CEC6E2}"/>
                  </a:ext>
                </a:extLst>
              </p:cNvPr>
              <p:cNvSpPr txBox="1"/>
              <p:nvPr/>
            </p:nvSpPr>
            <p:spPr>
              <a:xfrm>
                <a:off x="411817" y="3322188"/>
                <a:ext cx="2762433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200000"/>
                  </a:lnSpc>
                </a:pPr>
                <a:r>
                  <a:rPr lang="en-US" b="1" dirty="0"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Roboto" pitchFamily="2" charset="0"/>
                    <a:ea typeface="Roboto" pitchFamily="2" charset="0"/>
                  </a:rPr>
                  <a:t>Renewable Generation</a:t>
                </a:r>
              </a:p>
              <a:p>
                <a:r>
                  <a:rPr lang="en-US" sz="1200" dirty="0"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Roboto" pitchFamily="2" charset="0"/>
                    <a:ea typeface="Roboto" pitchFamily="2" charset="0"/>
                  </a:rPr>
                  <a:t>Wind energy, photovoltaics, and other renewable sources form the basis of future energy supply.</a:t>
                </a:r>
              </a:p>
            </p:txBody>
          </p:sp>
          <p:sp>
            <p:nvSpPr>
              <p:cNvPr id="20" name="Textfeld 19">
                <a:extLst>
                  <a:ext uri="{FF2B5EF4-FFF2-40B4-BE49-F238E27FC236}">
                    <a16:creationId xmlns:a16="http://schemas.microsoft.com/office/drawing/2014/main" id="{4D7F95A9-A96D-69C8-2CB8-81979530CEEE}"/>
                  </a:ext>
                </a:extLst>
              </p:cNvPr>
              <p:cNvSpPr txBox="1"/>
              <p:nvPr/>
            </p:nvSpPr>
            <p:spPr>
              <a:xfrm>
                <a:off x="3210499" y="3322187"/>
                <a:ext cx="2588306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200000"/>
                  </a:lnSpc>
                </a:pPr>
                <a:r>
                  <a:rPr lang="en-US" b="1" dirty="0"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Roboto" pitchFamily="2" charset="0"/>
                    <a:ea typeface="Roboto" pitchFamily="2" charset="0"/>
                  </a:rPr>
                  <a:t>Energy Conversion</a:t>
                </a:r>
              </a:p>
              <a:p>
                <a:pPr algn="just"/>
                <a:r>
                  <a:rPr lang="en-US" sz="1200" dirty="0"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Roboto" pitchFamily="2" charset="0"/>
                    <a:ea typeface="Roboto" pitchFamily="2" charset="0"/>
                  </a:rPr>
                  <a:t>Systems for converting biomass to electricity or electricity into heat or hydrogen for various sectors.</a:t>
                </a:r>
                <a:endParaRPr lang="en-US" sz="10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Roboto" pitchFamily="2" charset="0"/>
                  <a:ea typeface="Roboto" pitchFamily="2" charset="0"/>
                </a:endParaRPr>
              </a:p>
            </p:txBody>
          </p:sp>
          <p:sp>
            <p:nvSpPr>
              <p:cNvPr id="21" name="Textfeld 20">
                <a:extLst>
                  <a:ext uri="{FF2B5EF4-FFF2-40B4-BE49-F238E27FC236}">
                    <a16:creationId xmlns:a16="http://schemas.microsoft.com/office/drawing/2014/main" id="{30053050-BD96-90EB-803E-29B523D2ECD1}"/>
                  </a:ext>
                </a:extLst>
              </p:cNvPr>
              <p:cNvSpPr txBox="1"/>
              <p:nvPr/>
            </p:nvSpPr>
            <p:spPr>
              <a:xfrm>
                <a:off x="6058182" y="3322185"/>
                <a:ext cx="2365502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200000"/>
                  </a:lnSpc>
                </a:pPr>
                <a:r>
                  <a:rPr lang="en-US" b="1" dirty="0"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Roboto" pitchFamily="2" charset="0"/>
                    <a:ea typeface="Roboto" pitchFamily="2" charset="0"/>
                  </a:rPr>
                  <a:t>Storage</a:t>
                </a:r>
              </a:p>
              <a:p>
                <a:pPr algn="just"/>
                <a:r>
                  <a:rPr lang="en-US" sz="1200" dirty="0"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Roboto" pitchFamily="2" charset="0"/>
                    <a:ea typeface="Roboto" pitchFamily="2" charset="0"/>
                  </a:rPr>
                  <a:t>Batteries, thermal storage, and hydrogen storage ensure a flexible, demand-based supply.</a:t>
                </a:r>
                <a:endParaRPr lang="en-US" sz="10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Roboto" pitchFamily="2" charset="0"/>
                  <a:ea typeface="Roboto" pitchFamily="2" charset="0"/>
                </a:endParaRPr>
              </a:p>
            </p:txBody>
          </p:sp>
          <p:sp>
            <p:nvSpPr>
              <p:cNvPr id="22" name="Textfeld 21">
                <a:extLst>
                  <a:ext uri="{FF2B5EF4-FFF2-40B4-BE49-F238E27FC236}">
                    <a16:creationId xmlns:a16="http://schemas.microsoft.com/office/drawing/2014/main" id="{3BF42DE8-883A-7F7E-8921-0415C2214407}"/>
                  </a:ext>
                </a:extLst>
              </p:cNvPr>
              <p:cNvSpPr txBox="1"/>
              <p:nvPr/>
            </p:nvSpPr>
            <p:spPr>
              <a:xfrm>
                <a:off x="8664619" y="3362604"/>
                <a:ext cx="2547123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200000"/>
                  </a:lnSpc>
                </a:pPr>
                <a:r>
                  <a:rPr lang="en-US" b="1" dirty="0"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Roboto" pitchFamily="2" charset="0"/>
                    <a:ea typeface="Roboto" pitchFamily="2" charset="0"/>
                  </a:rPr>
                  <a:t>Consumption Sectors</a:t>
                </a:r>
              </a:p>
              <a:p>
                <a:pPr algn="just"/>
                <a:r>
                  <a:rPr lang="en-US" sz="1200" dirty="0"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Roboto" pitchFamily="2" charset="0"/>
                    <a:ea typeface="Roboto" pitchFamily="2" charset="0"/>
                  </a:rPr>
                  <a:t>The provision of energy for industry, buildings (heat), and mobility (transport). </a:t>
                </a:r>
                <a:endParaRPr lang="en-US" sz="10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Roboto" pitchFamily="2" charset="0"/>
                  <a:ea typeface="Roboto" pitchFamily="2" charset="0"/>
                </a:endParaRPr>
              </a:p>
            </p:txBody>
          </p:sp>
          <p:sp>
            <p:nvSpPr>
              <p:cNvPr id="26" name="Freihandform: Form 25">
                <a:extLst>
                  <a:ext uri="{FF2B5EF4-FFF2-40B4-BE49-F238E27FC236}">
                    <a16:creationId xmlns:a16="http://schemas.microsoft.com/office/drawing/2014/main" id="{F28DEB84-7AD2-F372-A15B-94B3EF5E3239}"/>
                  </a:ext>
                </a:extLst>
              </p:cNvPr>
              <p:cNvSpPr/>
              <p:nvPr/>
            </p:nvSpPr>
            <p:spPr>
              <a:xfrm>
                <a:off x="6427992" y="2722998"/>
                <a:ext cx="1765006" cy="706002"/>
              </a:xfrm>
              <a:custGeom>
                <a:avLst/>
                <a:gdLst>
                  <a:gd name="connsiteX0" fmla="*/ 0 w 1765006"/>
                  <a:gd name="connsiteY0" fmla="*/ 0 h 706002"/>
                  <a:gd name="connsiteX1" fmla="*/ 1412005 w 1765006"/>
                  <a:gd name="connsiteY1" fmla="*/ 0 h 706002"/>
                  <a:gd name="connsiteX2" fmla="*/ 1765006 w 1765006"/>
                  <a:gd name="connsiteY2" fmla="*/ 353001 h 706002"/>
                  <a:gd name="connsiteX3" fmla="*/ 1412005 w 1765006"/>
                  <a:gd name="connsiteY3" fmla="*/ 706002 h 706002"/>
                  <a:gd name="connsiteX4" fmla="*/ 0 w 1765006"/>
                  <a:gd name="connsiteY4" fmla="*/ 706002 h 706002"/>
                  <a:gd name="connsiteX5" fmla="*/ 353001 w 1765006"/>
                  <a:gd name="connsiteY5" fmla="*/ 353001 h 706002"/>
                  <a:gd name="connsiteX6" fmla="*/ 0 w 1765006"/>
                  <a:gd name="connsiteY6" fmla="*/ 0 h 706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65006" h="706002">
                    <a:moveTo>
                      <a:pt x="0" y="0"/>
                    </a:moveTo>
                    <a:lnTo>
                      <a:pt x="1412005" y="0"/>
                    </a:lnTo>
                    <a:lnTo>
                      <a:pt x="1765006" y="353001"/>
                    </a:lnTo>
                    <a:lnTo>
                      <a:pt x="1412005" y="706002"/>
                    </a:lnTo>
                    <a:lnTo>
                      <a:pt x="0" y="706002"/>
                    </a:lnTo>
                    <a:lnTo>
                      <a:pt x="353001" y="35300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 w="28575">
                <a:solidFill>
                  <a:schemeClr val="accent6">
                    <a:lumMod val="60000"/>
                    <a:lumOff val="40000"/>
                  </a:schemeClr>
                </a:solidFill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477017" tIns="41339" rIns="394340" bIns="41339" numCol="1" spcCol="1270" anchor="ctr" anchorCtr="0">
                <a:noAutofit/>
              </a:bodyPr>
              <a:lstStyle/>
              <a:p>
                <a:pPr marL="0" lvl="0" indent="0" algn="ctr" defTabSz="13779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endParaRPr lang="de-DE" sz="3100" kern="1200" dirty="0"/>
              </a:p>
            </p:txBody>
          </p:sp>
          <p:sp>
            <p:nvSpPr>
              <p:cNvPr id="27" name="Freihandform: Form 26">
                <a:extLst>
                  <a:ext uri="{FF2B5EF4-FFF2-40B4-BE49-F238E27FC236}">
                    <a16:creationId xmlns:a16="http://schemas.microsoft.com/office/drawing/2014/main" id="{1D73988A-BBCC-39D2-C19D-82C78B4947F6}"/>
                  </a:ext>
                </a:extLst>
              </p:cNvPr>
              <p:cNvSpPr/>
              <p:nvPr/>
            </p:nvSpPr>
            <p:spPr>
              <a:xfrm>
                <a:off x="9028430" y="2708544"/>
                <a:ext cx="1765006" cy="706002"/>
              </a:xfrm>
              <a:custGeom>
                <a:avLst/>
                <a:gdLst>
                  <a:gd name="connsiteX0" fmla="*/ 0 w 1765006"/>
                  <a:gd name="connsiteY0" fmla="*/ 0 h 706002"/>
                  <a:gd name="connsiteX1" fmla="*/ 1412005 w 1765006"/>
                  <a:gd name="connsiteY1" fmla="*/ 0 h 706002"/>
                  <a:gd name="connsiteX2" fmla="*/ 1765006 w 1765006"/>
                  <a:gd name="connsiteY2" fmla="*/ 353001 h 706002"/>
                  <a:gd name="connsiteX3" fmla="*/ 1412005 w 1765006"/>
                  <a:gd name="connsiteY3" fmla="*/ 706002 h 706002"/>
                  <a:gd name="connsiteX4" fmla="*/ 0 w 1765006"/>
                  <a:gd name="connsiteY4" fmla="*/ 706002 h 706002"/>
                  <a:gd name="connsiteX5" fmla="*/ 353001 w 1765006"/>
                  <a:gd name="connsiteY5" fmla="*/ 353001 h 706002"/>
                  <a:gd name="connsiteX6" fmla="*/ 0 w 1765006"/>
                  <a:gd name="connsiteY6" fmla="*/ 0 h 706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65006" h="706002">
                    <a:moveTo>
                      <a:pt x="0" y="0"/>
                    </a:moveTo>
                    <a:lnTo>
                      <a:pt x="1412005" y="0"/>
                    </a:lnTo>
                    <a:lnTo>
                      <a:pt x="1765006" y="353001"/>
                    </a:lnTo>
                    <a:lnTo>
                      <a:pt x="1412005" y="706002"/>
                    </a:lnTo>
                    <a:lnTo>
                      <a:pt x="0" y="706002"/>
                    </a:lnTo>
                    <a:lnTo>
                      <a:pt x="353001" y="35300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 w="28575">
                <a:solidFill>
                  <a:schemeClr val="accent4">
                    <a:lumMod val="75000"/>
                  </a:schemeClr>
                </a:solidFill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477017" tIns="41339" rIns="394340" bIns="41339" numCol="1" spcCol="1270" anchor="ctr" anchorCtr="0">
                <a:noAutofit/>
              </a:bodyPr>
              <a:lstStyle/>
              <a:p>
                <a:pPr marL="0" lvl="0" indent="0" algn="ctr" defTabSz="13779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endParaRPr lang="de-DE" sz="3100" kern="1200" dirty="0"/>
              </a:p>
            </p:txBody>
          </p:sp>
        </p:grpSp>
        <p:pic>
          <p:nvPicPr>
            <p:cNvPr id="38" name="Grafik 37">
              <a:extLst>
                <a:ext uri="{FF2B5EF4-FFF2-40B4-BE49-F238E27FC236}">
                  <a16:creationId xmlns:a16="http://schemas.microsoft.com/office/drawing/2014/main" id="{322F50EB-1FE1-845E-29E6-DD7DF116A05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43999" y="3035280"/>
              <a:ext cx="612000" cy="612000"/>
            </a:xfrm>
            <a:prstGeom prst="rect">
              <a:avLst/>
            </a:prstGeom>
          </p:spPr>
        </p:pic>
        <p:pic>
          <p:nvPicPr>
            <p:cNvPr id="42" name="Grafik 41">
              <a:extLst>
                <a:ext uri="{FF2B5EF4-FFF2-40B4-BE49-F238E27FC236}">
                  <a16:creationId xmlns:a16="http://schemas.microsoft.com/office/drawing/2014/main" id="{01CE64C2-FF56-E45E-A8FC-1080A18027E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34368" y="3095094"/>
              <a:ext cx="612000" cy="612000"/>
            </a:xfrm>
            <a:prstGeom prst="rect">
              <a:avLst/>
            </a:prstGeom>
          </p:spPr>
        </p:pic>
        <p:pic>
          <p:nvPicPr>
            <p:cNvPr id="44" name="Grafik 43">
              <a:extLst>
                <a:ext uri="{FF2B5EF4-FFF2-40B4-BE49-F238E27FC236}">
                  <a16:creationId xmlns:a16="http://schemas.microsoft.com/office/drawing/2014/main" id="{97EE33A9-ACC1-A0CB-AA98-7ACBA6D8B35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983624" y="3095094"/>
              <a:ext cx="612000" cy="612000"/>
            </a:xfrm>
            <a:prstGeom prst="rect">
              <a:avLst/>
            </a:prstGeom>
          </p:spPr>
        </p:pic>
        <p:pic>
          <p:nvPicPr>
            <p:cNvPr id="46" name="Grafik 45">
              <a:extLst>
                <a:ext uri="{FF2B5EF4-FFF2-40B4-BE49-F238E27FC236}">
                  <a16:creationId xmlns:a16="http://schemas.microsoft.com/office/drawing/2014/main" id="{15ACFBDD-A7C0-FFDF-6FD3-B3449E449A1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03220" y="3095094"/>
              <a:ext cx="612000" cy="612000"/>
            </a:xfrm>
            <a:prstGeom prst="rect">
              <a:avLst/>
            </a:prstGeom>
          </p:spPr>
        </p:pic>
      </p:grpSp>
      <p:pic>
        <p:nvPicPr>
          <p:cNvPr id="49" name="Grafik 48">
            <a:extLst>
              <a:ext uri="{FF2B5EF4-FFF2-40B4-BE49-F238E27FC236}">
                <a16:creationId xmlns:a16="http://schemas.microsoft.com/office/drawing/2014/main" id="{9068F5E4-105C-9125-E7C4-CC9359AEC014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0256" y="6047820"/>
            <a:ext cx="3325368" cy="783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5478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2021B5-E6B3-CC0B-E7C0-8E723A5035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051BC938-9283-BF13-4645-0046843BAC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DF607D-6A01-495F-9A84-F02DD8D8495D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de-DE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4E7C8C10-3AC7-6F7F-46E0-572F0E661FB1}"/>
              </a:ext>
            </a:extLst>
          </p:cNvPr>
          <p:cNvSpPr txBox="1">
            <a:spLocks/>
          </p:cNvSpPr>
          <p:nvPr/>
        </p:nvSpPr>
        <p:spPr>
          <a:xfrm>
            <a:off x="1524001" y="1057276"/>
            <a:ext cx="160735" cy="1607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5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CE2561C1-0C53-915F-3EB6-3CC4486E4135}"/>
              </a:ext>
            </a:extLst>
          </p:cNvPr>
          <p:cNvSpPr txBox="1"/>
          <p:nvPr/>
        </p:nvSpPr>
        <p:spPr>
          <a:xfrm>
            <a:off x="548959" y="1104836"/>
            <a:ext cx="107572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+mn-cs"/>
              </a:rPr>
              <a:t>Energy systems are becoming increasingly interconnected and complex — electricity, heat, mobility, and industry are strongly interdependent. Modeling makes these interactions visible.</a:t>
            </a: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1F0C2D2D-2219-2662-9D17-1A646A603E0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9662534" cy="1057835"/>
          </a:xfrm>
          <a:prstGeom prst="rect">
            <a:avLst/>
          </a:prstGeom>
        </p:spPr>
      </p:pic>
      <p:sp>
        <p:nvSpPr>
          <p:cNvPr id="13" name="Untertitel 2">
            <a:extLst>
              <a:ext uri="{FF2B5EF4-FFF2-40B4-BE49-F238E27FC236}">
                <a16:creationId xmlns:a16="http://schemas.microsoft.com/office/drawing/2014/main" id="{678C0478-3523-C9A8-B4FF-EF162B889781}"/>
              </a:ext>
            </a:extLst>
          </p:cNvPr>
          <p:cNvSpPr txBox="1">
            <a:spLocks/>
          </p:cNvSpPr>
          <p:nvPr/>
        </p:nvSpPr>
        <p:spPr>
          <a:xfrm>
            <a:off x="548959" y="164547"/>
            <a:ext cx="7404160" cy="7930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de-DE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Slab" pitchFamily="2" charset="0"/>
                <a:ea typeface="Roboto Slab" pitchFamily="2" charset="0"/>
                <a:cs typeface="Arial" panose="020B0604020202020204" pitchFamily="34" charset="0"/>
              </a:rPr>
              <a:t>Why is energy system modeling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de-DE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Slab" pitchFamily="2" charset="0"/>
                <a:ea typeface="Roboto Slab" pitchFamily="2" charset="0"/>
                <a:cs typeface="Arial" panose="020B0604020202020204" pitchFamily="34" charset="0"/>
              </a:rPr>
              <a:t> needed?</a:t>
            </a:r>
            <a:endParaRPr kumimoji="0" lang="de-DE" altLang="de-DE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Slab" pitchFamily="2" charset="0"/>
              <a:ea typeface="Roboto Slab" pitchFamily="2" charset="0"/>
              <a:cs typeface="Arial" panose="020B0604020202020204" pitchFamily="34" charset="0"/>
            </a:endParaRP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6DA3EBC2-1C2D-3F5B-1AB8-E15FE04913D6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47"/>
          <a:stretch/>
        </p:blipFill>
        <p:spPr>
          <a:xfrm>
            <a:off x="10793436" y="5114338"/>
            <a:ext cx="1398564" cy="772595"/>
          </a:xfrm>
          <a:prstGeom prst="rect">
            <a:avLst/>
          </a:prstGeom>
        </p:spPr>
      </p:pic>
      <p:sp>
        <p:nvSpPr>
          <p:cNvPr id="10" name="Freihandform: Form 9">
            <a:extLst>
              <a:ext uri="{FF2B5EF4-FFF2-40B4-BE49-F238E27FC236}">
                <a16:creationId xmlns:a16="http://schemas.microsoft.com/office/drawing/2014/main" id="{0B577693-8A6C-A179-B490-C1B4485937AA}"/>
              </a:ext>
            </a:extLst>
          </p:cNvPr>
          <p:cNvSpPr/>
          <p:nvPr/>
        </p:nvSpPr>
        <p:spPr>
          <a:xfrm rot="16200000">
            <a:off x="1266450" y="3730589"/>
            <a:ext cx="2418221" cy="338733"/>
          </a:xfrm>
          <a:custGeom>
            <a:avLst/>
            <a:gdLst>
              <a:gd name="connsiteX0" fmla="*/ 0 w 4226560"/>
              <a:gd name="connsiteY0" fmla="*/ 0 h 392277"/>
              <a:gd name="connsiteX1" fmla="*/ 4226560 w 4226560"/>
              <a:gd name="connsiteY1" fmla="*/ 0 h 392277"/>
              <a:gd name="connsiteX2" fmla="*/ 4226560 w 4226560"/>
              <a:gd name="connsiteY2" fmla="*/ 392277 h 392277"/>
              <a:gd name="connsiteX3" fmla="*/ 0 w 4226560"/>
              <a:gd name="connsiteY3" fmla="*/ 392277 h 392277"/>
              <a:gd name="connsiteX4" fmla="*/ 0 w 4226560"/>
              <a:gd name="connsiteY4" fmla="*/ 0 h 392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226560" h="392277">
                <a:moveTo>
                  <a:pt x="0" y="0"/>
                </a:moveTo>
                <a:lnTo>
                  <a:pt x="4226560" y="0"/>
                </a:lnTo>
                <a:lnTo>
                  <a:pt x="4226560" y="392277"/>
                </a:lnTo>
                <a:lnTo>
                  <a:pt x="0" y="392277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-1" tIns="-1" rIns="345967" bIns="0" numCol="1" spcCol="1270" anchor="t" anchorCtr="0">
            <a:noAutofit/>
          </a:bodyPr>
          <a:lstStyle/>
          <a:p>
            <a:pPr marL="0" lvl="0" indent="0" algn="r" defTabSz="1244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de-DE" sz="2800" kern="1200"/>
          </a:p>
        </p:txBody>
      </p:sp>
      <p:sp>
        <p:nvSpPr>
          <p:cNvPr id="14" name="Rechteck: abgerundete Ecken 13">
            <a:extLst>
              <a:ext uri="{FF2B5EF4-FFF2-40B4-BE49-F238E27FC236}">
                <a16:creationId xmlns:a16="http://schemas.microsoft.com/office/drawing/2014/main" id="{F182B21B-34E4-9AA4-3CBD-A179DF4BC167}"/>
              </a:ext>
            </a:extLst>
          </p:cNvPr>
          <p:cNvSpPr/>
          <p:nvPr/>
        </p:nvSpPr>
        <p:spPr>
          <a:xfrm>
            <a:off x="2644927" y="2690845"/>
            <a:ext cx="1872000" cy="2418221"/>
          </a:xfrm>
          <a:prstGeom prst="roundRect">
            <a:avLst/>
          </a:prstGeom>
          <a:solidFill>
            <a:srgbClr val="E5F1F7"/>
          </a:solidFill>
          <a:ln>
            <a:solidFill>
              <a:srgbClr val="AAD7D4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20040" tIns="345967" rIns="320040" bIns="320040" numCol="1" spcCol="1270" anchor="t" anchorCtr="0">
            <a:noAutofit/>
          </a:bodyPr>
          <a:lstStyle/>
          <a:p>
            <a:pPr marL="285750" lvl="1" indent="-285750" algn="l" defTabSz="15557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endParaRPr lang="de-DE" sz="3500" kern="1200" dirty="0"/>
          </a:p>
          <a:p>
            <a:pPr marL="285750" lvl="1" indent="-285750" algn="l" defTabSz="15557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endParaRPr lang="de-DE" sz="3500" kern="1200" dirty="0"/>
          </a:p>
        </p:txBody>
      </p:sp>
      <p:sp>
        <p:nvSpPr>
          <p:cNvPr id="15" name="Flussdiagramm: Verbinder 14">
            <a:extLst>
              <a:ext uri="{FF2B5EF4-FFF2-40B4-BE49-F238E27FC236}">
                <a16:creationId xmlns:a16="http://schemas.microsoft.com/office/drawing/2014/main" id="{ED6C067B-6874-98A9-1B8E-7E93DE59170B}"/>
              </a:ext>
            </a:extLst>
          </p:cNvPr>
          <p:cNvSpPr/>
          <p:nvPr/>
        </p:nvSpPr>
        <p:spPr>
          <a:xfrm>
            <a:off x="2306193" y="2362117"/>
            <a:ext cx="677467" cy="648145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de-DE"/>
          </a:p>
        </p:txBody>
      </p:sp>
      <p:sp>
        <p:nvSpPr>
          <p:cNvPr id="16" name="Freihandform: Form 15">
            <a:extLst>
              <a:ext uri="{FF2B5EF4-FFF2-40B4-BE49-F238E27FC236}">
                <a16:creationId xmlns:a16="http://schemas.microsoft.com/office/drawing/2014/main" id="{DB75BD72-7306-5828-EBF0-E9B8A132C39D}"/>
              </a:ext>
            </a:extLst>
          </p:cNvPr>
          <p:cNvSpPr/>
          <p:nvPr/>
        </p:nvSpPr>
        <p:spPr>
          <a:xfrm rot="16200000">
            <a:off x="3720129" y="3730589"/>
            <a:ext cx="2418221" cy="338733"/>
          </a:xfrm>
          <a:custGeom>
            <a:avLst/>
            <a:gdLst>
              <a:gd name="connsiteX0" fmla="*/ 0 w 4226560"/>
              <a:gd name="connsiteY0" fmla="*/ 0 h 392277"/>
              <a:gd name="connsiteX1" fmla="*/ 4226560 w 4226560"/>
              <a:gd name="connsiteY1" fmla="*/ 0 h 392277"/>
              <a:gd name="connsiteX2" fmla="*/ 4226560 w 4226560"/>
              <a:gd name="connsiteY2" fmla="*/ 392277 h 392277"/>
              <a:gd name="connsiteX3" fmla="*/ 0 w 4226560"/>
              <a:gd name="connsiteY3" fmla="*/ 392277 h 392277"/>
              <a:gd name="connsiteX4" fmla="*/ 0 w 4226560"/>
              <a:gd name="connsiteY4" fmla="*/ 0 h 392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226560" h="392277">
                <a:moveTo>
                  <a:pt x="0" y="0"/>
                </a:moveTo>
                <a:lnTo>
                  <a:pt x="4226560" y="0"/>
                </a:lnTo>
                <a:lnTo>
                  <a:pt x="4226560" y="392277"/>
                </a:lnTo>
                <a:lnTo>
                  <a:pt x="0" y="392277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-1" tIns="-1" rIns="345967" bIns="0" numCol="1" spcCol="1270" anchor="t" anchorCtr="0">
            <a:noAutofit/>
          </a:bodyPr>
          <a:lstStyle/>
          <a:p>
            <a:pPr marL="0" lvl="0" indent="0" algn="r" defTabSz="1244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de-DE" sz="2800" kern="1200"/>
          </a:p>
        </p:txBody>
      </p:sp>
      <p:pic>
        <p:nvPicPr>
          <p:cNvPr id="40" name="Grafik 39">
            <a:extLst>
              <a:ext uri="{FF2B5EF4-FFF2-40B4-BE49-F238E27FC236}">
                <a16:creationId xmlns:a16="http://schemas.microsoft.com/office/drawing/2014/main" id="{1BCDD30B-F1A3-ED6B-D647-967C0303B7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37388" y="2430044"/>
            <a:ext cx="612000" cy="612000"/>
          </a:xfrm>
          <a:prstGeom prst="rect">
            <a:avLst/>
          </a:prstGeom>
        </p:spPr>
      </p:pic>
      <p:sp>
        <p:nvSpPr>
          <p:cNvPr id="41" name="Textfeld 40">
            <a:extLst>
              <a:ext uri="{FF2B5EF4-FFF2-40B4-BE49-F238E27FC236}">
                <a16:creationId xmlns:a16="http://schemas.microsoft.com/office/drawing/2014/main" id="{9B11631B-33B5-7086-571D-737B8E111F95}"/>
              </a:ext>
            </a:extLst>
          </p:cNvPr>
          <p:cNvSpPr txBox="1"/>
          <p:nvPr/>
        </p:nvSpPr>
        <p:spPr>
          <a:xfrm>
            <a:off x="2724710" y="3067213"/>
            <a:ext cx="178419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  <a:spcAft>
                <a:spcPts val="1200"/>
              </a:spcAft>
            </a:pPr>
            <a:r>
              <a:rPr lang="en-US" sz="1600" b="1" dirty="0">
                <a:solidFill>
                  <a:prstClr val="black">
                    <a:lumMod val="75000"/>
                    <a:lumOff val="25000"/>
                  </a:prstClr>
                </a:solidFill>
                <a:latin typeface="Roboto" pitchFamily="2" charset="0"/>
                <a:ea typeface="Roboto" pitchFamily="2" charset="0"/>
              </a:rPr>
              <a:t>Reliable energy supply</a:t>
            </a:r>
          </a:p>
          <a:p>
            <a:pPr algn="just"/>
            <a:r>
              <a:rPr lang="en-US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Roboto" pitchFamily="2" charset="0"/>
                <a:ea typeface="Roboto" pitchFamily="2" charset="0"/>
              </a:rPr>
              <a:t>Assessment of how energy demand can be securely met under changing conditions.</a:t>
            </a:r>
            <a:endParaRPr lang="de-DE" sz="1200" dirty="0">
              <a:solidFill>
                <a:prstClr val="black">
                  <a:lumMod val="75000"/>
                  <a:lumOff val="25000"/>
                </a:prstClr>
              </a:solidFill>
              <a:latin typeface="Roboto" pitchFamily="2" charset="0"/>
              <a:ea typeface="Roboto" pitchFamily="2" charset="0"/>
            </a:endParaRPr>
          </a:p>
        </p:txBody>
      </p:sp>
      <p:sp>
        <p:nvSpPr>
          <p:cNvPr id="42" name="Rechteck: abgerundete Ecken 41">
            <a:extLst>
              <a:ext uri="{FF2B5EF4-FFF2-40B4-BE49-F238E27FC236}">
                <a16:creationId xmlns:a16="http://schemas.microsoft.com/office/drawing/2014/main" id="{5BF6698C-A179-8C48-E029-4342FF5E688E}"/>
              </a:ext>
            </a:extLst>
          </p:cNvPr>
          <p:cNvSpPr/>
          <p:nvPr/>
        </p:nvSpPr>
        <p:spPr>
          <a:xfrm>
            <a:off x="5185987" y="2690845"/>
            <a:ext cx="1872000" cy="2418221"/>
          </a:xfrm>
          <a:prstGeom prst="roundRect">
            <a:avLst/>
          </a:prstGeom>
          <a:solidFill>
            <a:srgbClr val="E5F1F7"/>
          </a:solidFill>
          <a:ln>
            <a:solidFill>
              <a:srgbClr val="AAD7D4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20040" tIns="345967" rIns="320040" bIns="320040" numCol="1" spcCol="1270" anchor="t" anchorCtr="0">
            <a:noAutofit/>
          </a:bodyPr>
          <a:lstStyle/>
          <a:p>
            <a:pPr marL="285750" lvl="1" indent="-285750" algn="l" defTabSz="15557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endParaRPr lang="de-DE" sz="3500" kern="1200" dirty="0"/>
          </a:p>
          <a:p>
            <a:pPr marL="285750" lvl="1" indent="-285750" algn="l" defTabSz="15557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endParaRPr lang="de-DE" sz="3500" kern="1200" dirty="0"/>
          </a:p>
        </p:txBody>
      </p:sp>
      <p:sp>
        <p:nvSpPr>
          <p:cNvPr id="44" name="Textfeld 43">
            <a:extLst>
              <a:ext uri="{FF2B5EF4-FFF2-40B4-BE49-F238E27FC236}">
                <a16:creationId xmlns:a16="http://schemas.microsoft.com/office/drawing/2014/main" id="{03F99024-66F3-1C80-B977-F0293AFB4CBE}"/>
              </a:ext>
            </a:extLst>
          </p:cNvPr>
          <p:cNvSpPr txBox="1"/>
          <p:nvPr/>
        </p:nvSpPr>
        <p:spPr>
          <a:xfrm>
            <a:off x="5341552" y="3039199"/>
            <a:ext cx="1621035" cy="19236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  <a:spcAft>
                <a:spcPts val="1200"/>
              </a:spcAft>
            </a:pPr>
            <a:r>
              <a:rPr lang="en-US" sz="1600" b="1" dirty="0">
                <a:solidFill>
                  <a:prstClr val="black">
                    <a:lumMod val="75000"/>
                    <a:lumOff val="25000"/>
                  </a:prstClr>
                </a:solidFill>
                <a:latin typeface="Roboto" pitchFamily="2" charset="0"/>
                <a:ea typeface="Roboto" pitchFamily="2" charset="0"/>
              </a:rPr>
              <a:t>Efficient investments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Roboto" pitchFamily="2" charset="0"/>
                <a:ea typeface="Roboto" pitchFamily="2" charset="0"/>
              </a:rPr>
              <a:t>Identification of infrastructure and storage investments with the greatest added value for the region.</a:t>
            </a:r>
            <a:endParaRPr lang="de-DE" sz="1200" dirty="0">
              <a:solidFill>
                <a:prstClr val="black">
                  <a:lumMod val="75000"/>
                  <a:lumOff val="25000"/>
                </a:prstClr>
              </a:solidFill>
              <a:latin typeface="Roboto" pitchFamily="2" charset="0"/>
              <a:ea typeface="Roboto" pitchFamily="2" charset="0"/>
            </a:endParaRPr>
          </a:p>
        </p:txBody>
      </p:sp>
      <p:sp>
        <p:nvSpPr>
          <p:cNvPr id="45" name="Rechteck: abgerundete Ecken 44">
            <a:extLst>
              <a:ext uri="{FF2B5EF4-FFF2-40B4-BE49-F238E27FC236}">
                <a16:creationId xmlns:a16="http://schemas.microsoft.com/office/drawing/2014/main" id="{0590B06A-BC3A-698C-E828-EB88A21BABB9}"/>
              </a:ext>
            </a:extLst>
          </p:cNvPr>
          <p:cNvSpPr/>
          <p:nvPr/>
        </p:nvSpPr>
        <p:spPr>
          <a:xfrm>
            <a:off x="7727047" y="2690844"/>
            <a:ext cx="1872000" cy="2418221"/>
          </a:xfrm>
          <a:prstGeom prst="roundRect">
            <a:avLst/>
          </a:prstGeom>
          <a:solidFill>
            <a:srgbClr val="E5F1F7"/>
          </a:solidFill>
          <a:ln>
            <a:solidFill>
              <a:srgbClr val="AAD7D4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20040" tIns="345967" rIns="320040" bIns="320040" numCol="1" spcCol="1270" anchor="t" anchorCtr="0">
            <a:noAutofit/>
          </a:bodyPr>
          <a:lstStyle/>
          <a:p>
            <a:pPr marL="285750" lvl="1" indent="-285750" algn="l" defTabSz="15557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endParaRPr lang="de-DE" sz="3500" kern="1200" dirty="0"/>
          </a:p>
          <a:p>
            <a:pPr marL="285750" lvl="1" indent="-285750" algn="l" defTabSz="15557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endParaRPr lang="de-DE" sz="3500" kern="1200" dirty="0"/>
          </a:p>
        </p:txBody>
      </p:sp>
      <p:sp>
        <p:nvSpPr>
          <p:cNvPr id="47" name="Textfeld 46">
            <a:extLst>
              <a:ext uri="{FF2B5EF4-FFF2-40B4-BE49-F238E27FC236}">
                <a16:creationId xmlns:a16="http://schemas.microsoft.com/office/drawing/2014/main" id="{DFC9F987-1D1B-5067-4961-9D923A9AA679}"/>
              </a:ext>
            </a:extLst>
          </p:cNvPr>
          <p:cNvSpPr txBox="1"/>
          <p:nvPr/>
        </p:nvSpPr>
        <p:spPr>
          <a:xfrm>
            <a:off x="7727046" y="3088858"/>
            <a:ext cx="193548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  <a:spcAft>
                <a:spcPts val="1200"/>
              </a:spcAft>
            </a:pPr>
            <a:r>
              <a:rPr lang="de-DE" sz="1600" b="1" dirty="0">
                <a:solidFill>
                  <a:prstClr val="black">
                    <a:lumMod val="75000"/>
                    <a:lumOff val="25000"/>
                  </a:prstClr>
                </a:solidFill>
                <a:latin typeface="Roboto" pitchFamily="2" charset="0"/>
                <a:ea typeface="Roboto" pitchFamily="2" charset="0"/>
              </a:rPr>
              <a:t>Policy </a:t>
            </a:r>
            <a:r>
              <a:rPr lang="de-DE" sz="1600" b="1" dirty="0" err="1">
                <a:solidFill>
                  <a:prstClr val="black">
                    <a:lumMod val="75000"/>
                    <a:lumOff val="25000"/>
                  </a:prstClr>
                </a:solidFill>
                <a:latin typeface="Roboto" pitchFamily="2" charset="0"/>
                <a:ea typeface="Roboto" pitchFamily="2" charset="0"/>
              </a:rPr>
              <a:t>decision</a:t>
            </a:r>
            <a:r>
              <a:rPr lang="de-DE" sz="1600" b="1" dirty="0">
                <a:solidFill>
                  <a:prstClr val="black">
                    <a:lumMod val="75000"/>
                    <a:lumOff val="25000"/>
                  </a:prstClr>
                </a:solidFill>
                <a:latin typeface="Roboto" pitchFamily="2" charset="0"/>
                <a:ea typeface="Roboto" pitchFamily="2" charset="0"/>
              </a:rPr>
              <a:t> support</a:t>
            </a:r>
            <a:endParaRPr lang="en-US" sz="1600" b="1" dirty="0">
              <a:solidFill>
                <a:prstClr val="black">
                  <a:lumMod val="75000"/>
                  <a:lumOff val="25000"/>
                </a:prstClr>
              </a:solidFill>
              <a:latin typeface="Roboto" pitchFamily="2" charset="0"/>
              <a:ea typeface="Roboto" pitchFamily="2" charset="0"/>
            </a:endParaRPr>
          </a:p>
          <a:p>
            <a:pPr algn="just"/>
            <a:r>
              <a:rPr lang="en-US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Roboto" pitchFamily="2" charset="0"/>
                <a:ea typeface="Roboto" pitchFamily="2" charset="0"/>
              </a:rPr>
              <a:t>Evidence-based scenarios as a foundation for regional planning and transformation.</a:t>
            </a:r>
            <a:endParaRPr lang="de-DE" sz="1200" dirty="0">
              <a:solidFill>
                <a:prstClr val="black">
                  <a:lumMod val="75000"/>
                  <a:lumOff val="25000"/>
                </a:prstClr>
              </a:solidFill>
              <a:latin typeface="Roboto" pitchFamily="2" charset="0"/>
              <a:ea typeface="Roboto" pitchFamily="2" charset="0"/>
            </a:endParaRPr>
          </a:p>
        </p:txBody>
      </p:sp>
      <p:pic>
        <p:nvPicPr>
          <p:cNvPr id="49" name="Grafik 48">
            <a:extLst>
              <a:ext uri="{FF2B5EF4-FFF2-40B4-BE49-F238E27FC236}">
                <a16:creationId xmlns:a16="http://schemas.microsoft.com/office/drawing/2014/main" id="{D9B16F4D-0588-34E8-7ACC-DA7DDF6DB04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53641" y="2398262"/>
            <a:ext cx="612000" cy="612000"/>
          </a:xfrm>
          <a:prstGeom prst="rect">
            <a:avLst/>
          </a:prstGeom>
        </p:spPr>
      </p:pic>
      <p:pic>
        <p:nvPicPr>
          <p:cNvPr id="51" name="Grafik 50">
            <a:extLst>
              <a:ext uri="{FF2B5EF4-FFF2-40B4-BE49-F238E27FC236}">
                <a16:creationId xmlns:a16="http://schemas.microsoft.com/office/drawing/2014/main" id="{39C50A84-0370-DBD9-1226-A5940DFBD86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9622" y="2398262"/>
            <a:ext cx="612000" cy="612000"/>
          </a:xfrm>
          <a:prstGeom prst="rect">
            <a:avLst/>
          </a:prstGeom>
        </p:spPr>
      </p:pic>
      <p:sp>
        <p:nvSpPr>
          <p:cNvPr id="52" name="Textfeld 51">
            <a:extLst>
              <a:ext uri="{FF2B5EF4-FFF2-40B4-BE49-F238E27FC236}">
                <a16:creationId xmlns:a16="http://schemas.microsoft.com/office/drawing/2014/main" id="{0635279D-1CA7-5119-5C95-A01EC68CCD4D}"/>
              </a:ext>
            </a:extLst>
          </p:cNvPr>
          <p:cNvSpPr txBox="1"/>
          <p:nvPr/>
        </p:nvSpPr>
        <p:spPr>
          <a:xfrm>
            <a:off x="790508" y="5500635"/>
            <a:ext cx="933826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i="1" dirty="0">
                <a:solidFill>
                  <a:prstClr val="black">
                    <a:lumMod val="75000"/>
                    <a:lumOff val="25000"/>
                  </a:prstClr>
                </a:solidFill>
                <a:latin typeface="Roboto" pitchFamily="2" charset="0"/>
                <a:ea typeface="Roboto" pitchFamily="2" charset="0"/>
              </a:rPr>
              <a:t>Future energy systems become increasingly interconnected and complex.</a:t>
            </a:r>
            <a:endParaRPr lang="de-DE" sz="1400" i="1" dirty="0"/>
          </a:p>
        </p:txBody>
      </p:sp>
      <p:pic>
        <p:nvPicPr>
          <p:cNvPr id="53" name="Grafik 52">
            <a:extLst>
              <a:ext uri="{FF2B5EF4-FFF2-40B4-BE49-F238E27FC236}">
                <a16:creationId xmlns:a16="http://schemas.microsoft.com/office/drawing/2014/main" id="{81CE29A7-7A29-A21A-CE76-B2908907CAB4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0256" y="6047820"/>
            <a:ext cx="3325368" cy="783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76341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7D045E-7CDB-CD35-A44C-8F32550740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ABBD0B41-8559-DB80-4BAD-110E91346F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DF607D-6A01-495F-9A84-F02DD8D8495D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de-DE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283DFE7C-E332-74B1-1DED-49278B7AC12A}"/>
              </a:ext>
            </a:extLst>
          </p:cNvPr>
          <p:cNvSpPr txBox="1">
            <a:spLocks/>
          </p:cNvSpPr>
          <p:nvPr/>
        </p:nvSpPr>
        <p:spPr>
          <a:xfrm>
            <a:off x="1524001" y="1057276"/>
            <a:ext cx="160735" cy="1607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5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</a:t>
            </a: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24776515-D95B-4A85-3B9F-D92746CD2E1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9662534" cy="1057835"/>
          </a:xfrm>
          <a:prstGeom prst="rect">
            <a:avLst/>
          </a:prstGeom>
        </p:spPr>
      </p:pic>
      <p:sp>
        <p:nvSpPr>
          <p:cNvPr id="13" name="Untertitel 2">
            <a:extLst>
              <a:ext uri="{FF2B5EF4-FFF2-40B4-BE49-F238E27FC236}">
                <a16:creationId xmlns:a16="http://schemas.microsoft.com/office/drawing/2014/main" id="{79AC4B9F-7A68-F0DC-2EFD-7EED67FCF17D}"/>
              </a:ext>
            </a:extLst>
          </p:cNvPr>
          <p:cNvSpPr txBox="1">
            <a:spLocks/>
          </p:cNvSpPr>
          <p:nvPr/>
        </p:nvSpPr>
        <p:spPr>
          <a:xfrm>
            <a:off x="620619" y="179079"/>
            <a:ext cx="7404160" cy="11982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de-DE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Slab" pitchFamily="2" charset="0"/>
                <a:ea typeface="Roboto Slab" pitchFamily="2" charset="0"/>
                <a:cs typeface="Arial" panose="020B0604020202020204" pitchFamily="34" charset="0"/>
              </a:rPr>
              <a:t>Opportunities for Thuringia: 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de-DE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Slab" pitchFamily="2" charset="0"/>
                <a:ea typeface="Roboto Slab" pitchFamily="2" charset="0"/>
                <a:cs typeface="Arial" panose="020B0604020202020204" pitchFamily="34" charset="0"/>
              </a:rPr>
              <a:t>Storage and Future Scenarios </a:t>
            </a:r>
            <a:endParaRPr kumimoji="0" lang="de-DE" altLang="de-DE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Slab" pitchFamily="2" charset="0"/>
              <a:ea typeface="Roboto Slab" pitchFamily="2" charset="0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de-DE" altLang="de-DE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Slab" pitchFamily="2" charset="0"/>
              <a:ea typeface="Roboto Slab" pitchFamily="2" charset="0"/>
              <a:cs typeface="Arial" panose="020B0604020202020204" pitchFamily="34" charset="0"/>
            </a:endParaRP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066B05ED-FC07-EAF4-5CA1-292983EFA71B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47"/>
          <a:stretch/>
        </p:blipFill>
        <p:spPr>
          <a:xfrm>
            <a:off x="10793436" y="5114338"/>
            <a:ext cx="1398564" cy="772595"/>
          </a:xfrm>
          <a:prstGeom prst="rect">
            <a:avLst/>
          </a:prstGeom>
        </p:spPr>
      </p:pic>
      <p:sp>
        <p:nvSpPr>
          <p:cNvPr id="29" name="Textfeld 28">
            <a:extLst>
              <a:ext uri="{FF2B5EF4-FFF2-40B4-BE49-F238E27FC236}">
                <a16:creationId xmlns:a16="http://schemas.microsoft.com/office/drawing/2014/main" id="{869CBAE3-75EB-2CA2-98EE-E1F85A6910DB}"/>
              </a:ext>
            </a:extLst>
          </p:cNvPr>
          <p:cNvSpPr txBox="1"/>
          <p:nvPr/>
        </p:nvSpPr>
        <p:spPr>
          <a:xfrm>
            <a:off x="1522466" y="1421488"/>
            <a:ext cx="3038475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b="1" dirty="0">
                <a:latin typeface="Roboto" panose="02000000000000000000" pitchFamily="2" charset="0"/>
                <a:ea typeface="Roboto" panose="02000000000000000000" pitchFamily="2" charset="0"/>
              </a:rPr>
              <a:t>Scenario Analysis</a:t>
            </a:r>
          </a:p>
        </p:txBody>
      </p:sp>
      <p:grpSp>
        <p:nvGrpSpPr>
          <p:cNvPr id="87" name="Gruppieren 86">
            <a:extLst>
              <a:ext uri="{FF2B5EF4-FFF2-40B4-BE49-F238E27FC236}">
                <a16:creationId xmlns:a16="http://schemas.microsoft.com/office/drawing/2014/main" id="{99304977-F9AE-2692-E0AF-F79F43DDFE56}"/>
              </a:ext>
            </a:extLst>
          </p:cNvPr>
          <p:cNvGrpSpPr/>
          <p:nvPr/>
        </p:nvGrpSpPr>
        <p:grpSpPr>
          <a:xfrm>
            <a:off x="1047529" y="1891290"/>
            <a:ext cx="3687845" cy="3440447"/>
            <a:chOff x="1047529" y="1996065"/>
            <a:chExt cx="3687845" cy="3440447"/>
          </a:xfrm>
        </p:grpSpPr>
        <p:grpSp>
          <p:nvGrpSpPr>
            <p:cNvPr id="28" name="Gruppieren 27">
              <a:extLst>
                <a:ext uri="{FF2B5EF4-FFF2-40B4-BE49-F238E27FC236}">
                  <a16:creationId xmlns:a16="http://schemas.microsoft.com/office/drawing/2014/main" id="{DBF0A171-C7C4-B0BB-2400-C17A0A337374}"/>
                </a:ext>
              </a:extLst>
            </p:cNvPr>
            <p:cNvGrpSpPr/>
            <p:nvPr/>
          </p:nvGrpSpPr>
          <p:grpSpPr>
            <a:xfrm>
              <a:off x="1047529" y="1996065"/>
              <a:ext cx="3687845" cy="3440447"/>
              <a:chOff x="1245462" y="2226641"/>
              <a:chExt cx="3687845" cy="3440447"/>
            </a:xfrm>
          </p:grpSpPr>
          <p:grpSp>
            <p:nvGrpSpPr>
              <p:cNvPr id="8" name="Gruppieren 7">
                <a:extLst>
                  <a:ext uri="{FF2B5EF4-FFF2-40B4-BE49-F238E27FC236}">
                    <a16:creationId xmlns:a16="http://schemas.microsoft.com/office/drawing/2014/main" id="{91A3D821-0256-E22A-7693-61DEC0648F7D}"/>
                  </a:ext>
                </a:extLst>
              </p:cNvPr>
              <p:cNvGrpSpPr/>
              <p:nvPr/>
            </p:nvGrpSpPr>
            <p:grpSpPr>
              <a:xfrm>
                <a:off x="1245462" y="2256175"/>
                <a:ext cx="3636825" cy="2528889"/>
                <a:chOff x="1245462" y="2256175"/>
                <a:chExt cx="3636825" cy="2528889"/>
              </a:xfrm>
            </p:grpSpPr>
            <p:sp>
              <p:nvSpPr>
                <p:cNvPr id="9" name="Freihandform: Form 8">
                  <a:extLst>
                    <a:ext uri="{FF2B5EF4-FFF2-40B4-BE49-F238E27FC236}">
                      <a16:creationId xmlns:a16="http://schemas.microsoft.com/office/drawing/2014/main" id="{C1E71E34-EED1-01BF-76B6-33CEDD677BC5}"/>
                    </a:ext>
                  </a:extLst>
                </p:cNvPr>
                <p:cNvSpPr/>
                <p:nvPr/>
              </p:nvSpPr>
              <p:spPr>
                <a:xfrm rot="21600000">
                  <a:off x="1596988" y="2256175"/>
                  <a:ext cx="3285299" cy="703053"/>
                </a:xfrm>
                <a:custGeom>
                  <a:avLst/>
                  <a:gdLst>
                    <a:gd name="connsiteX0" fmla="*/ 0 w 3285299"/>
                    <a:gd name="connsiteY0" fmla="*/ 0 h 703051"/>
                    <a:gd name="connsiteX1" fmla="*/ 2933774 w 3285299"/>
                    <a:gd name="connsiteY1" fmla="*/ 0 h 703051"/>
                    <a:gd name="connsiteX2" fmla="*/ 3285299 w 3285299"/>
                    <a:gd name="connsiteY2" fmla="*/ 351526 h 703051"/>
                    <a:gd name="connsiteX3" fmla="*/ 2933774 w 3285299"/>
                    <a:gd name="connsiteY3" fmla="*/ 703051 h 703051"/>
                    <a:gd name="connsiteX4" fmla="*/ 0 w 3285299"/>
                    <a:gd name="connsiteY4" fmla="*/ 703051 h 703051"/>
                    <a:gd name="connsiteX5" fmla="*/ 0 w 3285299"/>
                    <a:gd name="connsiteY5" fmla="*/ 0 h 7030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285299" h="703051">
                      <a:moveTo>
                        <a:pt x="3285299" y="703050"/>
                      </a:moveTo>
                      <a:lnTo>
                        <a:pt x="351525" y="703050"/>
                      </a:lnTo>
                      <a:lnTo>
                        <a:pt x="0" y="351525"/>
                      </a:lnTo>
                      <a:lnTo>
                        <a:pt x="351525" y="1"/>
                      </a:lnTo>
                      <a:lnTo>
                        <a:pt x="3285299" y="1"/>
                      </a:lnTo>
                      <a:lnTo>
                        <a:pt x="3285299" y="703050"/>
                      </a:lnTo>
                      <a:close/>
                    </a:path>
                  </a:pathLst>
                </a:custGeom>
                <a:solidFill>
                  <a:srgbClr val="E5F1F7"/>
                </a:solidFill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485789" tIns="121921" rIns="227584" bIns="121921" numCol="1" spcCol="1270" anchor="ctr" anchorCtr="0">
                  <a:noAutofit/>
                </a:bodyPr>
                <a:lstStyle/>
                <a:p>
                  <a:pPr marL="0" lvl="0" indent="0" algn="ctr" defTabSz="14224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endParaRPr lang="de-DE" sz="3200" kern="1200"/>
                </a:p>
              </p:txBody>
            </p:sp>
            <p:sp>
              <p:nvSpPr>
                <p:cNvPr id="17" name="Ellipse 16">
                  <a:extLst>
                    <a:ext uri="{FF2B5EF4-FFF2-40B4-BE49-F238E27FC236}">
                      <a16:creationId xmlns:a16="http://schemas.microsoft.com/office/drawing/2014/main" id="{36073639-8FE2-41AA-1466-939C517BEC15}"/>
                    </a:ext>
                  </a:extLst>
                </p:cNvPr>
                <p:cNvSpPr/>
                <p:nvPr/>
              </p:nvSpPr>
              <p:spPr>
                <a:xfrm>
                  <a:off x="1245462" y="2256176"/>
                  <a:ext cx="703051" cy="703051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tint val="50000"/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tint val="50000"/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>
                    <a:hueOff val="0"/>
                    <a:satOff val="0"/>
                    <a:lumOff val="0"/>
                    <a:alphaOff val="0"/>
                  </a:schemeClr>
                </a:fontRef>
              </p:style>
              <p:txBody>
                <a:bodyPr/>
                <a:lstStyle/>
                <a:p>
                  <a:endParaRPr lang="de-DE"/>
                </a:p>
              </p:txBody>
            </p:sp>
            <p:sp>
              <p:nvSpPr>
                <p:cNvPr id="18" name="Freihandform: Form 17">
                  <a:extLst>
                    <a:ext uri="{FF2B5EF4-FFF2-40B4-BE49-F238E27FC236}">
                      <a16:creationId xmlns:a16="http://schemas.microsoft.com/office/drawing/2014/main" id="{E93B019B-3389-C9B7-DD59-648B929D3156}"/>
                    </a:ext>
                  </a:extLst>
                </p:cNvPr>
                <p:cNvSpPr/>
                <p:nvPr/>
              </p:nvSpPr>
              <p:spPr>
                <a:xfrm rot="21600000">
                  <a:off x="1596988" y="3169094"/>
                  <a:ext cx="3285299" cy="703052"/>
                </a:xfrm>
                <a:custGeom>
                  <a:avLst/>
                  <a:gdLst>
                    <a:gd name="connsiteX0" fmla="*/ 0 w 3285299"/>
                    <a:gd name="connsiteY0" fmla="*/ 0 h 703051"/>
                    <a:gd name="connsiteX1" fmla="*/ 2933774 w 3285299"/>
                    <a:gd name="connsiteY1" fmla="*/ 0 h 703051"/>
                    <a:gd name="connsiteX2" fmla="*/ 3285299 w 3285299"/>
                    <a:gd name="connsiteY2" fmla="*/ 351526 h 703051"/>
                    <a:gd name="connsiteX3" fmla="*/ 2933774 w 3285299"/>
                    <a:gd name="connsiteY3" fmla="*/ 703051 h 703051"/>
                    <a:gd name="connsiteX4" fmla="*/ 0 w 3285299"/>
                    <a:gd name="connsiteY4" fmla="*/ 703051 h 703051"/>
                    <a:gd name="connsiteX5" fmla="*/ 0 w 3285299"/>
                    <a:gd name="connsiteY5" fmla="*/ 0 h 7030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285299" h="703051">
                      <a:moveTo>
                        <a:pt x="3285299" y="703050"/>
                      </a:moveTo>
                      <a:lnTo>
                        <a:pt x="351525" y="703050"/>
                      </a:lnTo>
                      <a:lnTo>
                        <a:pt x="0" y="351525"/>
                      </a:lnTo>
                      <a:lnTo>
                        <a:pt x="351525" y="1"/>
                      </a:lnTo>
                      <a:lnTo>
                        <a:pt x="3285299" y="1"/>
                      </a:lnTo>
                      <a:lnTo>
                        <a:pt x="3285299" y="703050"/>
                      </a:lnTo>
                      <a:close/>
                    </a:path>
                  </a:pathLst>
                </a:custGeom>
                <a:solidFill>
                  <a:srgbClr val="E5F1F7"/>
                </a:solidFill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485789" tIns="121921" rIns="227584" bIns="121920" numCol="1" spcCol="1270" anchor="ctr" anchorCtr="0">
                  <a:noAutofit/>
                </a:bodyPr>
                <a:lstStyle/>
                <a:p>
                  <a:pPr marL="0" lvl="0" indent="0" algn="ctr" defTabSz="14224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endParaRPr lang="de-DE" sz="3200" kern="1200"/>
                </a:p>
              </p:txBody>
            </p:sp>
            <p:sp>
              <p:nvSpPr>
                <p:cNvPr id="19" name="Ellipse 18">
                  <a:extLst>
                    <a:ext uri="{FF2B5EF4-FFF2-40B4-BE49-F238E27FC236}">
                      <a16:creationId xmlns:a16="http://schemas.microsoft.com/office/drawing/2014/main" id="{30BB209A-2322-B879-DF5A-CFE990651224}"/>
                    </a:ext>
                  </a:extLst>
                </p:cNvPr>
                <p:cNvSpPr/>
                <p:nvPr/>
              </p:nvSpPr>
              <p:spPr>
                <a:xfrm>
                  <a:off x="1245462" y="3169095"/>
                  <a:ext cx="703051" cy="703051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tint val="50000"/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tint val="50000"/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>
                    <a:hueOff val="0"/>
                    <a:satOff val="0"/>
                    <a:lumOff val="0"/>
                    <a:alphaOff val="0"/>
                  </a:schemeClr>
                </a:fontRef>
              </p:style>
              <p:txBody>
                <a:bodyPr/>
                <a:lstStyle/>
                <a:p>
                  <a:endParaRPr lang="de-DE"/>
                </a:p>
              </p:txBody>
            </p:sp>
            <p:sp>
              <p:nvSpPr>
                <p:cNvPr id="20" name="Freihandform: Form 19">
                  <a:extLst>
                    <a:ext uri="{FF2B5EF4-FFF2-40B4-BE49-F238E27FC236}">
                      <a16:creationId xmlns:a16="http://schemas.microsoft.com/office/drawing/2014/main" id="{6EFE6EFA-7A4F-5B02-FD5B-D0129869CCD7}"/>
                    </a:ext>
                  </a:extLst>
                </p:cNvPr>
                <p:cNvSpPr/>
                <p:nvPr/>
              </p:nvSpPr>
              <p:spPr>
                <a:xfrm rot="21600000">
                  <a:off x="1596988" y="4082012"/>
                  <a:ext cx="3285299" cy="703052"/>
                </a:xfrm>
                <a:custGeom>
                  <a:avLst/>
                  <a:gdLst>
                    <a:gd name="connsiteX0" fmla="*/ 0 w 3285299"/>
                    <a:gd name="connsiteY0" fmla="*/ 0 h 703051"/>
                    <a:gd name="connsiteX1" fmla="*/ 2933774 w 3285299"/>
                    <a:gd name="connsiteY1" fmla="*/ 0 h 703051"/>
                    <a:gd name="connsiteX2" fmla="*/ 3285299 w 3285299"/>
                    <a:gd name="connsiteY2" fmla="*/ 351526 h 703051"/>
                    <a:gd name="connsiteX3" fmla="*/ 2933774 w 3285299"/>
                    <a:gd name="connsiteY3" fmla="*/ 703051 h 703051"/>
                    <a:gd name="connsiteX4" fmla="*/ 0 w 3285299"/>
                    <a:gd name="connsiteY4" fmla="*/ 703051 h 703051"/>
                    <a:gd name="connsiteX5" fmla="*/ 0 w 3285299"/>
                    <a:gd name="connsiteY5" fmla="*/ 0 h 7030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285299" h="703051">
                      <a:moveTo>
                        <a:pt x="3285299" y="703050"/>
                      </a:moveTo>
                      <a:lnTo>
                        <a:pt x="351525" y="703050"/>
                      </a:lnTo>
                      <a:lnTo>
                        <a:pt x="0" y="351525"/>
                      </a:lnTo>
                      <a:lnTo>
                        <a:pt x="351525" y="1"/>
                      </a:lnTo>
                      <a:lnTo>
                        <a:pt x="3285299" y="1"/>
                      </a:lnTo>
                      <a:lnTo>
                        <a:pt x="3285299" y="703050"/>
                      </a:lnTo>
                      <a:close/>
                    </a:path>
                  </a:pathLst>
                </a:custGeom>
                <a:solidFill>
                  <a:srgbClr val="E5F1F7"/>
                </a:solidFill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485789" tIns="121921" rIns="227584" bIns="121920" numCol="1" spcCol="1270" anchor="ctr" anchorCtr="0">
                  <a:noAutofit/>
                </a:bodyPr>
                <a:lstStyle/>
                <a:p>
                  <a:pPr marL="0" lvl="0" indent="0" algn="ctr" defTabSz="14224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endParaRPr lang="de-DE" sz="3200" kern="1200"/>
                </a:p>
              </p:txBody>
            </p:sp>
            <p:sp>
              <p:nvSpPr>
                <p:cNvPr id="21" name="Ellipse 20">
                  <a:extLst>
                    <a:ext uri="{FF2B5EF4-FFF2-40B4-BE49-F238E27FC236}">
                      <a16:creationId xmlns:a16="http://schemas.microsoft.com/office/drawing/2014/main" id="{E3E0249C-1089-1A7A-3FA4-E341C295A39D}"/>
                    </a:ext>
                  </a:extLst>
                </p:cNvPr>
                <p:cNvSpPr/>
                <p:nvPr/>
              </p:nvSpPr>
              <p:spPr>
                <a:xfrm>
                  <a:off x="1245462" y="4082013"/>
                  <a:ext cx="703051" cy="703051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tint val="50000"/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tint val="50000"/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>
                    <a:hueOff val="0"/>
                    <a:satOff val="0"/>
                    <a:lumOff val="0"/>
                    <a:alphaOff val="0"/>
                  </a:schemeClr>
                </a:fontRef>
              </p:style>
              <p:txBody>
                <a:bodyPr/>
                <a:lstStyle/>
                <a:p>
                  <a:endParaRPr lang="de-DE"/>
                </a:p>
              </p:txBody>
            </p:sp>
          </p:grpSp>
          <p:sp>
            <p:nvSpPr>
              <p:cNvPr id="22" name="Textfeld 21">
                <a:extLst>
                  <a:ext uri="{FF2B5EF4-FFF2-40B4-BE49-F238E27FC236}">
                    <a16:creationId xmlns:a16="http://schemas.microsoft.com/office/drawing/2014/main" id="{1BA59251-5FBC-0E53-FFC9-3660F8AD8956}"/>
                  </a:ext>
                </a:extLst>
              </p:cNvPr>
              <p:cNvSpPr txBox="1"/>
              <p:nvPr/>
            </p:nvSpPr>
            <p:spPr>
              <a:xfrm>
                <a:off x="2056784" y="2226641"/>
                <a:ext cx="2876523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>
                    <a:latin typeface="Roboto" panose="02000000000000000000" pitchFamily="2" charset="0"/>
                    <a:ea typeface="Roboto" panose="02000000000000000000" pitchFamily="2" charset="0"/>
                  </a:rPr>
                  <a:t>Expansion Pathways</a:t>
                </a:r>
              </a:p>
              <a:p>
                <a:r>
                  <a:rPr lang="en-US" sz="1100" dirty="0">
                    <a:latin typeface="Roboto" panose="02000000000000000000" pitchFamily="2" charset="0"/>
                    <a:ea typeface="Roboto" panose="02000000000000000000" pitchFamily="2" charset="0"/>
                  </a:rPr>
                  <a:t>Different expansion pathways for renewable energy</a:t>
                </a:r>
                <a:endParaRPr lang="de-DE" sz="1400" dirty="0"/>
              </a:p>
            </p:txBody>
          </p:sp>
          <p:sp>
            <p:nvSpPr>
              <p:cNvPr id="23" name="Textfeld 22">
                <a:extLst>
                  <a:ext uri="{FF2B5EF4-FFF2-40B4-BE49-F238E27FC236}">
                    <a16:creationId xmlns:a16="http://schemas.microsoft.com/office/drawing/2014/main" id="{AF32F8CE-51FD-3DED-63D5-A6DCDC3714D9}"/>
                  </a:ext>
                </a:extLst>
              </p:cNvPr>
              <p:cNvSpPr txBox="1"/>
              <p:nvPr/>
            </p:nvSpPr>
            <p:spPr>
              <a:xfrm>
                <a:off x="2056784" y="3153931"/>
                <a:ext cx="2876523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>
                    <a:latin typeface="Roboto" panose="02000000000000000000" pitchFamily="2" charset="0"/>
                    <a:ea typeface="Roboto" panose="02000000000000000000" pitchFamily="2" charset="0"/>
                  </a:rPr>
                  <a:t>Sector Coupling</a:t>
                </a:r>
              </a:p>
              <a:p>
                <a:r>
                  <a:rPr lang="en-US" sz="1100" dirty="0">
                    <a:latin typeface="Roboto" panose="02000000000000000000" pitchFamily="2" charset="0"/>
                    <a:ea typeface="Roboto" panose="02000000000000000000" pitchFamily="2" charset="0"/>
                  </a:rPr>
                  <a:t>Linking electricity, heat, mobility, and industry</a:t>
                </a:r>
                <a:endParaRPr lang="de-DE" sz="1400" dirty="0"/>
              </a:p>
            </p:txBody>
          </p:sp>
          <p:sp>
            <p:nvSpPr>
              <p:cNvPr id="24" name="Textfeld 23">
                <a:extLst>
                  <a:ext uri="{FF2B5EF4-FFF2-40B4-BE49-F238E27FC236}">
                    <a16:creationId xmlns:a16="http://schemas.microsoft.com/office/drawing/2014/main" id="{203569C0-148A-BB45-300B-D22173AA6DAE}"/>
                  </a:ext>
                </a:extLst>
              </p:cNvPr>
              <p:cNvSpPr txBox="1"/>
              <p:nvPr/>
            </p:nvSpPr>
            <p:spPr>
              <a:xfrm>
                <a:off x="2056784" y="4067809"/>
                <a:ext cx="2825503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>
                    <a:latin typeface="Roboto" panose="02000000000000000000" pitchFamily="2" charset="0"/>
                    <a:ea typeface="Roboto" panose="02000000000000000000" pitchFamily="2" charset="0"/>
                  </a:rPr>
                  <a:t>Demand &amp; Technology</a:t>
                </a:r>
              </a:p>
              <a:p>
                <a:r>
                  <a:rPr lang="en-US" sz="1100" dirty="0">
                    <a:latin typeface="Roboto" panose="02000000000000000000" pitchFamily="2" charset="0"/>
                    <a:ea typeface="Roboto" panose="02000000000000000000" pitchFamily="2" charset="0"/>
                  </a:rPr>
                  <a:t>Development of demand, technology, and system efficiency</a:t>
                </a:r>
                <a:endParaRPr lang="de-DE" sz="1400" dirty="0"/>
              </a:p>
            </p:txBody>
          </p:sp>
          <p:sp>
            <p:nvSpPr>
              <p:cNvPr id="25" name="Freihandform: Form 24">
                <a:extLst>
                  <a:ext uri="{FF2B5EF4-FFF2-40B4-BE49-F238E27FC236}">
                    <a16:creationId xmlns:a16="http://schemas.microsoft.com/office/drawing/2014/main" id="{4D8DE162-3744-A388-5197-805CF89FF3FA}"/>
                  </a:ext>
                </a:extLst>
              </p:cNvPr>
              <p:cNvSpPr/>
              <p:nvPr/>
            </p:nvSpPr>
            <p:spPr>
              <a:xfrm>
                <a:off x="1596988" y="4964036"/>
                <a:ext cx="3285299" cy="703052"/>
              </a:xfrm>
              <a:custGeom>
                <a:avLst/>
                <a:gdLst>
                  <a:gd name="connsiteX0" fmla="*/ 0 w 3285299"/>
                  <a:gd name="connsiteY0" fmla="*/ 0 h 703051"/>
                  <a:gd name="connsiteX1" fmla="*/ 2933774 w 3285299"/>
                  <a:gd name="connsiteY1" fmla="*/ 0 h 703051"/>
                  <a:gd name="connsiteX2" fmla="*/ 3285299 w 3285299"/>
                  <a:gd name="connsiteY2" fmla="*/ 351526 h 703051"/>
                  <a:gd name="connsiteX3" fmla="*/ 2933774 w 3285299"/>
                  <a:gd name="connsiteY3" fmla="*/ 703051 h 703051"/>
                  <a:gd name="connsiteX4" fmla="*/ 0 w 3285299"/>
                  <a:gd name="connsiteY4" fmla="*/ 703051 h 703051"/>
                  <a:gd name="connsiteX5" fmla="*/ 0 w 3285299"/>
                  <a:gd name="connsiteY5" fmla="*/ 0 h 7030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285299" h="703051">
                    <a:moveTo>
                      <a:pt x="3285299" y="703050"/>
                    </a:moveTo>
                    <a:lnTo>
                      <a:pt x="351525" y="703050"/>
                    </a:lnTo>
                    <a:lnTo>
                      <a:pt x="0" y="351525"/>
                    </a:lnTo>
                    <a:lnTo>
                      <a:pt x="351525" y="1"/>
                    </a:lnTo>
                    <a:lnTo>
                      <a:pt x="3285299" y="1"/>
                    </a:lnTo>
                    <a:lnTo>
                      <a:pt x="3285299" y="703050"/>
                    </a:lnTo>
                    <a:close/>
                  </a:path>
                </a:pathLst>
              </a:custGeom>
              <a:solidFill>
                <a:srgbClr val="E5F1F7"/>
              </a:solidFill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485789" tIns="121921" rIns="227584" bIns="121920" numCol="1" spcCol="1270" anchor="ctr" anchorCtr="0">
                <a:noAutofit/>
              </a:bodyPr>
              <a:lstStyle/>
              <a:p>
                <a:pPr marL="0" lvl="0" indent="0" algn="ctr" defTabSz="14224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endParaRPr lang="de-DE" sz="3200" kern="1200"/>
              </a:p>
            </p:txBody>
          </p:sp>
          <p:sp>
            <p:nvSpPr>
              <p:cNvPr id="26" name="Ellipse 25">
                <a:extLst>
                  <a:ext uri="{FF2B5EF4-FFF2-40B4-BE49-F238E27FC236}">
                    <a16:creationId xmlns:a16="http://schemas.microsoft.com/office/drawing/2014/main" id="{AA3C5A51-9898-8D4F-CE4E-2576F12106D8}"/>
                  </a:ext>
                </a:extLst>
              </p:cNvPr>
              <p:cNvSpPr/>
              <p:nvPr/>
            </p:nvSpPr>
            <p:spPr>
              <a:xfrm>
                <a:off x="1245462" y="4964037"/>
                <a:ext cx="703051" cy="703051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tint val="5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/>
              <a:lstStyle/>
              <a:p>
                <a:endParaRPr lang="de-DE"/>
              </a:p>
            </p:txBody>
          </p:sp>
          <p:sp>
            <p:nvSpPr>
              <p:cNvPr id="27" name="Textfeld 26">
                <a:extLst>
                  <a:ext uri="{FF2B5EF4-FFF2-40B4-BE49-F238E27FC236}">
                    <a16:creationId xmlns:a16="http://schemas.microsoft.com/office/drawing/2014/main" id="{D675E826-8CFB-18A9-8BEE-9069C4E4F513}"/>
                  </a:ext>
                </a:extLst>
              </p:cNvPr>
              <p:cNvSpPr txBox="1"/>
              <p:nvPr/>
            </p:nvSpPr>
            <p:spPr>
              <a:xfrm>
                <a:off x="2005764" y="4948985"/>
                <a:ext cx="2876523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>
                    <a:latin typeface="Roboto" panose="02000000000000000000" pitchFamily="2" charset="0"/>
                    <a:ea typeface="Roboto" panose="02000000000000000000" pitchFamily="2" charset="0"/>
                  </a:rPr>
                  <a:t>Transformation Scenarios</a:t>
                </a:r>
              </a:p>
              <a:p>
                <a:r>
                  <a:rPr lang="en-US" sz="1100" dirty="0">
                    <a:latin typeface="Roboto" panose="02000000000000000000" pitchFamily="2" charset="0"/>
                    <a:ea typeface="Roboto" panose="02000000000000000000" pitchFamily="2" charset="0"/>
                  </a:rPr>
                  <a:t>Regional pathways for a resilient energy transition</a:t>
                </a:r>
                <a:endParaRPr lang="de-DE" sz="1400" dirty="0"/>
              </a:p>
            </p:txBody>
          </p:sp>
        </p:grpSp>
        <p:pic>
          <p:nvPicPr>
            <p:cNvPr id="31" name="Grafik 30">
              <a:extLst>
                <a:ext uri="{FF2B5EF4-FFF2-40B4-BE49-F238E27FC236}">
                  <a16:creationId xmlns:a16="http://schemas.microsoft.com/office/drawing/2014/main" id="{CB172EFF-DEA1-0DBC-282B-CC29BFFCE74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129054" y="4802352"/>
              <a:ext cx="540000" cy="540000"/>
            </a:xfrm>
            <a:prstGeom prst="rect">
              <a:avLst/>
            </a:prstGeom>
          </p:spPr>
        </p:pic>
        <p:pic>
          <p:nvPicPr>
            <p:cNvPr id="33" name="Grafik 32">
              <a:extLst>
                <a:ext uri="{FF2B5EF4-FFF2-40B4-BE49-F238E27FC236}">
                  <a16:creationId xmlns:a16="http://schemas.microsoft.com/office/drawing/2014/main" id="{8FA9700F-D634-761A-6015-10B67C5F4AD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088953" y="3020044"/>
              <a:ext cx="540000" cy="540000"/>
            </a:xfrm>
            <a:prstGeom prst="rect">
              <a:avLst/>
            </a:prstGeom>
          </p:spPr>
        </p:pic>
        <p:pic>
          <p:nvPicPr>
            <p:cNvPr id="35" name="Grafik 34">
              <a:extLst>
                <a:ext uri="{FF2B5EF4-FFF2-40B4-BE49-F238E27FC236}">
                  <a16:creationId xmlns:a16="http://schemas.microsoft.com/office/drawing/2014/main" id="{674F287D-86A6-A0E8-54D6-9EB86A5A578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088953" y="3932962"/>
              <a:ext cx="540000" cy="540000"/>
            </a:xfrm>
            <a:prstGeom prst="rect">
              <a:avLst/>
            </a:prstGeom>
          </p:spPr>
        </p:pic>
        <p:pic>
          <p:nvPicPr>
            <p:cNvPr id="37" name="Grafik 36">
              <a:extLst>
                <a:ext uri="{FF2B5EF4-FFF2-40B4-BE49-F238E27FC236}">
                  <a16:creationId xmlns:a16="http://schemas.microsoft.com/office/drawing/2014/main" id="{383E3A65-1CC5-77B1-5502-FCBA89EC2A2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057054" y="2071125"/>
              <a:ext cx="612000" cy="612000"/>
            </a:xfrm>
            <a:prstGeom prst="rect">
              <a:avLst/>
            </a:prstGeom>
          </p:spPr>
        </p:pic>
      </p:grpSp>
      <p:sp>
        <p:nvSpPr>
          <p:cNvPr id="38" name="Textfeld 37">
            <a:extLst>
              <a:ext uri="{FF2B5EF4-FFF2-40B4-BE49-F238E27FC236}">
                <a16:creationId xmlns:a16="http://schemas.microsoft.com/office/drawing/2014/main" id="{D9002E6A-700B-CB94-D275-D904B5BEBDBA}"/>
              </a:ext>
            </a:extLst>
          </p:cNvPr>
          <p:cNvSpPr txBox="1"/>
          <p:nvPr/>
        </p:nvSpPr>
        <p:spPr>
          <a:xfrm>
            <a:off x="6797154" y="2902599"/>
            <a:ext cx="18154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b="1" dirty="0">
                <a:latin typeface="Roboto" panose="02000000000000000000" pitchFamily="2" charset="0"/>
                <a:ea typeface="Roboto" panose="02000000000000000000" pitchFamily="2" charset="0"/>
              </a:rPr>
              <a:t>Storage </a:t>
            </a:r>
            <a:r>
              <a:rPr lang="de-DE" b="1" dirty="0" err="1">
                <a:latin typeface="Roboto" panose="02000000000000000000" pitchFamily="2" charset="0"/>
                <a:ea typeface="Roboto" panose="02000000000000000000" pitchFamily="2" charset="0"/>
              </a:rPr>
              <a:t>Opportunities</a:t>
            </a:r>
            <a:endParaRPr lang="de-DE" b="1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54" name="Freihandform: Form 53">
            <a:extLst>
              <a:ext uri="{FF2B5EF4-FFF2-40B4-BE49-F238E27FC236}">
                <a16:creationId xmlns:a16="http://schemas.microsoft.com/office/drawing/2014/main" id="{1C618362-EABB-13E9-2BE5-002F70D9F58D}"/>
              </a:ext>
            </a:extLst>
          </p:cNvPr>
          <p:cNvSpPr/>
          <p:nvPr/>
        </p:nvSpPr>
        <p:spPr>
          <a:xfrm>
            <a:off x="10410227" y="1894269"/>
            <a:ext cx="1537917" cy="954046"/>
          </a:xfrm>
          <a:custGeom>
            <a:avLst/>
            <a:gdLst>
              <a:gd name="connsiteX0" fmla="*/ 0 w 2343150"/>
              <a:gd name="connsiteY0" fmla="*/ 0 h 1562100"/>
              <a:gd name="connsiteX1" fmla="*/ 2343150 w 2343150"/>
              <a:gd name="connsiteY1" fmla="*/ 0 h 1562100"/>
              <a:gd name="connsiteX2" fmla="*/ 2343150 w 2343150"/>
              <a:gd name="connsiteY2" fmla="*/ 1562100 h 1562100"/>
              <a:gd name="connsiteX3" fmla="*/ 0 w 2343150"/>
              <a:gd name="connsiteY3" fmla="*/ 1562100 h 1562100"/>
              <a:gd name="connsiteX4" fmla="*/ 0 w 2343150"/>
              <a:gd name="connsiteY4" fmla="*/ 0 h 1562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43150" h="1562100">
                <a:moveTo>
                  <a:pt x="0" y="0"/>
                </a:moveTo>
                <a:lnTo>
                  <a:pt x="2343150" y="0"/>
                </a:lnTo>
                <a:lnTo>
                  <a:pt x="2343150" y="1562100"/>
                </a:lnTo>
                <a:lnTo>
                  <a:pt x="0" y="156210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ctr" anchorCtr="0">
            <a:noAutofit/>
          </a:bodyPr>
          <a:lstStyle/>
          <a:p>
            <a:pPr marL="285750" lvl="1" indent="-285750" algn="l" defTabSz="22669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endParaRPr lang="de-DE" sz="5100" kern="1200"/>
          </a:p>
          <a:p>
            <a:pPr marL="285750" lvl="1" indent="-285750" algn="l" defTabSz="22669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endParaRPr lang="de-DE" sz="5100" kern="1200"/>
          </a:p>
        </p:txBody>
      </p:sp>
      <p:sp>
        <p:nvSpPr>
          <p:cNvPr id="56" name="Freihandform: Form 55">
            <a:extLst>
              <a:ext uri="{FF2B5EF4-FFF2-40B4-BE49-F238E27FC236}">
                <a16:creationId xmlns:a16="http://schemas.microsoft.com/office/drawing/2014/main" id="{481C5A76-FA75-F8DA-2371-806A0CE0C434}"/>
              </a:ext>
            </a:extLst>
          </p:cNvPr>
          <p:cNvSpPr/>
          <p:nvPr/>
        </p:nvSpPr>
        <p:spPr>
          <a:xfrm>
            <a:off x="10749334" y="3071907"/>
            <a:ext cx="1537917" cy="954046"/>
          </a:xfrm>
          <a:custGeom>
            <a:avLst/>
            <a:gdLst>
              <a:gd name="connsiteX0" fmla="*/ 0 w 2343150"/>
              <a:gd name="connsiteY0" fmla="*/ 0 h 1562100"/>
              <a:gd name="connsiteX1" fmla="*/ 2343150 w 2343150"/>
              <a:gd name="connsiteY1" fmla="*/ 0 h 1562100"/>
              <a:gd name="connsiteX2" fmla="*/ 2343150 w 2343150"/>
              <a:gd name="connsiteY2" fmla="*/ 1562100 h 1562100"/>
              <a:gd name="connsiteX3" fmla="*/ 0 w 2343150"/>
              <a:gd name="connsiteY3" fmla="*/ 1562100 h 1562100"/>
              <a:gd name="connsiteX4" fmla="*/ 0 w 2343150"/>
              <a:gd name="connsiteY4" fmla="*/ 0 h 1562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43150" h="1562100">
                <a:moveTo>
                  <a:pt x="0" y="0"/>
                </a:moveTo>
                <a:lnTo>
                  <a:pt x="2343150" y="0"/>
                </a:lnTo>
                <a:lnTo>
                  <a:pt x="2343150" y="1562100"/>
                </a:lnTo>
                <a:lnTo>
                  <a:pt x="0" y="156210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ctr" anchorCtr="0">
            <a:noAutofit/>
          </a:bodyPr>
          <a:lstStyle/>
          <a:p>
            <a:pPr marL="285750" lvl="1" indent="-285750" algn="l" defTabSz="22669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endParaRPr lang="de-DE" sz="5100" kern="1200"/>
          </a:p>
          <a:p>
            <a:pPr marL="285750" lvl="1" indent="-285750" algn="l" defTabSz="22669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endParaRPr lang="de-DE" sz="5100" kern="1200"/>
          </a:p>
        </p:txBody>
      </p:sp>
      <p:sp>
        <p:nvSpPr>
          <p:cNvPr id="58" name="Freihandform: Form 57">
            <a:extLst>
              <a:ext uri="{FF2B5EF4-FFF2-40B4-BE49-F238E27FC236}">
                <a16:creationId xmlns:a16="http://schemas.microsoft.com/office/drawing/2014/main" id="{9DB1523B-4F26-E2E7-8D0A-F85F6F188EFE}"/>
              </a:ext>
            </a:extLst>
          </p:cNvPr>
          <p:cNvSpPr/>
          <p:nvPr/>
        </p:nvSpPr>
        <p:spPr>
          <a:xfrm>
            <a:off x="10410227" y="4249546"/>
            <a:ext cx="1537917" cy="954046"/>
          </a:xfrm>
          <a:custGeom>
            <a:avLst/>
            <a:gdLst>
              <a:gd name="connsiteX0" fmla="*/ 0 w 2343150"/>
              <a:gd name="connsiteY0" fmla="*/ 0 h 1562100"/>
              <a:gd name="connsiteX1" fmla="*/ 2343150 w 2343150"/>
              <a:gd name="connsiteY1" fmla="*/ 0 h 1562100"/>
              <a:gd name="connsiteX2" fmla="*/ 2343150 w 2343150"/>
              <a:gd name="connsiteY2" fmla="*/ 1562100 h 1562100"/>
              <a:gd name="connsiteX3" fmla="*/ 0 w 2343150"/>
              <a:gd name="connsiteY3" fmla="*/ 1562100 h 1562100"/>
              <a:gd name="connsiteX4" fmla="*/ 0 w 2343150"/>
              <a:gd name="connsiteY4" fmla="*/ 0 h 1562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43150" h="1562100">
                <a:moveTo>
                  <a:pt x="0" y="0"/>
                </a:moveTo>
                <a:lnTo>
                  <a:pt x="2343150" y="0"/>
                </a:lnTo>
                <a:lnTo>
                  <a:pt x="2343150" y="1562100"/>
                </a:lnTo>
                <a:lnTo>
                  <a:pt x="0" y="156210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ctr" anchorCtr="0">
            <a:noAutofit/>
          </a:bodyPr>
          <a:lstStyle/>
          <a:p>
            <a:pPr marL="285750" lvl="1" indent="-285750" algn="l" defTabSz="22669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endParaRPr lang="de-DE" sz="5100" kern="1200"/>
          </a:p>
          <a:p>
            <a:pPr marL="285750" lvl="1" indent="-285750" algn="l" defTabSz="22669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endParaRPr lang="de-DE" sz="5100" kern="1200"/>
          </a:p>
        </p:txBody>
      </p:sp>
      <p:sp>
        <p:nvSpPr>
          <p:cNvPr id="65" name="Textfeld 64">
            <a:extLst>
              <a:ext uri="{FF2B5EF4-FFF2-40B4-BE49-F238E27FC236}">
                <a16:creationId xmlns:a16="http://schemas.microsoft.com/office/drawing/2014/main" id="{428FBE18-9458-8B4C-70D5-C2EE7C933D09}"/>
              </a:ext>
            </a:extLst>
          </p:cNvPr>
          <p:cNvSpPr txBox="1"/>
          <p:nvPr/>
        </p:nvSpPr>
        <p:spPr>
          <a:xfrm>
            <a:off x="8024779" y="1449455"/>
            <a:ext cx="3018191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Roboto" panose="02000000000000000000" pitchFamily="2" charset="0"/>
                <a:ea typeface="Roboto" panose="02000000000000000000" pitchFamily="2" charset="0"/>
              </a:rPr>
              <a:t>Battery Storage</a:t>
            </a:r>
          </a:p>
          <a:p>
            <a:r>
              <a:rPr lang="en-US" sz="1200" dirty="0">
                <a:latin typeface="Roboto" panose="02000000000000000000" pitchFamily="2" charset="0"/>
                <a:ea typeface="Roboto" panose="02000000000000000000" pitchFamily="2" charset="0"/>
              </a:rPr>
              <a:t>For grid flexibility and rapid load shifting</a:t>
            </a:r>
            <a:endParaRPr lang="de-DE" sz="12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66" name="Textfeld 65">
            <a:extLst>
              <a:ext uri="{FF2B5EF4-FFF2-40B4-BE49-F238E27FC236}">
                <a16:creationId xmlns:a16="http://schemas.microsoft.com/office/drawing/2014/main" id="{8A82D2FD-0ABB-C6E9-54CB-4E637E42D728}"/>
              </a:ext>
            </a:extLst>
          </p:cNvPr>
          <p:cNvSpPr txBox="1"/>
          <p:nvPr/>
        </p:nvSpPr>
        <p:spPr>
          <a:xfrm>
            <a:off x="9327990" y="2186130"/>
            <a:ext cx="2486025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Roboto" panose="02000000000000000000" pitchFamily="2" charset="0"/>
                <a:ea typeface="Roboto" panose="02000000000000000000" pitchFamily="2" charset="0"/>
              </a:rPr>
              <a:t>Thermal Storage</a:t>
            </a:r>
          </a:p>
          <a:p>
            <a:r>
              <a:rPr lang="en-US" sz="1200" dirty="0">
                <a:latin typeface="Roboto" panose="02000000000000000000" pitchFamily="2" charset="0"/>
                <a:ea typeface="Roboto" panose="02000000000000000000" pitchFamily="2" charset="0"/>
              </a:rPr>
              <a:t>For capturing and time-shifting heat</a:t>
            </a:r>
            <a:endParaRPr lang="de-DE" sz="12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67" name="Textfeld 66">
            <a:extLst>
              <a:ext uri="{FF2B5EF4-FFF2-40B4-BE49-F238E27FC236}">
                <a16:creationId xmlns:a16="http://schemas.microsoft.com/office/drawing/2014/main" id="{B16F7CAA-BC38-DDB7-0AD2-5B1BFECDACDA}"/>
              </a:ext>
            </a:extLst>
          </p:cNvPr>
          <p:cNvSpPr txBox="1"/>
          <p:nvPr/>
        </p:nvSpPr>
        <p:spPr>
          <a:xfrm>
            <a:off x="9385140" y="3405827"/>
            <a:ext cx="2486025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Roboto" panose="02000000000000000000" pitchFamily="2" charset="0"/>
                <a:ea typeface="Roboto" panose="02000000000000000000" pitchFamily="2" charset="0"/>
              </a:rPr>
              <a:t>Hydrogen</a:t>
            </a:r>
          </a:p>
          <a:p>
            <a:r>
              <a:rPr lang="en-US" sz="1200" dirty="0">
                <a:latin typeface="Roboto" panose="02000000000000000000" pitchFamily="2" charset="0"/>
                <a:ea typeface="Roboto" panose="02000000000000000000" pitchFamily="2" charset="0"/>
              </a:rPr>
              <a:t>As long-term storage for seasonal energy supply</a:t>
            </a:r>
            <a:endParaRPr lang="de-DE" sz="12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68" name="Textfeld 67">
            <a:extLst>
              <a:ext uri="{FF2B5EF4-FFF2-40B4-BE49-F238E27FC236}">
                <a16:creationId xmlns:a16="http://schemas.microsoft.com/office/drawing/2014/main" id="{CDCDDAA2-953D-89B8-C7A6-810C133D659E}"/>
              </a:ext>
            </a:extLst>
          </p:cNvPr>
          <p:cNvSpPr txBox="1"/>
          <p:nvPr/>
        </p:nvSpPr>
        <p:spPr>
          <a:xfrm>
            <a:off x="8011090" y="4396924"/>
            <a:ext cx="323283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Roboto" panose="02000000000000000000" pitchFamily="2" charset="0"/>
                <a:ea typeface="Roboto" panose="02000000000000000000" pitchFamily="2" charset="0"/>
              </a:rPr>
              <a:t>Industrial Flexibility</a:t>
            </a:r>
          </a:p>
          <a:p>
            <a:r>
              <a:rPr lang="en-US" sz="1200" dirty="0">
                <a:latin typeface="Roboto" panose="02000000000000000000" pitchFamily="2" charset="0"/>
                <a:ea typeface="Roboto" panose="02000000000000000000" pitchFamily="2" charset="0"/>
              </a:rPr>
              <a:t>Potential through controllable process and load management</a:t>
            </a:r>
            <a:endParaRPr lang="de-DE" sz="12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70" name="Grafik 69">
            <a:extLst>
              <a:ext uri="{FF2B5EF4-FFF2-40B4-BE49-F238E27FC236}">
                <a16:creationId xmlns:a16="http://schemas.microsoft.com/office/drawing/2014/main" id="{409D3822-4C65-FD54-6772-09D76F65631B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1468" y="1544668"/>
            <a:ext cx="540000" cy="540000"/>
          </a:xfrm>
          <a:prstGeom prst="rect">
            <a:avLst/>
          </a:prstGeom>
        </p:spPr>
      </p:pic>
      <p:pic>
        <p:nvPicPr>
          <p:cNvPr id="72" name="Grafik 71">
            <a:extLst>
              <a:ext uri="{FF2B5EF4-FFF2-40B4-BE49-F238E27FC236}">
                <a16:creationId xmlns:a16="http://schemas.microsoft.com/office/drawing/2014/main" id="{DE1FB7BF-A27A-527A-7CDC-1BC52F450351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9010" y="2250965"/>
            <a:ext cx="540000" cy="540000"/>
          </a:xfrm>
          <a:prstGeom prst="rect">
            <a:avLst/>
          </a:prstGeom>
        </p:spPr>
      </p:pic>
      <p:pic>
        <p:nvPicPr>
          <p:cNvPr id="74" name="Grafik 73">
            <a:extLst>
              <a:ext uri="{FF2B5EF4-FFF2-40B4-BE49-F238E27FC236}">
                <a16:creationId xmlns:a16="http://schemas.microsoft.com/office/drawing/2014/main" id="{9F6ED4A4-DCFB-4A7F-8781-E0D320B4380D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2854" y="3485605"/>
            <a:ext cx="540000" cy="540000"/>
          </a:xfrm>
          <a:prstGeom prst="rect">
            <a:avLst/>
          </a:prstGeom>
        </p:spPr>
      </p:pic>
      <p:pic>
        <p:nvPicPr>
          <p:cNvPr id="76" name="Grafik 75">
            <a:extLst>
              <a:ext uri="{FF2B5EF4-FFF2-40B4-BE49-F238E27FC236}">
                <a16:creationId xmlns:a16="http://schemas.microsoft.com/office/drawing/2014/main" id="{FDBB0C5B-45AB-0507-D20B-54BA81DA0EF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420197" y="4451489"/>
            <a:ext cx="612000" cy="612000"/>
          </a:xfrm>
          <a:prstGeom prst="rect">
            <a:avLst/>
          </a:prstGeom>
        </p:spPr>
      </p:pic>
      <p:cxnSp>
        <p:nvCxnSpPr>
          <p:cNvPr id="80" name="Gerader Verbinder 79">
            <a:extLst>
              <a:ext uri="{FF2B5EF4-FFF2-40B4-BE49-F238E27FC236}">
                <a16:creationId xmlns:a16="http://schemas.microsoft.com/office/drawing/2014/main" id="{641A2340-F556-02BC-F763-41D3F6C7EFD8}"/>
              </a:ext>
            </a:extLst>
          </p:cNvPr>
          <p:cNvCxnSpPr/>
          <p:nvPr/>
        </p:nvCxnSpPr>
        <p:spPr>
          <a:xfrm flipV="1">
            <a:off x="8252590" y="2579739"/>
            <a:ext cx="523875" cy="3432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Gerader Verbinder 81">
            <a:extLst>
              <a:ext uri="{FF2B5EF4-FFF2-40B4-BE49-F238E27FC236}">
                <a16:creationId xmlns:a16="http://schemas.microsoft.com/office/drawing/2014/main" id="{6AA1B89D-8EAB-D535-B5A1-67CADE639772}"/>
              </a:ext>
            </a:extLst>
          </p:cNvPr>
          <p:cNvCxnSpPr/>
          <p:nvPr/>
        </p:nvCxnSpPr>
        <p:spPr>
          <a:xfrm flipV="1">
            <a:off x="7726197" y="2188119"/>
            <a:ext cx="0" cy="75039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Gerader Verbinder 82">
            <a:extLst>
              <a:ext uri="{FF2B5EF4-FFF2-40B4-BE49-F238E27FC236}">
                <a16:creationId xmlns:a16="http://schemas.microsoft.com/office/drawing/2014/main" id="{E2F1B6A8-8EAD-02CD-DD1A-A0DB62E9B408}"/>
              </a:ext>
            </a:extLst>
          </p:cNvPr>
          <p:cNvCxnSpPr/>
          <p:nvPr/>
        </p:nvCxnSpPr>
        <p:spPr>
          <a:xfrm flipV="1">
            <a:off x="7726197" y="3583730"/>
            <a:ext cx="0" cy="75039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Gerader Verbinder 84">
            <a:extLst>
              <a:ext uri="{FF2B5EF4-FFF2-40B4-BE49-F238E27FC236}">
                <a16:creationId xmlns:a16="http://schemas.microsoft.com/office/drawing/2014/main" id="{192681C5-12B5-F4EC-D343-5C225465856F}"/>
              </a:ext>
            </a:extLst>
          </p:cNvPr>
          <p:cNvCxnSpPr/>
          <p:nvPr/>
        </p:nvCxnSpPr>
        <p:spPr>
          <a:xfrm>
            <a:off x="8252590" y="3548930"/>
            <a:ext cx="523875" cy="2883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Textfeld 85">
            <a:extLst>
              <a:ext uri="{FF2B5EF4-FFF2-40B4-BE49-F238E27FC236}">
                <a16:creationId xmlns:a16="http://schemas.microsoft.com/office/drawing/2014/main" id="{2066B454-5D20-F502-2E3A-8B7FC9FAC9CC}"/>
              </a:ext>
            </a:extLst>
          </p:cNvPr>
          <p:cNvSpPr txBox="1"/>
          <p:nvPr/>
        </p:nvSpPr>
        <p:spPr>
          <a:xfrm>
            <a:off x="790508" y="5500635"/>
            <a:ext cx="933826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i="1" dirty="0">
                <a:solidFill>
                  <a:prstClr val="black">
                    <a:lumMod val="75000"/>
                    <a:lumOff val="25000"/>
                  </a:prstClr>
                </a:solidFill>
                <a:latin typeface="Roboto" pitchFamily="2" charset="0"/>
                <a:ea typeface="Roboto" pitchFamily="2" charset="0"/>
              </a:rPr>
              <a:t>The model helps identify future opportunities and resilient pathways for Thuringia.</a:t>
            </a:r>
            <a:endParaRPr lang="de-DE" sz="1400" i="1" dirty="0"/>
          </a:p>
        </p:txBody>
      </p:sp>
      <p:pic>
        <p:nvPicPr>
          <p:cNvPr id="88" name="Grafik 87">
            <a:extLst>
              <a:ext uri="{FF2B5EF4-FFF2-40B4-BE49-F238E27FC236}">
                <a16:creationId xmlns:a16="http://schemas.microsoft.com/office/drawing/2014/main" id="{CE56A3D8-288B-7EE1-ACC3-19BB9C40135F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0256" y="6047820"/>
            <a:ext cx="3325368" cy="783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54235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375</Words>
  <Application>Microsoft Office PowerPoint</Application>
  <PresentationFormat>Breitbild</PresentationFormat>
  <Paragraphs>60</Paragraphs>
  <Slides>3</Slides>
  <Notes>3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</vt:i4>
      </vt:variant>
    </vt:vector>
  </HeadingPairs>
  <TitlesOfParts>
    <vt:vector size="9" baseType="lpstr">
      <vt:lpstr>Arial</vt:lpstr>
      <vt:lpstr>Calibri</vt:lpstr>
      <vt:lpstr>Calibri Light</vt:lpstr>
      <vt:lpstr>Roboto</vt:lpstr>
      <vt:lpstr>Roboto Slab</vt:lpstr>
      <vt:lpstr>Office</vt:lpstr>
      <vt:lpstr>PowerPoint-Präsentation</vt:lpstr>
      <vt:lpstr>PowerPoint-Präsentation</vt:lpstr>
      <vt:lpstr>PowerPoint-Präsentation</vt:lpstr>
    </vt:vector>
  </TitlesOfParts>
  <Company>Hochschule Nordhausen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Stochastic time series forecasting approach using Markov Chain for Robust Energy System Planning</dc:title>
  <dc:creator>Bala Krishnan, Rohith Krishnan</dc:creator>
  <cp:lastModifiedBy>Bala Krishnan, Rohith Krishnan</cp:lastModifiedBy>
  <cp:revision>60</cp:revision>
  <dcterms:created xsi:type="dcterms:W3CDTF">2025-10-23T13:52:50Z</dcterms:created>
  <dcterms:modified xsi:type="dcterms:W3CDTF">2026-05-27T11:42:41Z</dcterms:modified>
</cp:coreProperties>
</file>