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sldIdLst>
    <p:sldId id="258" r:id="rId2"/>
    <p:sldId id="260" r:id="rId3"/>
    <p:sldId id="261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D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>
        <p:scale>
          <a:sx n="93" d="100"/>
          <a:sy n="93" d="100"/>
        </p:scale>
        <p:origin x="288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91E0E-CE88-4ABC-8628-128D1FDED876}" type="datetimeFigureOut">
              <a:rPr lang="de-DE" smtClean="0"/>
              <a:t>19.02.2026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95636-C73D-4D7F-B77D-C9B2E2587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711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59D5-D5F7-499E-A542-8D67DA1A6D1E}" type="datetime1">
              <a:rPr lang="de-DE" smtClean="0"/>
              <a:t>19.02.2026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2024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D458-61E8-4CC3-834E-D15DAAA1EF4C}" type="datetime1">
              <a:rPr lang="de-DE" smtClean="0"/>
              <a:t>19.02.2026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4512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78833-8532-4D64-97B8-9F905AFC158B}" type="datetime1">
              <a:rPr lang="de-DE" smtClean="0"/>
              <a:t>19.02.2026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0141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453D7-5992-47DA-9C75-D83E63A74F8D}" type="datetime1">
              <a:rPr lang="de-DE" smtClean="0"/>
              <a:t>19.02.2026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68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FAED-E19B-4E30-966C-CB3FE52CA8BA}" type="datetime1">
              <a:rPr lang="de-DE" smtClean="0"/>
              <a:t>19.02.2026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21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849D-EED0-4BCE-BD79-20446DCB883D}" type="datetime1">
              <a:rPr lang="de-DE" smtClean="0"/>
              <a:t>19.02.2026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637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F93C5-7115-4627-BB51-806AD47616E2}" type="datetime1">
              <a:rPr lang="de-DE" smtClean="0"/>
              <a:t>19.02.2026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23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2200-C650-4E9C-B846-D35F5DC73F5E}" type="datetime1">
              <a:rPr lang="de-DE" smtClean="0"/>
              <a:t>19.02.2026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2597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A23AA-799F-491B-BA20-5458698C68D5}" type="datetime1">
              <a:rPr lang="de-DE" smtClean="0"/>
              <a:t>19.02.2026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1690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189F-678B-4E0E-92B0-BACBFB9C16C9}" type="datetime1">
              <a:rPr lang="de-DE" smtClean="0"/>
              <a:t>19.02.2026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3445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5999B-875B-4D59-8E1A-2C003F4FE930}" type="datetime1">
              <a:rPr lang="de-DE" smtClean="0"/>
              <a:t>19.02.2026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286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26D9D-720E-405C-BBD2-F2CBA4D8CA36}" type="datetime1">
              <a:rPr lang="de-DE" smtClean="0"/>
              <a:t>19.02.2026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2915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5" name="Grafik 225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29" y="1582210"/>
            <a:ext cx="3600000" cy="3600000"/>
          </a:xfrm>
          <a:prstGeom prst="rect">
            <a:avLst/>
          </a:prstGeom>
        </p:spPr>
      </p:pic>
      <p:grpSp>
        <p:nvGrpSpPr>
          <p:cNvPr id="6" name="Group 3"/>
          <p:cNvGrpSpPr/>
          <p:nvPr/>
        </p:nvGrpSpPr>
        <p:grpSpPr>
          <a:xfrm>
            <a:off x="-1940768" y="-522787"/>
            <a:ext cx="6601871" cy="7380787"/>
            <a:chOff x="0" y="-38100"/>
            <a:chExt cx="2774829" cy="3005036"/>
          </a:xfrm>
        </p:grpSpPr>
        <p:sp>
          <p:nvSpPr>
            <p:cNvPr id="8" name="TextBox 5"/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/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MGA??</a:t>
            </a:r>
            <a:endParaRPr lang="en-US" sz="16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43" name="TextBox 9"/>
          <p:cNvSpPr txBox="1"/>
          <p:nvPr/>
        </p:nvSpPr>
        <p:spPr>
          <a:xfrm>
            <a:off x="4850131" y="1889634"/>
            <a:ext cx="7206187" cy="34958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Konzept</a:t>
            </a:r>
            <a:endParaRPr lang="en-US" sz="20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Modelling to Generate Alternatives (MGA)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Verändert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ein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Optimierungsmodell so,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dass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es alternative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Systemlösungen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findet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:</a:t>
            </a: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Nähe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am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Kostenoptimum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liegen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Sich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strukturell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unterscheiden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(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z.B.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andere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Technologiemix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)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So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statt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Kostenoptimum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, die Frage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wäre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“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Welche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anderen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System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sind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fas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genauso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günstig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,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sehen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aber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anders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aus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?”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258" name="Textfeld 2257"/>
          <p:cNvSpPr txBox="1"/>
          <p:nvPr/>
        </p:nvSpPr>
        <p:spPr>
          <a:xfrm>
            <a:off x="5280025" y="4302919"/>
            <a:ext cx="1046714" cy="2033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2259" name="Foliennummernplatzhalter 22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779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0" y="1243394"/>
            <a:ext cx="3600000" cy="3600000"/>
          </a:xfrm>
          <a:prstGeom prst="rect">
            <a:avLst/>
          </a:prstGeom>
        </p:spPr>
      </p:pic>
      <p:grpSp>
        <p:nvGrpSpPr>
          <p:cNvPr id="6" name="Group 3"/>
          <p:cNvGrpSpPr/>
          <p:nvPr/>
        </p:nvGrpSpPr>
        <p:grpSpPr>
          <a:xfrm>
            <a:off x="-1945482" y="-522789"/>
            <a:ext cx="6601871" cy="7380787"/>
            <a:chOff x="0" y="-38100"/>
            <a:chExt cx="2774829" cy="3005036"/>
          </a:xfrm>
        </p:grpSpPr>
        <p:sp>
          <p:nvSpPr>
            <p:cNvPr id="8" name="TextBox 5"/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/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Aufbau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/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/>
          <p:cNvSpPr txBox="1"/>
          <p:nvPr/>
        </p:nvSpPr>
        <p:spPr>
          <a:xfrm>
            <a:off x="4792981" y="1889634"/>
            <a:ext cx="7206187" cy="3095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Kosten-slack-</a:t>
            </a:r>
            <a:r>
              <a:rPr lang="en-US" sz="20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Nebenbedingung</a:t>
            </a:r>
            <a:endParaRPr lang="en-US" sz="20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Nachdem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das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Kostenoptimum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(C</a:t>
            </a:r>
            <a:r>
              <a:rPr lang="en-US" sz="1600" baseline="-250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opt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)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berechnet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wurde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,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wird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die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Nebenbedingung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ergänzt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.</a:t>
            </a:r>
          </a:p>
          <a:p>
            <a:pPr marL="1200150" lvl="2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Kosten ≤ Copt ∙ (1+ Slack)   (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Kostenkorridor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model.cost_bound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= Constraint(</a:t>
            </a:r>
          </a:p>
          <a:p>
            <a:pPr lvl="3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	expr =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model.objective.expr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&lt;=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C_opt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* (1+ slack)                )</a:t>
            </a:r>
          </a:p>
          <a:p>
            <a:pPr lvl="3">
              <a:spcBef>
                <a:spcPts val="600"/>
              </a:spcBef>
              <a:spcAft>
                <a:spcPts val="600"/>
              </a:spcAft>
            </a:pP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3170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1A983-94AB-ABFB-5D56-5341B9556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678F3D2-FAC1-B35D-6F3A-5BD4C6A4A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60" y="1243394"/>
            <a:ext cx="3600000" cy="3600000"/>
          </a:xfrm>
          <a:prstGeom prst="rect">
            <a:avLst/>
          </a:prstGeom>
        </p:spPr>
      </p:pic>
      <p:grpSp>
        <p:nvGrpSpPr>
          <p:cNvPr id="6" name="Group 3">
            <a:extLst>
              <a:ext uri="{FF2B5EF4-FFF2-40B4-BE49-F238E27FC236}">
                <a16:creationId xmlns:a16="http://schemas.microsoft.com/office/drawing/2014/main" id="{ACB11314-44ED-9522-79C3-921DCEF95E69}"/>
              </a:ext>
            </a:extLst>
          </p:cNvPr>
          <p:cNvGrpSpPr/>
          <p:nvPr/>
        </p:nvGrpSpPr>
        <p:grpSpPr>
          <a:xfrm>
            <a:off x="-1945482" y="-522789"/>
            <a:ext cx="6601871" cy="7380787"/>
            <a:chOff x="0" y="-38100"/>
            <a:chExt cx="2774829" cy="3005036"/>
          </a:xfrm>
        </p:grpSpPr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B445B76B-633F-3DA6-3B4D-77DC1553DD48}"/>
                </a:ext>
              </a:extLst>
            </p:cNvPr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4107B1D6-BBB3-85D2-4371-1560FFA159A0}"/>
                </a:ext>
              </a:extLst>
            </p:cNvPr>
            <p:cNvSpPr/>
            <p:nvPr/>
          </p:nvSpPr>
          <p:spPr>
            <a:xfrm>
              <a:off x="811539" y="174749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8599F1CE-2E28-DFAE-2C92-B7431356145A}"/>
              </a:ext>
            </a:extLst>
          </p:cNvPr>
          <p:cNvSpPr txBox="1"/>
          <p:nvPr/>
        </p:nvSpPr>
        <p:spPr>
          <a:xfrm>
            <a:off x="4792981" y="1274786"/>
            <a:ext cx="7206187" cy="614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36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Aufbau</a:t>
            </a:r>
            <a:endParaRPr lang="en-US" sz="14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AD9D2D5-62E7-287E-5B5B-2631C397E8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475" y="-324457"/>
            <a:ext cx="2844800" cy="1706880"/>
          </a:xfrm>
          <a:prstGeom prst="rect">
            <a:avLst/>
          </a:prstGeom>
        </p:spPr>
      </p:pic>
      <p:sp>
        <p:nvSpPr>
          <p:cNvPr id="2258" name="Textfeld 2257">
            <a:extLst>
              <a:ext uri="{FF2B5EF4-FFF2-40B4-BE49-F238E27FC236}">
                <a16:creationId xmlns:a16="http://schemas.microsoft.com/office/drawing/2014/main" id="{539A1E9A-914A-0937-A130-5CCADFDDEFE4}"/>
              </a:ext>
            </a:extLst>
          </p:cNvPr>
          <p:cNvSpPr txBox="1"/>
          <p:nvPr/>
        </p:nvSpPr>
        <p:spPr>
          <a:xfrm>
            <a:off x="5682344" y="2502109"/>
            <a:ext cx="1688840" cy="259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DF6E8604-C610-030C-B910-B904AEF149A7}"/>
              </a:ext>
            </a:extLst>
          </p:cNvPr>
          <p:cNvSpPr txBox="1"/>
          <p:nvPr/>
        </p:nvSpPr>
        <p:spPr>
          <a:xfrm>
            <a:off x="4792981" y="1889634"/>
            <a:ext cx="7206187" cy="3803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77"/>
              </a:lnSpc>
            </a:pPr>
            <a:r>
              <a:rPr lang="en-US" sz="2000" b="1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Neues </a:t>
            </a:r>
            <a:r>
              <a:rPr lang="en-US" sz="2000" b="1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Optimierungsziel</a:t>
            </a:r>
            <a:endParaRPr lang="en-US" sz="2000" b="1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Zielfunktion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ersetzt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durch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eine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Struktur-Kennzahl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:</a:t>
            </a:r>
          </a:p>
          <a:p>
            <a:pPr marL="1200150" lvl="2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Max D(x)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Solver: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	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bleibt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innerhalb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des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Kostenkorridors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	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verschiebt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das System Max in der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gewählte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6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Richtung</a:t>
            </a: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Regel: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	D = Summe(Flow </a:t>
            </a:r>
            <a:r>
              <a:rPr lang="en-US" sz="1600" baseline="-25000" dirty="0" err="1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I,o,t</a:t>
            </a:r>
            <a:r>
              <a:rPr lang="en-US" sz="1600" baseline="-250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 </a:t>
            </a:r>
            <a:r>
              <a:rPr lang="en-US" sz="1600" dirty="0">
                <a:solidFill>
                  <a:srgbClr val="1C212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∙∆t)</a:t>
            </a:r>
            <a:endParaRPr lang="en-US" sz="1600" baseline="-250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lvl="3">
              <a:spcBef>
                <a:spcPts val="600"/>
              </a:spcBef>
              <a:spcAft>
                <a:spcPts val="600"/>
              </a:spcAft>
            </a:pPr>
            <a:endParaRPr lang="en-US" sz="1600" dirty="0">
              <a:solidFill>
                <a:srgbClr val="1C212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5048A9CD-54FF-92B6-BC6F-D7870B33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03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Breitbild</PresentationFormat>
  <Paragraphs>25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Company>Hochschule Nordhausen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Stochastic time series forecasting approach using Markov Chain for Robust Energy System Planning</dc:title>
  <dc:creator>Bala Krishnan, Rohith Krishnan</dc:creator>
  <cp:lastModifiedBy>Bala Krishnan, Rohith Krishnan</cp:lastModifiedBy>
  <cp:revision>56</cp:revision>
  <dcterms:created xsi:type="dcterms:W3CDTF">2025-10-23T13:52:50Z</dcterms:created>
  <dcterms:modified xsi:type="dcterms:W3CDTF">2026-02-23T14:27:40Z</dcterms:modified>
</cp:coreProperties>
</file>