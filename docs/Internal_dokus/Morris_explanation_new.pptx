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6"/>
  </p:notesMasterIdLst>
  <p:sldIdLst>
    <p:sldId id="269" r:id="rId2"/>
    <p:sldId id="258" r:id="rId3"/>
    <p:sldId id="262" r:id="rId4"/>
    <p:sldId id="263" r:id="rId5"/>
    <p:sldId id="264" r:id="rId6"/>
    <p:sldId id="260" r:id="rId7"/>
    <p:sldId id="261" r:id="rId8"/>
    <p:sldId id="296" r:id="rId9"/>
    <p:sldId id="265" r:id="rId10"/>
    <p:sldId id="270" r:id="rId11"/>
    <p:sldId id="278" r:id="rId12"/>
    <p:sldId id="271" r:id="rId13"/>
    <p:sldId id="272" r:id="rId14"/>
    <p:sldId id="280" r:id="rId15"/>
    <p:sldId id="274" r:id="rId16"/>
    <p:sldId id="275" r:id="rId17"/>
    <p:sldId id="279" r:id="rId18"/>
    <p:sldId id="276" r:id="rId19"/>
    <p:sldId id="277" r:id="rId20"/>
    <p:sldId id="281" r:id="rId21"/>
    <p:sldId id="282" r:id="rId22"/>
    <p:sldId id="283" r:id="rId23"/>
    <p:sldId id="284" r:id="rId24"/>
    <p:sldId id="285" r:id="rId25"/>
    <p:sldId id="286" r:id="rId26"/>
    <p:sldId id="288" r:id="rId27"/>
    <p:sldId id="287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5" r:id="rId43"/>
    <p:sldId id="306" r:id="rId44"/>
    <p:sldId id="304" r:id="rId4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7D4"/>
    <a:srgbClr val="004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91E0E-CE88-4ABC-8628-128D1FDED876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95636-C73D-4D7F-B77D-C9B2E2587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11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1E498-D99C-805E-34C7-ABA193133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C38B59-9E43-354D-C686-55F32B3A9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BDDEF6-7992-2723-BB00-DE3E9B6D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59D5-D5F7-499E-A542-8D67DA1A6D1E}" type="datetime1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3AE295-184B-FC44-5C30-8C5928B8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B1A322-5476-4752-4DB1-405A5801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61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7C9E2-0B58-A96A-518C-CF5D7939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A5F44C-18EC-8C7E-A96C-86883E22B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00DEF2-4D29-79AB-F308-1AB76080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D458-61E8-4CC3-834E-D15DAAA1EF4C}" type="datetime1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6778EB-300C-FF92-CEFD-AAA8BE7A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1EAF91-D0ED-DBD6-F946-F2468795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99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7D945-26F8-3AAF-720E-4D84C75D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3DA14D-46B1-085F-8AB6-354DE2E0B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FA3036-947D-224A-F015-33299B1B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78833-8532-4D64-97B8-9F905AFC158B}" type="datetime1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9AF961-2405-42F4-A925-BD486C92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DE1C64-BCF4-5051-C8F9-9AC1545F1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704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7486E-157C-F5F4-69EB-E598D9D0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F400FC-CDDC-1D85-F46D-CE858EC87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B9F797-73FC-7A47-536D-3B64D60EE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C267C1-9A68-9DAC-D85F-1C72A852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53D7-5992-47DA-9C75-D83E63A74F8D}" type="datetime1">
              <a:rPr lang="de-DE" smtClean="0"/>
              <a:t>12.05.2026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6D0574-0992-4220-47FF-6CCBF0FF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2DA633-EA5F-C9B1-B03B-3A084C39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82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81042-A548-D015-54C2-FAFED3EF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908926-CD8B-7D7D-68FC-F998D5A7D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024D042-576F-F9FA-C106-B2DD2E006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21A8D2A-6DD3-B127-3663-8EC4D0D5D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ED4589-361A-DA76-B8DD-4FB37DAE6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1A70AED-A1DC-523E-65B2-99FF65A8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FAED-E19B-4E30-966C-CB3FE52CA8BA}" type="datetime1">
              <a:rPr lang="de-DE" smtClean="0"/>
              <a:t>12.05.2026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CFCB00-F785-BAB4-E183-659A8AF5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DB1AA6-596B-6A9D-8DC8-C93F7C9F3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30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3FBB91-6D5B-1865-7C08-1D794874F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F0F90E-0AAD-BEEE-D9DB-A05BA99D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49D-EED0-4BCE-BD79-20446DCB883D}" type="datetime1">
              <a:rPr lang="de-DE" smtClean="0"/>
              <a:t>12.05.2026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7EE3BC-C291-A0DC-C5AF-FAA08C7B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9C27CD-C8E3-6AFF-626A-A40A0394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811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6AC7D3-975D-FFA7-6819-0C308C55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F93C5-7115-4627-BB51-806AD47616E2}" type="datetime1">
              <a:rPr lang="de-DE" smtClean="0"/>
              <a:t>12.05.2026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43F2F9-EE05-C913-1F78-B5AB71287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5D361A-AA8D-5137-BB85-8E9CA736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92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E341F-77D4-977D-369E-A27A5419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2DA33D-B3E7-C1F4-63DD-E5872E92A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8A97B3-4548-1FA5-5F55-DCD5DF117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03FC7C-5641-950A-8846-2B2FAA70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2200-C650-4E9C-B846-D35F5DC73F5E}" type="datetime1">
              <a:rPr lang="de-DE" smtClean="0"/>
              <a:t>12.05.2026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693D21-82B1-07B9-CDBB-804F609A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6CF24E-8B77-8907-7929-8E82247C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19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CE8C4D-B5F3-C9CC-DCF3-E0EBEB14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7D4015-CC0C-B927-ED13-FB9736531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A3003D-AF5A-C566-1865-C218BB509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99BBBC-98ED-99AF-C664-CCB3251F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A23AA-799F-491B-BA20-5458698C68D5}" type="datetime1">
              <a:rPr lang="de-DE" smtClean="0"/>
              <a:t>12.05.2026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20732F-707B-D507-F7D5-D9A3A46C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A562A5-8554-79F4-E336-27146A61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26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29AE28-1577-14F6-9B12-E7CC6582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179E6A-40D7-45D9-6DBD-6675AEE9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CD549D-5D1A-57D4-324A-FE31425F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189F-678B-4E0E-92B0-BACBFB9C16C9}" type="datetime1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53FB5F-7FC2-CFF5-95A4-918CB4A5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CA07C2-6E24-36FC-452F-DC4B137AA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39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BB70F1A-F924-4243-4CA6-A1345B8C7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87F74F-EA85-225F-BB69-E5F8C27A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82EF58-B940-1AC7-8CE4-676B0B0E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5999B-875B-4D59-8E1A-2C003F4FE930}" type="datetime1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1672A4-027C-83E5-B9C1-A8229B67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2A7FED-1C01-37B6-AFBF-722D532F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62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50F153-A840-B523-265A-B9161869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DBFE36-5CF7-7C7F-7FD3-E8933DF02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AB33A3-4B97-29DD-FA9A-A49DAD039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26D9D-720E-405C-BBD2-F2CBA4D8CA36}" type="datetime1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AA777C-0A3F-D06A-A2E2-46E38EDBF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56AF05-A566-CA8C-4162-DE102E81D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39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B51BEA19-F54F-9BEC-A0EE-ECAC701C7034}"/>
              </a:ext>
            </a:extLst>
          </p:cNvPr>
          <p:cNvSpPr/>
          <p:nvPr/>
        </p:nvSpPr>
        <p:spPr>
          <a:xfrm>
            <a:off x="0" y="0"/>
            <a:ext cx="3688597" cy="6858000"/>
          </a:xfrm>
          <a:prstGeom prst="rect">
            <a:avLst/>
          </a:prstGeom>
          <a:solidFill>
            <a:srgbClr val="AAD7D4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9E0574-0518-C055-9045-F9CF6E7E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19217" y="2651788"/>
            <a:ext cx="5071747" cy="1325563"/>
          </a:xfrm>
        </p:spPr>
        <p:txBody>
          <a:bodyPr>
            <a:normAutofit/>
          </a:bodyPr>
          <a:lstStyle/>
          <a:p>
            <a:pPr algn="ctr"/>
            <a:r>
              <a:rPr lang="de-DE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ZORRO II</a:t>
            </a:r>
            <a:b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Abschulss</a:t>
            </a:r>
            <a:r>
              <a:rPr lang="de-DE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Konferenz</a:t>
            </a:r>
            <a:endParaRPr lang="de-DE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E5E0BA-4D80-FC3D-3B04-90644696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D42FF2-9DEA-194C-2886-FE091C0FD45C}"/>
              </a:ext>
            </a:extLst>
          </p:cNvPr>
          <p:cNvSpPr txBox="1"/>
          <p:nvPr/>
        </p:nvSpPr>
        <p:spPr>
          <a:xfrm>
            <a:off x="3742721" y="2388510"/>
            <a:ext cx="83935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Arial" panose="020B0604020202020204" pitchFamily="34" charset="0"/>
                <a:cs typeface="Arial" panose="020B0604020202020204" pitchFamily="34" charset="0"/>
              </a:rPr>
              <a:t>Wie viel EE braucht Thüringen und woher wissen wir das?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3D422C9-72D4-3786-EC72-94F5A54427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173" y="5767368"/>
            <a:ext cx="2450642" cy="9541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D960928-15B8-FBB5-FFF9-CAABFF14E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080" y="-167196"/>
            <a:ext cx="2543120" cy="139235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4254129-1424-3DC6-9448-8C9E94CED0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04301C5-C2EF-DE24-9568-39F4A6013C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019" y="6074664"/>
            <a:ext cx="3325368" cy="78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0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/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/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Morris- Methode??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43" name="TextBox 9"/>
          <p:cNvSpPr txBox="1"/>
          <p:nvPr/>
        </p:nvSpPr>
        <p:spPr>
          <a:xfrm>
            <a:off x="4850131" y="1889634"/>
            <a:ext cx="7206187" cy="2203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Konzept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Globale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Sensitivitätsanalyse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(Screening- Methode)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Variation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enis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Parameters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nach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dem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anderen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(OAT)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Nutzung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mehrerer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zufäliger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Trajektorien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Parameterraum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258" name="Textfeld 2257"/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77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97EF-AC38-D409-984B-D733BC76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>
            <a:extLst>
              <a:ext uri="{FF2B5EF4-FFF2-40B4-BE49-F238E27FC236}">
                <a16:creationId xmlns:a16="http://schemas.microsoft.com/office/drawing/2014/main" id="{2B2FD3D6-477E-4C74-A8B4-518C145C7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2B54ADDD-85EA-928C-8E07-6633868536B9}"/>
              </a:ext>
            </a:extLst>
          </p:cNvPr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563400E4-7E26-CD0A-28CF-EAF33B373DD2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A2261D1C-A7ED-8245-6045-158E85714E40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3569595-7C24-92FB-93F5-74B2CD71D66E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Morris- Methode??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E3FE821-310A-0ED1-45A0-FDDB38F3D1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9">
                <a:extLst>
                  <a:ext uri="{FF2B5EF4-FFF2-40B4-BE49-F238E27FC236}">
                    <a16:creationId xmlns:a16="http://schemas.microsoft.com/office/drawing/2014/main" id="{160E97B6-4F41-F2A5-9C94-4E105D0F9DE2}"/>
                  </a:ext>
                </a:extLst>
              </p:cNvPr>
              <p:cNvSpPr txBox="1"/>
              <p:nvPr/>
            </p:nvSpPr>
            <p:spPr>
              <a:xfrm>
                <a:off x="4850131" y="1889634"/>
                <a:ext cx="7206187" cy="180305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5277"/>
                  </a:lnSpc>
                </a:pPr>
                <a:r>
                  <a:rPr lang="en-US" sz="2000" b="1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Kennzahlen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Poppins Bold"/>
                      </a:rPr>
                      <m:t>𝜇</m:t>
                    </m:r>
                    <m:r>
                      <a:rPr lang="de-DE" sz="1600" b="0" i="1" smtClean="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Poppins Bold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-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Richtung</a:t>
                </a:r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des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Einflusses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</m:ctrlPr>
                      </m:sSupPr>
                      <m:e>
                        <m:r>
                          <a:rPr lang="en-US" sz="1600" i="1" smtClean="0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𝜇</m:t>
                        </m:r>
                      </m:e>
                      <m:sup>
                        <m:r>
                          <a:rPr lang="de-DE" sz="1600" b="0" i="1" smtClean="0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-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Stärke</a:t>
                </a:r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/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Wichtigkeit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Poppins Bold"/>
                      </a:rPr>
                      <m:t>𝜎</m:t>
                    </m:r>
                  </m:oMath>
                </a14:m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–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Nichtlinearität</a:t>
                </a:r>
                <a:r>
                  <a:rPr lang="en-US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 &amp; </a:t>
                </a:r>
                <a:r>
                  <a:rPr lang="en-US" sz="1600" dirty="0" err="1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Interaktionen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</p:txBody>
          </p:sp>
        </mc:Choice>
        <mc:Fallback xmlns="">
          <p:sp>
            <p:nvSpPr>
              <p:cNvPr id="243" name="TextBox 9">
                <a:extLst>
                  <a:ext uri="{FF2B5EF4-FFF2-40B4-BE49-F238E27FC236}">
                    <a16:creationId xmlns:a16="http://schemas.microsoft.com/office/drawing/2014/main" id="{160E97B6-4F41-F2A5-9C94-4E105D0F9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131" y="1889634"/>
                <a:ext cx="7206187" cy="1803058"/>
              </a:xfrm>
              <a:prstGeom prst="rect">
                <a:avLst/>
              </a:prstGeom>
              <a:blipFill>
                <a:blip r:embed="rId4"/>
                <a:stretch>
                  <a:fillRect l="-2200" b="-57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8" name="Textfeld 2257">
            <a:extLst>
              <a:ext uri="{FF2B5EF4-FFF2-40B4-BE49-F238E27FC236}">
                <a16:creationId xmlns:a16="http://schemas.microsoft.com/office/drawing/2014/main" id="{9C13EC70-4FC4-77CB-201C-5C251ECD609F}"/>
              </a:ext>
            </a:extLst>
          </p:cNvPr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>
            <a:extLst>
              <a:ext uri="{FF2B5EF4-FFF2-40B4-BE49-F238E27FC236}">
                <a16:creationId xmlns:a16="http://schemas.microsoft.com/office/drawing/2014/main" id="{AD28DD4F-B1A0-64AE-3568-D24402A7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A3FC7D32-A0BC-2ABE-F7DB-E8D338214F5D}"/>
                  </a:ext>
                </a:extLst>
              </p:cNvPr>
              <p:cNvSpPr txBox="1"/>
              <p:nvPr/>
            </p:nvSpPr>
            <p:spPr>
              <a:xfrm>
                <a:off x="4850130" y="3604768"/>
                <a:ext cx="7206187" cy="22339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5277"/>
                  </a:lnSpc>
                </a:pPr>
                <a:r>
                  <a:rPr lang="en-US" sz="2000" b="1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Poppins Bold"/>
                  </a:rPr>
                  <a:t>Kennzahlen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Hoher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𝜇</m:t>
                        </m:r>
                      </m:e>
                      <m:sup>
                        <m:r>
                          <a:rPr lang="de-DE" sz="1600" i="1">
                            <a:solidFill>
                              <a:srgbClr val="1C212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Poppins Bold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l-GR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wichtiger Parameter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Hoher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Poppins Bold"/>
                        <a:cs typeface="Arial" panose="020B0604020202020204" pitchFamily="34" charset="0"/>
                        <a:sym typeface="Poppins Bold"/>
                      </a:rPr>
                      <m:t>𝜎</m:t>
                    </m:r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starke Wechselwirkungen / nichtlinear 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Poppins Bold"/>
                        <a:cs typeface="Arial" panose="020B0604020202020204" pitchFamily="34" charset="0"/>
                        <a:sym typeface="Poppins Bold"/>
                      </a:rPr>
                      <m:t>𝜇</m:t>
                    </m:r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&gt; 0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Parameter erhöht Ergebnis</a:t>
                </a: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1C2120"/>
                        </a:solidFill>
                        <a:latin typeface="Cambria Math" panose="02040503050406030204" pitchFamily="18" charset="0"/>
                        <a:ea typeface="Poppins Bold"/>
                        <a:cs typeface="Arial" panose="020B0604020202020204" pitchFamily="34" charset="0"/>
                        <a:sym typeface="Poppins Bold"/>
                      </a:rPr>
                      <m:t>𝜇</m:t>
                    </m:r>
                  </m:oMath>
                </a14:m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&lt; 0 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de-DE" sz="1600" dirty="0">
                    <a:solidFill>
                      <a:srgbClr val="1C2120"/>
                    </a:solidFill>
                    <a:latin typeface="Arial" panose="020B0604020202020204" pitchFamily="34" charset="0"/>
                    <a:ea typeface="Poppins Bold"/>
                    <a:cs typeface="Arial" panose="020B0604020202020204" pitchFamily="34" charset="0"/>
                  </a:rPr>
                  <a:t> Parameter reduziert Ergebnis</a:t>
                </a:r>
                <a:endParaRPr lang="en-US" sz="1600" dirty="0">
                  <a:solidFill>
                    <a:srgbClr val="1C2120"/>
                  </a:solidFill>
                  <a:latin typeface="Arial" panose="020B0604020202020204" pitchFamily="34" charset="0"/>
                  <a:ea typeface="Poppins Bold"/>
                  <a:cs typeface="Arial" panose="020B0604020202020204" pitchFamily="34" charset="0"/>
                  <a:sym typeface="Poppins Bold"/>
                </a:endParaRPr>
              </a:p>
            </p:txBody>
          </p:sp>
        </mc:Choice>
        <mc:Fallback xmlns="">
          <p:sp>
            <p:nvSpPr>
              <p:cNvPr id="2" name="TextBox 9">
                <a:extLst>
                  <a:ext uri="{FF2B5EF4-FFF2-40B4-BE49-F238E27FC236}">
                    <a16:creationId xmlns:a16="http://schemas.microsoft.com/office/drawing/2014/main" id="{A3FC7D32-A0BC-2ABE-F7DB-E8D338214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130" y="3604768"/>
                <a:ext cx="7206187" cy="2233945"/>
              </a:xfrm>
              <a:prstGeom prst="rect">
                <a:avLst/>
              </a:prstGeom>
              <a:blipFill>
                <a:blip r:embed="rId5"/>
                <a:stretch>
                  <a:fillRect l="-2200" b="-32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33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27304-5C0E-F9BD-E9D3-CE61F371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>
            <a:extLst>
              <a:ext uri="{FF2B5EF4-FFF2-40B4-BE49-F238E27FC236}">
                <a16:creationId xmlns:a16="http://schemas.microsoft.com/office/drawing/2014/main" id="{8BEB6E44-80F9-B29E-EBD2-2933D4C80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4CA0F171-09D8-DFD2-9DBD-9D851173FB14}"/>
              </a:ext>
            </a:extLst>
          </p:cNvPr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2C0D5DFB-AA4C-48A1-5897-82AC9E4BA123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020842D6-6BB7-E77E-3269-A99FF1B7ED3D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C4EB886-67A8-1909-ED37-7E9914725D85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Morris- Methode??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38799F1-C6F3-6CDD-05B0-5AE6CF02E3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43" name="TextBox 9">
            <a:extLst>
              <a:ext uri="{FF2B5EF4-FFF2-40B4-BE49-F238E27FC236}">
                <a16:creationId xmlns:a16="http://schemas.microsoft.com/office/drawing/2014/main" id="{EF1A811F-B660-9110-A50E-007E5E0F255E}"/>
              </a:ext>
            </a:extLst>
          </p:cNvPr>
          <p:cNvSpPr txBox="1"/>
          <p:nvPr/>
        </p:nvSpPr>
        <p:spPr>
          <a:xfrm>
            <a:off x="4850131" y="1889634"/>
            <a:ext cx="7206187" cy="140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Vorteile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Geeignet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für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viele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Schnelle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Identifikation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wichtiger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Einflussgrößen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258" name="Textfeld 2257">
            <a:extLst>
              <a:ext uri="{FF2B5EF4-FFF2-40B4-BE49-F238E27FC236}">
                <a16:creationId xmlns:a16="http://schemas.microsoft.com/office/drawing/2014/main" id="{F2875A15-92D7-667B-5D76-F3DE42E75980}"/>
              </a:ext>
            </a:extLst>
          </p:cNvPr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>
            <a:extLst>
              <a:ext uri="{FF2B5EF4-FFF2-40B4-BE49-F238E27FC236}">
                <a16:creationId xmlns:a16="http://schemas.microsoft.com/office/drawing/2014/main" id="{8184B4F7-F831-567F-860B-D29D5FC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529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AB38C-1918-E230-302A-F9EABFE8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>
            <a:extLst>
              <a:ext uri="{FF2B5EF4-FFF2-40B4-BE49-F238E27FC236}">
                <a16:creationId xmlns:a16="http://schemas.microsoft.com/office/drawing/2014/main" id="{ABD4B338-20E0-37EE-D73C-5CF81B33C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AD6559FD-19EA-ED4D-EBC4-29ED4DDC9B5C}"/>
              </a:ext>
            </a:extLst>
          </p:cNvPr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A2DAF8B4-8DFF-6636-15C6-1ED2CC088F46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17778C79-30C9-DA6B-17ED-8F694E832A52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A40A3982-8CE8-786C-0692-0720FCD31DF0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Monte-Carlo??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D502CA6-EE28-3BE0-825C-0014EE380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43" name="TextBox 9">
            <a:extLst>
              <a:ext uri="{FF2B5EF4-FFF2-40B4-BE49-F238E27FC236}">
                <a16:creationId xmlns:a16="http://schemas.microsoft.com/office/drawing/2014/main" id="{43342D41-C104-AAAF-BC7B-D2658CEB9C4C}"/>
              </a:ext>
            </a:extLst>
          </p:cNvPr>
          <p:cNvSpPr txBox="1"/>
          <p:nvPr/>
        </p:nvSpPr>
        <p:spPr>
          <a:xfrm>
            <a:off x="4850131" y="1889634"/>
            <a:ext cx="6931561" cy="1803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Konzept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Stochastische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Unsicherheitsanalyse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Gleichzeitige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Variation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aller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Zufällige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Stichproben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Wahrscheinlichkeitsverteilungen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258" name="Textfeld 2257">
            <a:extLst>
              <a:ext uri="{FF2B5EF4-FFF2-40B4-BE49-F238E27FC236}">
                <a16:creationId xmlns:a16="http://schemas.microsoft.com/office/drawing/2014/main" id="{4712AE1A-A1DD-5887-E246-199B8DF9856C}"/>
              </a:ext>
            </a:extLst>
          </p:cNvPr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>
            <a:extLst>
              <a:ext uri="{FF2B5EF4-FFF2-40B4-BE49-F238E27FC236}">
                <a16:creationId xmlns:a16="http://schemas.microsoft.com/office/drawing/2014/main" id="{8C49484B-852B-07CA-3F2C-E48A0446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5</a:t>
            </a:fld>
            <a:endParaRPr lang="de-DE" dirty="0"/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C3FC6B9-1CF5-7AD4-D797-12CDE3CEF654}"/>
              </a:ext>
            </a:extLst>
          </p:cNvPr>
          <p:cNvSpPr txBox="1"/>
          <p:nvPr/>
        </p:nvSpPr>
        <p:spPr>
          <a:xfrm>
            <a:off x="4850131" y="3503079"/>
            <a:ext cx="6931561" cy="140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Interpretation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Zeigt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Unsicherheit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Keiner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direkte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Aussage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zur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Wichtigkeit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einzelner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Parameter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3B794F3-0EF2-A228-068B-90D27FA5F5EB}"/>
              </a:ext>
            </a:extLst>
          </p:cNvPr>
          <p:cNvSpPr txBox="1"/>
          <p:nvPr/>
        </p:nvSpPr>
        <p:spPr>
          <a:xfrm>
            <a:off x="4850131" y="4814780"/>
            <a:ext cx="6931561" cy="140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Vorteile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Realistische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Abildung von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Unsicherheiten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Liefert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robuste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Ergebnisbereiche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76912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/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/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Unterschied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/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/>
          <p:cNvSpPr txBox="1"/>
          <p:nvPr/>
        </p:nvSpPr>
        <p:spPr>
          <a:xfrm>
            <a:off x="4792981" y="1889634"/>
            <a:ext cx="7206187" cy="646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Morris 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Welche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Parameter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sind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wichtig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?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Monte Carlo  Wie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unsicher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ist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 das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Wingdings" panose="05000000000000000000" pitchFamily="2" charset="2"/>
              </a:rPr>
              <a:t>Ergebnis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17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A983-94AB-ABFB-5D56-5341B955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678F3D2-FAC1-B35D-6F3A-5BD4C6A4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ACB11314-44ED-9522-79C3-921DCEF95E69}"/>
              </a:ext>
            </a:extLst>
          </p:cNvPr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B445B76B-633F-3DA6-3B4D-77DC1553DD48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4107B1D6-BBB3-85D2-4371-1560FFA159A0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599F1CE-2E28-DFAE-2C92-B7431356145A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Aufbau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AD9D2D5-62E7-287E-5B5B-2631C397E8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539A1E9A-914A-0937-A130-5CCADFDDEFE4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F6E8604-C610-030C-B910-B904AEF149A7}"/>
              </a:ext>
            </a:extLst>
          </p:cNvPr>
          <p:cNvSpPr txBox="1"/>
          <p:nvPr/>
        </p:nvSpPr>
        <p:spPr>
          <a:xfrm>
            <a:off x="4792981" y="1889634"/>
            <a:ext cx="7206187" cy="4880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SALib – Sensitivity </a:t>
            </a: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Analyis</a:t>
            </a: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Library for Python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Model: Basis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Szenario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(2045)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ausgewählte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Eingangsparameter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 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angeschaute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 PV, WIND,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, </a:t>
            </a:r>
            <a:r>
              <a:rPr lang="en-US" sz="14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</a:t>
            </a:r>
            <a:r>
              <a:rPr lang="en-US" sz="14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,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5048A9CD-54FF-92B6-BC6F-D7870B33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7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916C2F-EDA3-4443-88AF-BB1C9F706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764" y="3303684"/>
            <a:ext cx="4563112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3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01271-E147-FF30-A687-52A1364E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0089E7E-2E89-1C01-7C2C-3A3E7880C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6B6DA6BE-4914-4A31-D763-697AB3FB6651}"/>
              </a:ext>
            </a:extLst>
          </p:cNvPr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82228A86-4F0F-79E7-CF9F-CEF2D82BBA18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2893804B-CF9B-69C1-7EB4-E50097118878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DB333AE-FBEB-E4A9-29D5-EC941B7138C3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Aufbau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5A6BCB5-B19F-F4FF-7C2B-6B3111DD5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8B85E7A4-0A1A-9DD1-32ED-E70AD3DB78B9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1BD4AD2-0790-CBAD-74B2-D6A780D78B54}"/>
              </a:ext>
            </a:extLst>
          </p:cNvPr>
          <p:cNvSpPr txBox="1"/>
          <p:nvPr/>
        </p:nvSpPr>
        <p:spPr>
          <a:xfrm>
            <a:off x="6039381" y="4341974"/>
            <a:ext cx="7206187" cy="1002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199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140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lvl="3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CC4E74DB-CE26-1BB3-D4C6-CC8EA4EE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04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80A7A-DC29-B429-7C56-79B5D2C3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DD754D5-3993-2187-076D-504EBBC622C2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F7E213E-9DD1-377B-5A70-E842D7C1A3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A7C9225-ACA0-F82D-A17E-74DF6FFB5453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568258C-A870-73CB-4606-D8FEF06021AF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Wind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2CDEBD8-1BB9-8D4E-EE5E-1C06DF51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9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9DFEDB2-BA7A-4F32-FEB1-E4E9A0E41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" t="6088" r="608" b="1506"/>
          <a:stretch>
            <a:fillRect/>
          </a:stretch>
        </p:blipFill>
        <p:spPr>
          <a:xfrm>
            <a:off x="669420" y="1097152"/>
            <a:ext cx="10853159" cy="55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3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BE52-8BE0-B5AF-EBF3-B355D735B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D959682-BB31-333F-A31F-198FB3B1B1FD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1C1FB14-CC1A-66BE-2BE1-A8C95B6F1F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157D1804-4F8A-C705-B33E-D8C98ECF7C2C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79C06EA2-4648-EDB6-D6EF-A88D923A80D2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Wind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6B58F8F-BACB-902A-0608-E09FCF3D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10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99A322B-3CCA-7DC8-9350-D287E92F7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7" r="537" b="1377"/>
          <a:stretch>
            <a:fillRect/>
          </a:stretch>
        </p:blipFill>
        <p:spPr>
          <a:xfrm>
            <a:off x="538385" y="1138221"/>
            <a:ext cx="11293979" cy="571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2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2FEB1-BA9C-F9D9-849E-F6F2DE4EC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1012CC50-A504-B5ED-0181-B94E290574E9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2C20F26-1835-34E0-FC70-8200BD9F52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343D16DC-5F16-945E-0D5B-706DF521A053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52D2D50-23A5-76FE-5527-E7839CFFFA46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1A66CB4D-2B5C-7074-BD6D-A71E450E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11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04B59AC-D1B2-F943-D63C-7957903EA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8171" b="1118"/>
          <a:stretch>
            <a:fillRect/>
          </a:stretch>
        </p:blipFill>
        <p:spPr>
          <a:xfrm>
            <a:off x="196553" y="1076969"/>
            <a:ext cx="11551065" cy="57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15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B01C-AB23-FC39-7B1B-344090B4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C4ADEB17-8FCE-D9AA-EA09-0A0A52328B30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B41A945-3D29-8F9B-0780-B0A80F410C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060D0CA1-D3B0-B869-68F8-C1060B7B732F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1F19A9B-2361-E3CD-8F3F-8979C771879C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PV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B5085C66-BEF6-2BD0-714F-73CA2186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12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1923E49-2308-3AE1-244B-EE485EB9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8" b="1118"/>
          <a:stretch>
            <a:fillRect/>
          </a:stretch>
        </p:blipFill>
        <p:spPr>
          <a:xfrm>
            <a:off x="256374" y="1097152"/>
            <a:ext cx="11374452" cy="575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B71D-AFF8-254D-A257-2935A06A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9AF643BA-E06B-3368-8AE0-B1EF61ED23E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E83F8A1-74BC-BE96-F88F-622F36FDD0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72A10371-920D-E4B8-BA29-A75324446E0B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6B86D4D-E66E-27A7-58FF-B80B2A942AD9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PV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E11D525-C712-5401-588D-9900B077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13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C335ACF-15DF-4700-DB75-64BE23114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7" r="537" b="1377"/>
          <a:stretch>
            <a:fillRect/>
          </a:stretch>
        </p:blipFill>
        <p:spPr>
          <a:xfrm>
            <a:off x="566871" y="1143831"/>
            <a:ext cx="11058258" cy="56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8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F444-B768-7F3C-3FEF-8C6E86AF3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20CFC4C-C8DD-D7B8-B53E-2BF46043B7DF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176594F-AE45-D26C-2588-B8A76358D3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9666FE6D-C050-C1EF-2A26-2B8502251408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8A09313-4469-5190-F420-94A64BC0E586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PV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45838C7-166E-3C7E-DCDB-5621972C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14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1D5BD13-BF10-63B8-1628-B022F713A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" t="6088" b="1118"/>
          <a:stretch>
            <a:fillRect/>
          </a:stretch>
        </p:blipFill>
        <p:spPr>
          <a:xfrm>
            <a:off x="290557" y="1097152"/>
            <a:ext cx="11166504" cy="571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8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B4E10-BF5D-BDAF-5967-76AB7BFCB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2D1631A-3127-43C6-39B2-A42C1EFF2924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17D052E-5903-1E0D-778A-4B38B9B86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E5487AC3-6C62-B763-ABD7-2360E63961A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0683F9B-1C0A-C816-A116-9EB013C61C13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247FAFA-5EF9-B28A-EB9C-95A3453A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15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C5BDD4D-0C09-8216-0CA5-45D619D81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6087"/>
          <a:stretch>
            <a:fillRect/>
          </a:stretch>
        </p:blipFill>
        <p:spPr>
          <a:xfrm>
            <a:off x="461474" y="1221193"/>
            <a:ext cx="10562601" cy="540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6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B7757-E49C-4100-3B6B-99B06D75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F05C0DF8-8F58-3CBD-2F91-4FB9747DBDB2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9D0BBB7-4650-7A4C-F2B5-D3292D72A5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DAFCA617-B848-5811-3DBE-9BF8F7628B09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1CBBC13-DF31-D300-0469-A084BB6D0068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B9E195A-6BF7-9093-5BA6-933FEEDB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16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DE6A785-7450-EDD2-FB7A-BAFC47291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8" b="1118"/>
          <a:stretch>
            <a:fillRect/>
          </a:stretch>
        </p:blipFill>
        <p:spPr>
          <a:xfrm>
            <a:off x="370450" y="1143831"/>
            <a:ext cx="11083896" cy="559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73B2-4574-D101-94A2-2844AE76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7C677E85-AA9D-8F27-8085-D5CE38284BB0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C789090-1914-9D3F-C67A-7A40B33DC5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C7C4AD68-0AE8-DCD3-BBC2-E49D6E1BEA1B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73FA3349-BA55-6780-562A-4191CB43EF7A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0819825-59A2-59DE-CD3C-4E69C8FB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17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4B5F43-7230-377E-87DB-3AF31F5C3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0" b="1118"/>
          <a:stretch>
            <a:fillRect/>
          </a:stretch>
        </p:blipFill>
        <p:spPr>
          <a:xfrm>
            <a:off x="228573" y="1136783"/>
            <a:ext cx="11390147" cy="558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E73D-179C-3909-64AF-13F433DF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0C0C636-6F2B-AD8C-604A-F95E60788E78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F3F05A8-DBDF-FD8D-7F25-AAA2D932F0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D1BE5371-BBED-173C-F70F-185E45373CE1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07AEA8F-97D5-AA90-D362-F22F227A111B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14C252F9-C758-86CC-7EE3-37A3B9C9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18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ECAE11F-887F-4A53-B73C-B57BE8E8C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7" b="206"/>
          <a:stretch>
            <a:fillRect/>
          </a:stretch>
        </p:blipFill>
        <p:spPr>
          <a:xfrm>
            <a:off x="838200" y="1125685"/>
            <a:ext cx="10742673" cy="54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612A-AB1C-876C-E7A7-4A484CF37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D1D31549-B7D7-6E15-7E7F-725A53CABD8B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35C88C9-A7C4-8F18-86EB-E30E0C95F6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0F65BF1-E031-2B40-E59B-3287A479951C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6F2D604-9AB2-0E79-7EE5-35DE6040A412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Wärmespeicherkapazität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AF24C99E-F3C3-182E-1C7A-354D4A07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19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A827E9B-61E4-EE60-943E-83F77FC23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8" r="537" b="1247"/>
          <a:stretch>
            <a:fillRect/>
          </a:stretch>
        </p:blipFill>
        <p:spPr>
          <a:xfrm>
            <a:off x="560462" y="1143831"/>
            <a:ext cx="10793338" cy="548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6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C891-85F3-0FC6-3413-2EA24C93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A4968C68-E497-93C6-2D24-95BCFAC27795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0C7B901-33AF-C62B-ECDE-5E09AC7604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C2FF238E-5160-EBA9-F232-0ED69D713D7D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6D503A4-D828-606F-ECC8-EA9DCBCCE4F8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Trendplot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…….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Waermespeicher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C54F8C91-D8B0-A3E6-DC04-2E2BF63C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20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3926591-696C-60CB-AF8D-2D3B0DD35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" t="6087"/>
          <a:stretch>
            <a:fillRect/>
          </a:stretch>
        </p:blipFill>
        <p:spPr>
          <a:xfrm>
            <a:off x="581470" y="1143831"/>
            <a:ext cx="11029060" cy="569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2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90E31-CDC0-1FD5-28CA-5DAEE319B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60922C6-3B0B-74B2-E375-1BA78D0E86E9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C94228C-5AE2-33E2-1ECF-BB4810D23B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E649ADC5-6E33-DE29-177A-7FA849BD181D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D3A4D20-03AF-CD52-E445-B801D347F143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Korrelation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C6B36D6-096C-9A2E-DC27-29A2A785F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21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A12B8FA-C052-9807-A728-230C0A4B4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5" t="8598" r="5306"/>
          <a:stretch>
            <a:fillRect/>
          </a:stretch>
        </p:blipFill>
        <p:spPr>
          <a:xfrm>
            <a:off x="3025851" y="367470"/>
            <a:ext cx="7001825" cy="626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2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E59D-7437-64B9-AC0F-97F93FF7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1C3EC506-DF15-CBAE-4877-C7DC63209DE2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6A7BBCE-0EA4-AD81-82D8-77ECB8A26D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E87C4368-84BE-F22F-77D4-E0B47F83AD82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E7F6DA2-FD1C-F539-0AE5-2A8C9E4B1A2C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6A577AD-A956-3529-855F-8A34DC33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22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07632B-6125-8046-B41D-16C584736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6088" r="9370" b="1247"/>
          <a:stretch>
            <a:fillRect/>
          </a:stretch>
        </p:blipFill>
        <p:spPr>
          <a:xfrm>
            <a:off x="1198043" y="1120110"/>
            <a:ext cx="9866832" cy="549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67D0-C0F0-0D41-BA12-311A1241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61A259C-649B-B53E-5EF5-7274134D9553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952D558-F9AD-95F9-2C89-490B74EE30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A4275C12-ADCE-9468-B396-5F4B56A9376E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C9C4C06-63C9-4D2C-5F4E-F150713DCAC5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PV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DF3DEF85-2099-57A6-10DA-CE7A35AA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23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F3B9B32-CFC5-3743-92BF-C11D05573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6088" r="9509" b="1118"/>
          <a:stretch>
            <a:fillRect/>
          </a:stretch>
        </p:blipFill>
        <p:spPr>
          <a:xfrm>
            <a:off x="1080265" y="1097152"/>
            <a:ext cx="10192350" cy="569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3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7BB4-AFC1-CF5B-B2A5-EDC1C3DA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4E8FA6A6-5C8E-77FF-C56F-08AD8BC861C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F25FD0D-3045-E0F5-B419-F478C67A9B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783211BD-A97D-6AFA-FC58-74680E066168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47ABFAC-A273-ECA9-A2E5-2CA5839ABC30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91DCD26-CCD3-1B7B-2F81-2850A028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24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173CBF-20B8-14D0-082C-F4510C033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8" r="9509" b="1118"/>
          <a:stretch>
            <a:fillRect/>
          </a:stretch>
        </p:blipFill>
        <p:spPr>
          <a:xfrm>
            <a:off x="964250" y="1097152"/>
            <a:ext cx="10263499" cy="573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51D58-71D1-EF16-4D3D-6B828E676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A5F9310-8545-4157-1DB3-66A474867977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BD7A0BB-65A0-9BCA-825D-F118CC1871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11FCCC4D-BE0B-E71B-97EF-8E8E779ABA67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058BA688-2447-B02B-710C-94C5F8605CC2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2D Surface Plot -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Waermespeicher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3E37110E-7ACD-1380-BB62-A85B517B8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25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857A6A-E190-6CE8-5657-4D503C4E4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" t="6088" r="9089" b="1118"/>
          <a:stretch>
            <a:fillRect/>
          </a:stretch>
        </p:blipFill>
        <p:spPr>
          <a:xfrm>
            <a:off x="1133030" y="1143831"/>
            <a:ext cx="10220770" cy="56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9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BAD6-4D41-8023-F90E-3F4D0D84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C0E67C41-C972-C85E-7896-7EA500CE520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B3E5EE9-8733-AD0F-D5A3-EBBF096272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DF4AF58E-53A9-3963-1572-42A0241C7799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6ECFDF98-A2FB-6406-B5D4-7D8B6AD09146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Maschinelles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Lernen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C5D916A7-E1B2-81A2-9E0B-3ABE894B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26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84113DF-64DB-79E9-BFEF-3DEB5F6D27E6}"/>
              </a:ext>
            </a:extLst>
          </p:cNvPr>
          <p:cNvSpPr txBox="1"/>
          <p:nvPr/>
        </p:nvSpPr>
        <p:spPr>
          <a:xfrm>
            <a:off x="370450" y="1624946"/>
            <a:ext cx="103831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Ein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Random Forest Regressor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wird trainiert, um den Zusammenhang zwischen Inputs und Output zu lernen.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Kann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nichtlineare Zusammenhänge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erkennen.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Berücksichtigt Wechselwirkungen zwischen Parametern.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Robust gegenüber Ausreißern.</a:t>
            </a:r>
          </a:p>
          <a:p>
            <a:pPr marL="342900" indent="-342900" algn="just">
              <a:buFont typeface="+mj-lt"/>
              <a:buAutoNum type="arabicPeriod"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Aus dem trainierten Modell wird die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Feature </a:t>
            </a:r>
            <a:r>
              <a:rPr lang="de-DE" b="1" dirty="0" err="1"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berechnet.</a:t>
            </a:r>
          </a:p>
          <a:p>
            <a:pPr algn="just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Ziel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: Ranking der wichtigsten Einflussgrößen auf den Output. </a:t>
            </a:r>
          </a:p>
          <a:p>
            <a:pPr lvl="2" algn="just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Interpretation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2114550" lvl="4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Die Summe aller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Importances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ergibt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114550" lvl="4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Jeder Wert zeigt den relativen Anteil des Parameters an der Vorhersage. </a:t>
            </a:r>
          </a:p>
          <a:p>
            <a:pPr lvl="2" algn="just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Beispiel:</a:t>
            </a:r>
          </a:p>
          <a:p>
            <a:pPr lvl="2" algn="just"/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pv_flh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= 0.45 → erklärt 45 % der Modellentscheidung. </a:t>
            </a:r>
          </a:p>
        </p:txBody>
      </p:sp>
    </p:spTree>
    <p:extLst>
      <p:ext uri="{BB962C8B-B14F-4D97-AF65-F5344CB8AC3E}">
        <p14:creationId xmlns:p14="http://schemas.microsoft.com/office/powerpoint/2010/main" val="41117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E282-FC3E-0286-DE81-C553A054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B3CB89ED-CB8C-6F5F-486F-2AB1F1C80383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E4E2B-DC36-9721-CA95-1395B5C414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272BDEB-A377-8F92-742F-08A3B4479655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18A4A34-AC39-0D75-A5B0-7A7B6C337CEB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MC Histogram +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Wichtigkeit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DA28682E-09D8-975C-D016-6C0643FA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27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119F8ED-9C53-AF97-81B1-A21670F1A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7"/>
          <a:stretch>
            <a:fillRect/>
          </a:stretch>
        </p:blipFill>
        <p:spPr>
          <a:xfrm>
            <a:off x="457200" y="1097152"/>
            <a:ext cx="11277600" cy="573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9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D489F-7BC3-74E1-2915-C0F76A0F6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92246EC1-BFE7-03BB-0D5D-35E2F4D2D8C3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11C41AA-83C6-9F0F-F7B4-1DFE2632B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97E1563F-CB2D-8D40-0752-59FEBC0E4255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7B6C26B-49EF-6EFD-EBBE-347BA6E93419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Maschinelles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Lernen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3B42A26-4BCD-E1BE-05F4-C615703D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28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8EF170-9C55-1F0E-7A03-59F80180E68F}"/>
              </a:ext>
            </a:extLst>
          </p:cNvPr>
          <p:cNvSpPr txBox="1"/>
          <p:nvPr/>
        </p:nvSpPr>
        <p:spPr>
          <a:xfrm>
            <a:off x="370450" y="1624946"/>
            <a:ext cx="112860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Zum Schluss wird ein 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Partial </a:t>
            </a:r>
            <a:r>
              <a:rPr lang="de-DE" b="1" dirty="0" err="1">
                <a:latin typeface="Arial" panose="020B0604020202020204" pitchFamily="34" charset="0"/>
                <a:cs typeface="Arial" panose="020B0604020202020204" pitchFamily="34" charset="0"/>
              </a:rPr>
              <a:t>Dependence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 Plot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erstellt.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Was ? Visualisierung des Einflusses eines einzelnen Parameters auf den Output, während alle anderen Parameter gemittelt werden. </a:t>
            </a:r>
          </a:p>
          <a:p>
            <a:endParaRPr lang="de-DE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Was zeigt die Visualisierung?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die Richtung des Einflusses.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Nichtlinearitäten.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Schwellenwerte oder Sättigungseffekte. </a:t>
            </a:r>
          </a:p>
        </p:txBody>
      </p:sp>
    </p:spTree>
    <p:extLst>
      <p:ext uri="{BB962C8B-B14F-4D97-AF65-F5344CB8AC3E}">
        <p14:creationId xmlns:p14="http://schemas.microsoft.com/office/powerpoint/2010/main" val="45529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D20B-EEF4-1A87-8A3A-D48C1763F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1E735C13-A541-4365-201D-8931F3EEEC85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AE20346-E925-9152-4503-96BFE07F7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6899E924-52B2-FA4F-C359-7AD81015F8CC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77FE86C-9AFC-674D-42EF-56FB4081723E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B0C1266E-23BB-4837-2263-387DA218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29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8477F3-1DC4-3230-D441-8E24CBE78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4"/>
          <a:stretch>
            <a:fillRect/>
          </a:stretch>
        </p:blipFill>
        <p:spPr>
          <a:xfrm>
            <a:off x="2008261" y="1109211"/>
            <a:ext cx="9584821" cy="542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686AD-1359-349F-A24F-35094600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BE11BED-E163-3E76-C762-DC174934102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ECAD2C0-B1A5-C0BF-F248-5EC922C42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FDBE0528-3319-72A5-7333-4F997C6067F4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A3F2FEAC-12AF-83A7-D2F7-4EB9C07A04EA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PV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173F6CC-B048-E529-41B3-4E800BA3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30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64B93BA-84D0-EF2E-8848-F45FFE8DF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0"/>
          <a:stretch>
            <a:fillRect/>
          </a:stretch>
        </p:blipFill>
        <p:spPr>
          <a:xfrm>
            <a:off x="1615154" y="948569"/>
            <a:ext cx="10270879" cy="584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5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3300-C459-2406-6D50-FE9C0DF9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714BDC3-2928-F866-2CEF-A05072A165A4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7C7BED0-9B30-D412-2D3A-33E8970FDB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10E53349-26B8-5C3D-4320-995F9E58948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A0F5153-B624-8025-1879-ADAFD5CEB637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Wärmespeicher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6F058A7-D9C0-F77C-54C7-B7B96D7B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31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8133C9B-DD43-AA86-BF56-5DAAE71AC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5"/>
          <a:stretch>
            <a:fillRect/>
          </a:stretch>
        </p:blipFill>
        <p:spPr>
          <a:xfrm>
            <a:off x="1264777" y="1073624"/>
            <a:ext cx="10183739" cy="57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2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603A2-4AA8-F565-E9BB-95E74516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A885627-90DD-5917-0A64-CD2A13480C8C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5E09861-BF89-E282-F215-466879C1BB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0CE0F3ED-A54F-7C8B-0AFA-B33F33D76BA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DE77264-19DF-7EFC-6C78-FF3DFB3960F1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CF4028BD-4E57-08BE-85B6-5A1A136A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32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48DC4C7-89F9-7348-0FFE-4432A0CEA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29"/>
          <a:stretch>
            <a:fillRect/>
          </a:stretch>
        </p:blipFill>
        <p:spPr>
          <a:xfrm>
            <a:off x="921471" y="1119534"/>
            <a:ext cx="10143404" cy="573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8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0EA4-60DF-367C-F7BD-043F695C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4A28953-118D-A80E-D1E8-BE094C592AF3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6D650C8-CBB1-E1A1-21EC-D1E12D61AB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574AA526-A89A-30E5-5FDD-6F99AB9B7B17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C720859-7BC4-2C5C-904B-D44F50D886B6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2A0026D2-70C3-1062-9136-46A5D0AB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33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89468CD-4A74-CE3A-9605-6FBCC2E14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4"/>
          <a:stretch>
            <a:fillRect/>
          </a:stretch>
        </p:blipFill>
        <p:spPr>
          <a:xfrm>
            <a:off x="2008261" y="1109211"/>
            <a:ext cx="9584821" cy="542970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3D9ADA4-EA46-6736-A603-DA0883AFB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" t="8171" b="1118"/>
          <a:stretch>
            <a:fillRect/>
          </a:stretch>
        </p:blipFill>
        <p:spPr>
          <a:xfrm>
            <a:off x="1468095" y="3660190"/>
            <a:ext cx="10665151" cy="533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3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1203-7C88-3426-058C-619540B5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5DA5296-1190-65E3-E69C-DFBDC08A12C8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Monte Carlo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E7849BF-9F48-6219-BA58-01FB7E6F45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3E18F93E-B3E5-178B-93CB-09C72D5C146F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65250D20-36EC-2C7F-6F24-3E1705E7555E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PDP Wind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754F37B-616A-1E09-EF73-8954BA7E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34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09A1414-1D89-4685-4BE8-A68F8BB4A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t="6728" r="670" b="935"/>
          <a:stretch>
            <a:fillRect/>
          </a:stretch>
        </p:blipFill>
        <p:spPr>
          <a:xfrm>
            <a:off x="671200" y="528983"/>
            <a:ext cx="10849599" cy="615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8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1C87-F16D-E5E2-52A5-977515D7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8BACA47-C927-9494-E1B5-0D0905FA9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2FF39985-7099-A8A0-95D0-F635E4EA919F}"/>
              </a:ext>
            </a:extLst>
          </p:cNvPr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DEAC9169-CB8A-057F-1BAF-7932953322AC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7F5D7B72-5E7A-A962-B81B-E15AD165D12E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60F109DE-5E87-2CD4-2E3B-28685E3B73F3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Aufbau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4219A43-EAE8-C2E2-450D-FD3A2C74FB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D2AD641F-E45D-6C23-979D-B54ABEBFB9B6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A8F3CA1A-13EF-0377-AC42-A38916C31AFD}"/>
              </a:ext>
            </a:extLst>
          </p:cNvPr>
          <p:cNvSpPr txBox="1"/>
          <p:nvPr/>
        </p:nvSpPr>
        <p:spPr>
          <a:xfrm>
            <a:off x="6039381" y="4341974"/>
            <a:ext cx="7206187" cy="1002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199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1400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lvl="3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CB4E3C2-C0E2-8D4D-1944-DE8DF161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166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25CD-3434-05D8-604C-A8438214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146DC7C-20BE-21E0-8774-2CD5DCCEC6C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1DF8CC3-381F-6EDA-9D56-8C20D859D7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8276B0A2-E1DD-8137-A78B-B8D6B9C59FB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95593C20-A49C-73FC-5D34-A73D780A1019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Wind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04D0FA6-F2F1-7C52-9C29-089E5C41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36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1FB091A-8D32-FC1A-FBE8-0EF6CDA00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5" t="18941" r="9466" b="11474"/>
          <a:stretch>
            <a:fillRect/>
          </a:stretch>
        </p:blipFill>
        <p:spPr>
          <a:xfrm>
            <a:off x="2315910" y="931491"/>
            <a:ext cx="8203963" cy="569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1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1CB4-027F-0721-F8B5-9DE809AD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97075BA-B0C2-9577-1F08-44F160E78D24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4E07737-3131-3174-E78A-A9C79FB539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A159118-00EF-8038-F000-C54A8CBDC62A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B0454F0-1D5B-EAD6-02F4-AE7FF290FE3D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Summary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ACE40632-2CFA-2141-5077-645CA1AD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37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3AD6930-CBDA-B0FE-84B7-B9526506E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4" t="18442" r="8703" b="7314"/>
          <a:stretch>
            <a:fillRect/>
          </a:stretch>
        </p:blipFill>
        <p:spPr>
          <a:xfrm>
            <a:off x="1797465" y="1063867"/>
            <a:ext cx="8597069" cy="565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9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CFCB-157D-FEE9-DF4F-4AF30773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21FD00A-5E09-BE50-9B9A-B0308D710A10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016ABDE-893B-3F13-8B7C-98E329D118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CE807E33-1474-D14D-23B7-A2EE78DE18D7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F03FF3B5-78B4-B8B9-07DA-D3110AA93ECF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Wind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3413E79A-8A32-E7CC-AC8E-84D15E22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38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CC8840F-1778-C3AE-D065-BC3377CA4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4" t="18442" r="9168" b="6044"/>
          <a:stretch>
            <a:fillRect/>
          </a:stretch>
        </p:blipFill>
        <p:spPr>
          <a:xfrm>
            <a:off x="2236775" y="528983"/>
            <a:ext cx="8579978" cy="627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2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8021-ABCF-B4B7-F822-97E5AEF6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5369470-B4AE-9FFF-E831-4D1F1D698F6D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9E9ECA0-9C85-CDF3-81A9-49078105B4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9CF48E7D-F048-EFF1-EE7D-DCB63C824C29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1F987600-CED1-6907-C029-FDABA1F29FC1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Wind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115EDCF-6AC7-D2E7-BC92-69D2DC4F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39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2AAD4B-4E71-8B5D-6D74-6EC7A52CF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18816" r="6732" b="1807"/>
          <a:stretch>
            <a:fillRect/>
          </a:stretch>
        </p:blipFill>
        <p:spPr>
          <a:xfrm>
            <a:off x="1139439" y="1273750"/>
            <a:ext cx="9913122" cy="544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6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D0B0-AEFD-9624-6F70-7DF297D8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B20CDF5-1741-225D-D846-2C6259A9EF00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C5CF16B-EB65-CC96-6AD1-BFC4331A91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6CDF3144-11C0-DF78-AB47-A0A8071352F9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2840C37B-5F07-11F3-5749-669FC2B11BA8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Stromspeicher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D718A808-90C6-FA9A-A3AF-C396E236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40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38AAD3F-7AF3-EB03-657E-15D6C06EC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5" t="18068" r="9342" b="7316"/>
          <a:stretch>
            <a:fillRect/>
          </a:stretch>
        </p:blipFill>
        <p:spPr>
          <a:xfrm>
            <a:off x="2497743" y="1239140"/>
            <a:ext cx="7024643" cy="511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2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DFEA-9C01-D721-E104-C1ADBC5AE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74605F5E-2C8B-A401-D8DD-EA2E908D678A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121A94B-6D47-0E96-BF95-2FBC13121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CC6EC838-6D93-45C0-95E2-C1789C6F1FDD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E4C40C6-CD31-F391-1B90-419495EDFD9A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PV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Leistung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AF998A6A-5A15-26E9-836C-0460E258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41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2510FBF-7631-2144-A617-FC0E5E13A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" t="18318" r="9177" b="5670"/>
          <a:stretch>
            <a:fillRect/>
          </a:stretch>
        </p:blipFill>
        <p:spPr>
          <a:xfrm>
            <a:off x="196553" y="1325978"/>
            <a:ext cx="7050280" cy="521293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F5C4373-B3F3-3D37-F57E-19A0B8DB29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" t="6087" r="537" b="1377"/>
          <a:stretch>
            <a:fillRect/>
          </a:stretch>
        </p:blipFill>
        <p:spPr>
          <a:xfrm>
            <a:off x="3721693" y="2101074"/>
            <a:ext cx="8348277" cy="422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4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41E96-C352-CD79-3C95-202673F8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6C61D372-FF45-648C-13EA-87A29CC3F61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BFCD60C-D99D-0199-427A-5DA9415A85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1089ED59-ED09-9BAB-2562-EC8E75749760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6B2DBFC5-2461-7E4E-1C47-BC5C46B8D86C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4CAAE37C-94F8-8576-DBAA-388E3E28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42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77D83B1-1027-5FD9-9CFA-9C0C1EA5D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0" t="18193" r="9364" b="6293"/>
          <a:stretch>
            <a:fillRect/>
          </a:stretch>
        </p:blipFill>
        <p:spPr>
          <a:xfrm>
            <a:off x="1888621" y="604590"/>
            <a:ext cx="8221054" cy="611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3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7621-1F06-AEB4-0FA4-ED3503ED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A0A49BB-4CC2-1144-CF4E-871ABCF729E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478CA69-C906-1537-BCB8-A68256DBA2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45C0BF44-9987-39A2-A151-9A0005F522EB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AA59E44C-969F-7D86-B105-DA06C4CF1D5F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BD6558E5-6543-9760-DF11-AED09E09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43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36CD9EB-CB71-6FD3-135E-DBCD31E13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" t="9516" r="18762" b="3448"/>
          <a:stretch>
            <a:fillRect/>
          </a:stretch>
        </p:blipFill>
        <p:spPr>
          <a:xfrm>
            <a:off x="1042587" y="448002"/>
            <a:ext cx="10237861" cy="635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6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B9DB1-98F2-90A3-53E9-9A9D0424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6646697A-E1AE-F416-3AE6-341171E12266}"/>
              </a:ext>
            </a:extLst>
          </p:cNvPr>
          <p:cNvSpPr txBox="1"/>
          <p:nvPr/>
        </p:nvSpPr>
        <p:spPr>
          <a:xfrm>
            <a:off x="370451" y="140578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Ergebnisse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46674D7-F2BA-EC7E-E87D-766FDD3DAA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73333981-80B0-BFC8-B12C-6B455A6D39CF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B8CD786C-6021-FB39-5DB8-7526F8677467}"/>
              </a:ext>
            </a:extLst>
          </p:cNvPr>
          <p:cNvSpPr txBox="1"/>
          <p:nvPr/>
        </p:nvSpPr>
        <p:spPr>
          <a:xfrm>
            <a:off x="370450" y="528983"/>
            <a:ext cx="7206187" cy="568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Korrelation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141C6C7A-FDEA-AC03-2C1C-403FBB3B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44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CD5512C-246A-9695-B3F4-DDF1F62CA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3" t="18442" r="9506" b="6168"/>
          <a:stretch>
            <a:fillRect/>
          </a:stretch>
        </p:blipFill>
        <p:spPr>
          <a:xfrm>
            <a:off x="2339814" y="905854"/>
            <a:ext cx="7180007" cy="575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85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498</Words>
  <Application>Microsoft Office PowerPoint</Application>
  <PresentationFormat>Breitbild</PresentationFormat>
  <Paragraphs>188</Paragraphs>
  <Slides>44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Cambria Math</vt:lpstr>
      <vt:lpstr>Office</vt:lpstr>
      <vt:lpstr>ZORRO II Abschulss Konferenz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Nordhausen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time series forecasting approach using Markov Chain for Robust Energy System Planning</dc:title>
  <dc:creator>Bala Krishnan, Rohith Krishnan</dc:creator>
  <cp:lastModifiedBy>Bala Krishnan, Rohith Krishnan</cp:lastModifiedBy>
  <cp:revision>67</cp:revision>
  <dcterms:created xsi:type="dcterms:W3CDTF">2025-10-23T13:52:50Z</dcterms:created>
  <dcterms:modified xsi:type="dcterms:W3CDTF">2026-05-12T09:51:45Z</dcterms:modified>
</cp:coreProperties>
</file>