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79" r:id="rId1"/>
    <p:sldMasterId id="2147483655" r:id="rId2"/>
    <p:sldMasterId id="2147483662" r:id="rId3"/>
    <p:sldMasterId id="2147483670" r:id="rId4"/>
  </p:sldMasterIdLst>
  <p:notesMasterIdLst>
    <p:notesMasterId r:id="rId21"/>
  </p:notesMasterIdLst>
  <p:sldIdLst>
    <p:sldId id="270" r:id="rId5"/>
    <p:sldId id="313" r:id="rId6"/>
    <p:sldId id="310" r:id="rId7"/>
    <p:sldId id="325" r:id="rId8"/>
    <p:sldId id="326" r:id="rId9"/>
    <p:sldId id="311" r:id="rId10"/>
    <p:sldId id="312" r:id="rId11"/>
    <p:sldId id="314" r:id="rId12"/>
    <p:sldId id="315" r:id="rId13"/>
    <p:sldId id="320" r:id="rId14"/>
    <p:sldId id="321" r:id="rId15"/>
    <p:sldId id="319" r:id="rId16"/>
    <p:sldId id="322" r:id="rId17"/>
    <p:sldId id="316" r:id="rId18"/>
    <p:sldId id="317" r:id="rId19"/>
    <p:sldId id="308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1E3B505-0EEA-4839-9782-7FC3617D5884}">
          <p14:sldIdLst>
            <p14:sldId id="270"/>
            <p14:sldId id="313"/>
            <p14:sldId id="310"/>
            <p14:sldId id="325"/>
            <p14:sldId id="326"/>
            <p14:sldId id="311"/>
            <p14:sldId id="312"/>
            <p14:sldId id="314"/>
            <p14:sldId id="315"/>
            <p14:sldId id="320"/>
            <p14:sldId id="321"/>
            <p14:sldId id="319"/>
            <p14:sldId id="322"/>
            <p14:sldId id="316"/>
            <p14:sldId id="31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ncent, Lynn" initials="VL" lastIdx="12" clrIdx="0">
    <p:extLst>
      <p:ext uri="{19B8F6BF-5375-455C-9EA6-DF929625EA0E}">
        <p15:presenceInfo xmlns:p15="http://schemas.microsoft.com/office/powerpoint/2012/main" userId="S-1-5-21-2341373726-192158145-3168869251-30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7BD00"/>
    <a:srgbClr val="0059B9"/>
    <a:srgbClr val="616263"/>
    <a:srgbClr val="B0B1B1"/>
    <a:srgbClr val="151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58" autoAdjust="0"/>
    <p:restoredTop sz="82114" autoAdjust="0"/>
  </p:normalViewPr>
  <p:slideViewPr>
    <p:cSldViewPr snapToGrid="0">
      <p:cViewPr>
        <p:scale>
          <a:sx n="70" d="100"/>
          <a:sy n="70" d="100"/>
        </p:scale>
        <p:origin x="1896" y="43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EAAD5-EAEA-4E0D-A399-59A9A7DDD72A}" type="datetimeFigureOut">
              <a:rPr lang="de-DE" smtClean="0"/>
              <a:t>14.05.2025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22141-06EA-48EA-863A-378A4A7752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6080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noProof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490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Rohstoffpotenzial: Gibt die theoretisch vorhandene Menge eines biogenen Rohstoffs an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Bioenergieträgerpotenzial: Bezieht zusätzlich Verluste durch Aufbereitung, Lagerung und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Transport mit ein. Es wird in Masse- oder Volumeneinheiten dargestellt.</a:t>
            </a:r>
            <a:endParaRPr lang="de-DE" dirty="0" smtClean="0"/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Bioenergiepotenzial: Berücksichtigt schließlich auch die Konversionsverluste, die je nach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 der Energieform (Strom, Wärme, Kraftstoff) unterschiedlich ausfallen</a:t>
            </a:r>
          </a:p>
          <a:p>
            <a:endParaRPr lang="de-DE" dirty="0" smtClean="0"/>
          </a:p>
          <a:p>
            <a:r>
              <a:rPr lang="de-DE" dirty="0" smtClean="0"/>
              <a:t>Bioenergieträger=</a:t>
            </a:r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Bioenergieträger sind Energieträger, die entweder unmittelbar oder mittelbar aus Biomasse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entstehen. Sie dienen als Ausgangsstoff oder Zwischenprodukt in verschiedenen Konversionsprozessen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wie der Verbrennung, Vergasung oder Vergärung, um Bioenergie bereitzustellen</a:t>
            </a:r>
          </a:p>
          <a:p>
            <a:endParaRPr lang="de-DE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Bioenergie bezeichnet die Energieform, die aus organischem Material, sogenannter Biomasse,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gewonnen wird. Dabei kann die Energie direkt aus der Biomasse freigesetzt oder diese zunächst in</a:t>
            </a:r>
          </a:p>
          <a:p>
            <a:r>
              <a:rPr lang="de-D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feste, flüssige oder gasförmige Energieträger umgewandelt werden</a:t>
            </a:r>
          </a:p>
          <a:p>
            <a:endParaRPr lang="de-DE" dirty="0" smtClean="0"/>
          </a:p>
          <a:p>
            <a:r>
              <a:rPr lang="de-DE" dirty="0" smtClean="0"/>
              <a:t>Theoretisches Potenzial: Maximal physikalisch</a:t>
            </a:r>
            <a:r>
              <a:rPr lang="de-DE" baseline="0" dirty="0" smtClean="0"/>
              <a:t> nutzbare </a:t>
            </a:r>
            <a:r>
              <a:rPr lang="de-DE" baseline="0" dirty="0" err="1" smtClean="0"/>
              <a:t>energie</a:t>
            </a:r>
            <a:r>
              <a:rPr lang="de-DE" baseline="0" dirty="0" smtClean="0"/>
              <a:t> ( ohne Verluste)</a:t>
            </a:r>
          </a:p>
          <a:p>
            <a:r>
              <a:rPr lang="de-DE" baseline="0" dirty="0" smtClean="0"/>
              <a:t>Technisches Potenzial: technisch nutzbare </a:t>
            </a:r>
            <a:r>
              <a:rPr lang="de-DE" baseline="0" dirty="0" err="1" smtClean="0"/>
              <a:t>anteil</a:t>
            </a:r>
            <a:r>
              <a:rPr lang="de-DE" baseline="0" dirty="0" smtClean="0"/>
              <a:t> des theoretischen Potenzials, also inklusive </a:t>
            </a:r>
            <a:r>
              <a:rPr lang="de-DE" baseline="0" dirty="0" err="1" smtClean="0"/>
              <a:t>verluste</a:t>
            </a:r>
            <a:endParaRPr lang="de-DE" baseline="0" dirty="0" smtClean="0"/>
          </a:p>
          <a:p>
            <a:r>
              <a:rPr lang="de-DE" baseline="0" dirty="0" smtClean="0"/>
              <a:t>Wirtschaftlich: </a:t>
            </a:r>
            <a:r>
              <a:rPr lang="de-DE" baseline="0" dirty="0" err="1" smtClean="0"/>
              <a:t>anteil</a:t>
            </a:r>
            <a:r>
              <a:rPr lang="de-DE" baseline="0" dirty="0" smtClean="0"/>
              <a:t> des technischen </a:t>
            </a:r>
            <a:r>
              <a:rPr lang="de-DE" baseline="0" dirty="0" err="1" smtClean="0"/>
              <a:t>potenzials</a:t>
            </a:r>
            <a:r>
              <a:rPr lang="de-DE" baseline="0" dirty="0" smtClean="0"/>
              <a:t> das unter ökonomischen </a:t>
            </a:r>
            <a:r>
              <a:rPr lang="de-DE" baseline="0" dirty="0" err="1" smtClean="0"/>
              <a:t>bedigungen</a:t>
            </a:r>
            <a:r>
              <a:rPr lang="de-DE" baseline="0" dirty="0" smtClean="0"/>
              <a:t> erschlossen werden kann</a:t>
            </a:r>
          </a:p>
          <a:p>
            <a:r>
              <a:rPr lang="de-DE" baseline="0" dirty="0" smtClean="0"/>
              <a:t>Nachhaltiges : ergänzt technische und </a:t>
            </a:r>
            <a:r>
              <a:rPr lang="de-DE" baseline="0" dirty="0" err="1" smtClean="0"/>
              <a:t>wirtschfatliche</a:t>
            </a:r>
            <a:r>
              <a:rPr lang="de-DE" baseline="0" dirty="0" smtClean="0"/>
              <a:t> um </a:t>
            </a:r>
            <a:r>
              <a:rPr lang="de-DE" baseline="0" dirty="0" err="1" smtClean="0"/>
              <a:t>biodiversität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landschaftsbild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bodenschutz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etc</a:t>
            </a:r>
            <a:r>
              <a:rPr lang="de-DE" baseline="0" dirty="0" smtClean="0"/>
              <a:t> (kann gleich sein mit technisch)</a:t>
            </a:r>
          </a:p>
          <a:p>
            <a:r>
              <a:rPr lang="de-DE" baseline="0" dirty="0" smtClean="0"/>
              <a:t>Erschließbares: real nutzbarer Teil des wirtschaftlichen Potenzials, unter </a:t>
            </a:r>
            <a:r>
              <a:rPr lang="de-DE" baseline="0" dirty="0" err="1" smtClean="0"/>
              <a:t>berücksichtigung</a:t>
            </a:r>
            <a:r>
              <a:rPr lang="de-DE" baseline="0" dirty="0" smtClean="0"/>
              <a:t> gesellschaftlicher, </a:t>
            </a:r>
            <a:r>
              <a:rPr lang="de-DE" baseline="0" dirty="0" err="1" smtClean="0"/>
              <a:t>politischwer</a:t>
            </a:r>
            <a:r>
              <a:rPr lang="de-DE" baseline="0" dirty="0" smtClean="0"/>
              <a:t> und organisatorischen Bedingungen. </a:t>
            </a:r>
          </a:p>
          <a:p>
            <a:endParaRPr lang="de-DE" baseline="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0593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Zur allgemeinen </a:t>
            </a:r>
            <a:r>
              <a:rPr lang="de-DE" dirty="0" err="1" smtClean="0"/>
              <a:t>Überischt</a:t>
            </a:r>
            <a:r>
              <a:rPr lang="de-DE" dirty="0" smtClean="0"/>
              <a:t> möchte ich einmal die verschiedenen</a:t>
            </a:r>
            <a:r>
              <a:rPr lang="de-DE" baseline="0" dirty="0" smtClean="0"/>
              <a:t> Nutzungspfade von </a:t>
            </a:r>
            <a:r>
              <a:rPr lang="de-DE" baseline="0" dirty="0" err="1" smtClean="0"/>
              <a:t>Biomasssen</a:t>
            </a:r>
            <a:r>
              <a:rPr lang="de-DE" baseline="0" dirty="0" smtClean="0"/>
              <a:t> aufzeigen. </a:t>
            </a:r>
            <a:br>
              <a:rPr lang="de-DE" baseline="0" dirty="0" smtClean="0"/>
            </a:br>
            <a:r>
              <a:rPr lang="de-DE" baseline="0" dirty="0" smtClean="0"/>
              <a:t/>
            </a:r>
            <a:br>
              <a:rPr lang="de-DE" baseline="0" dirty="0" smtClean="0"/>
            </a:br>
            <a:r>
              <a:rPr lang="de-DE" baseline="0" dirty="0" smtClean="0"/>
              <a:t>Nicht alle Kategorien und Nutzungspfade sind in dem </a:t>
            </a:r>
            <a:r>
              <a:rPr lang="de-DE" baseline="0" dirty="0" err="1" smtClean="0"/>
              <a:t>detail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bsiher</a:t>
            </a:r>
            <a:r>
              <a:rPr lang="de-DE" baseline="0" dirty="0" smtClean="0"/>
              <a:t> im Modell </a:t>
            </a:r>
            <a:r>
              <a:rPr lang="de-DE" baseline="0" dirty="0" err="1" smtClean="0"/>
              <a:t>abegbildet</a:t>
            </a:r>
            <a:r>
              <a:rPr lang="de-DE" baseline="0" dirty="0" smtClean="0"/>
              <a:t>. </a:t>
            </a:r>
            <a:br>
              <a:rPr lang="de-DE" baseline="0" dirty="0" smtClean="0"/>
            </a:br>
            <a:r>
              <a:rPr lang="de-DE" baseline="0" dirty="0" smtClean="0"/>
              <a:t>Ich habe mir auch erstmal die wichtigsten Kategorien und Nutzungswege herausgesucht. Im weitere Verlauf werden </a:t>
            </a:r>
            <a:r>
              <a:rPr lang="de-DE" baseline="0" dirty="0" err="1" smtClean="0"/>
              <a:t>ncoh</a:t>
            </a:r>
            <a:r>
              <a:rPr lang="de-DE" baseline="0" dirty="0" smtClean="0"/>
              <a:t> weitere Analysen folgen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1088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9897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Folgende Biomassekategorien wurden untersucht:</a:t>
            </a:r>
          </a:p>
          <a:p>
            <a:r>
              <a:rPr lang="de-DE" dirty="0" smtClean="0"/>
              <a:t>Zu den Tierischen</a:t>
            </a:r>
            <a:r>
              <a:rPr lang="de-DE" baseline="0" dirty="0" smtClean="0"/>
              <a:t> Exkremente zählen: Gülle, Jauche und Mist von Rindern, Kühen, </a:t>
            </a:r>
            <a:r>
              <a:rPr lang="de-DE" baseline="0" dirty="0" err="1" smtClean="0"/>
              <a:t>Schweinen,Hühner</a:t>
            </a:r>
            <a:r>
              <a:rPr lang="de-DE" baseline="0" dirty="0" smtClean="0"/>
              <a:t>, Pferden, Ziegen, Schafe und weiteres Geflügel.</a:t>
            </a:r>
          </a:p>
          <a:p>
            <a:endParaRPr lang="de-DE" baseline="0" dirty="0" smtClean="0"/>
          </a:p>
          <a:p>
            <a:r>
              <a:rPr lang="de-DE" baseline="0" dirty="0" smtClean="0"/>
              <a:t>Für die Energiepflanzen wurde zunächst </a:t>
            </a:r>
            <a:r>
              <a:rPr lang="de-DE" baseline="0" dirty="0" err="1" smtClean="0"/>
              <a:t>unteruscht</a:t>
            </a:r>
            <a:r>
              <a:rPr lang="de-DE" baseline="0" dirty="0" smtClean="0"/>
              <a:t>, welche </a:t>
            </a:r>
            <a:r>
              <a:rPr lang="de-DE" baseline="0" dirty="0" err="1" smtClean="0"/>
              <a:t>Energeipflanzen</a:t>
            </a:r>
            <a:r>
              <a:rPr lang="de-DE" baseline="0" dirty="0" smtClean="0"/>
              <a:t> in Thüringen </a:t>
            </a:r>
            <a:r>
              <a:rPr lang="de-DE" baseline="0" dirty="0" err="1" smtClean="0"/>
              <a:t>einegestzt</a:t>
            </a:r>
            <a:r>
              <a:rPr lang="de-DE" baseline="0" dirty="0" smtClean="0"/>
              <a:t> werden, dazu zählen Mais, Getreide, GPS, Grassilage und Zuckerrüben. ( schaut man sich die </a:t>
            </a:r>
            <a:r>
              <a:rPr lang="de-DE" baseline="0" dirty="0" err="1" smtClean="0"/>
              <a:t>nutzung</a:t>
            </a:r>
            <a:r>
              <a:rPr lang="de-DE" baseline="0" dirty="0" smtClean="0"/>
              <a:t> in Biogasanlagen an, wird in Thüringen der </a:t>
            </a:r>
            <a:r>
              <a:rPr lang="de-DE" baseline="0" dirty="0" err="1" smtClean="0"/>
              <a:t>großteil</a:t>
            </a:r>
            <a:r>
              <a:rPr lang="de-DE" baseline="0" dirty="0" smtClean="0"/>
              <a:t> durch tierische </a:t>
            </a:r>
            <a:r>
              <a:rPr lang="de-DE" baseline="0" dirty="0" err="1" smtClean="0"/>
              <a:t>exkremente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abgegedekct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eta</a:t>
            </a:r>
            <a:r>
              <a:rPr lang="de-DE" baseline="0" dirty="0" smtClean="0"/>
              <a:t> 70 %) und nur 30 % </a:t>
            </a:r>
            <a:r>
              <a:rPr lang="de-DE" baseline="0" dirty="0" err="1" smtClean="0"/>
              <a:t>entsammen</a:t>
            </a:r>
            <a:r>
              <a:rPr lang="de-DE" baseline="0" dirty="0" smtClean="0"/>
              <a:t> aus energiepflanzen</a:t>
            </a:r>
          </a:p>
          <a:p>
            <a:endParaRPr lang="de-DE" baseline="0" dirty="0" smtClean="0"/>
          </a:p>
          <a:p>
            <a:r>
              <a:rPr lang="de-DE" baseline="0" dirty="0" smtClean="0"/>
              <a:t>Ebenfalls wird Bioabfall aus privaten Haushalten sowie </a:t>
            </a:r>
            <a:r>
              <a:rPr lang="de-DE" baseline="0" dirty="0" err="1" smtClean="0"/>
              <a:t>dder</a:t>
            </a:r>
            <a:r>
              <a:rPr lang="de-DE" baseline="0" dirty="0" smtClean="0"/>
              <a:t> Grünabfall/Grünschnitt </a:t>
            </a:r>
            <a:r>
              <a:rPr lang="de-DE" baseline="0" dirty="0" err="1" smtClean="0"/>
              <a:t>unteruscht</a:t>
            </a:r>
            <a:r>
              <a:rPr lang="de-DE" baseline="0" dirty="0" smtClean="0"/>
              <a:t>.  Sowie Restmüll(Hausmüll) und </a:t>
            </a:r>
            <a:r>
              <a:rPr lang="de-DE" baseline="0" dirty="0" err="1" smtClean="0"/>
              <a:t>Spernmüll</a:t>
            </a:r>
            <a:r>
              <a:rPr lang="de-DE" baseline="0" dirty="0" smtClean="0"/>
              <a:t>. </a:t>
            </a:r>
          </a:p>
          <a:p>
            <a:r>
              <a:rPr lang="de-DE" baseline="0" dirty="0" smtClean="0"/>
              <a:t>Außerdem wird das Potenzial von Stroh ermittelt, dazu zählt vor allem Getreidestroh und Rapsstroh. Aber denkbar wären auch </a:t>
            </a:r>
            <a:r>
              <a:rPr lang="de-DE" baseline="0" dirty="0" err="1" smtClean="0"/>
              <a:t>Masistroh</a:t>
            </a:r>
            <a:r>
              <a:rPr lang="de-DE" baseline="0" dirty="0" smtClean="0"/>
              <a:t>, Sonnenblumenstroh</a:t>
            </a:r>
          </a:p>
          <a:p>
            <a:endParaRPr lang="de-DE" baseline="0" dirty="0" smtClean="0"/>
          </a:p>
          <a:p>
            <a:r>
              <a:rPr lang="de-DE" baseline="0" dirty="0" smtClean="0"/>
              <a:t>Für die Biomassekategorien </a:t>
            </a:r>
            <a:r>
              <a:rPr lang="de-DE" baseline="0" dirty="0" err="1" smtClean="0"/>
              <a:t>wurdne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unteruschen</a:t>
            </a:r>
            <a:r>
              <a:rPr lang="de-DE" baseline="0" dirty="0" smtClean="0"/>
              <a:t> zu Energieholz (Scheitholz </a:t>
            </a:r>
            <a:r>
              <a:rPr lang="de-DE" baseline="0" dirty="0" err="1" smtClean="0"/>
              <a:t>etc</a:t>
            </a:r>
            <a:r>
              <a:rPr lang="de-DE" baseline="0" dirty="0" smtClean="0"/>
              <a:t>), Waldrestholz, </a:t>
            </a:r>
            <a:r>
              <a:rPr lang="de-DE" baseline="0" dirty="0" err="1" smtClean="0"/>
              <a:t>altholz</a:t>
            </a:r>
            <a:r>
              <a:rPr lang="de-DE" baseline="0" dirty="0" smtClean="0"/>
              <a:t>, Industrierestholz, und Rinde gemacht. </a:t>
            </a:r>
          </a:p>
          <a:p>
            <a:endParaRPr lang="de-DE" baseline="0" dirty="0" smtClean="0"/>
          </a:p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2641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Brosowski</a:t>
            </a:r>
            <a:r>
              <a:rPr lang="de-DE" dirty="0" smtClean="0"/>
              <a:t> entwickelte eine </a:t>
            </a:r>
            <a:r>
              <a:rPr lang="de-DE" dirty="0" err="1" smtClean="0"/>
              <a:t>Methdoik</a:t>
            </a:r>
            <a:r>
              <a:rPr lang="de-DE" dirty="0" smtClean="0"/>
              <a:t> um das </a:t>
            </a:r>
            <a:r>
              <a:rPr lang="de-DE" dirty="0" err="1" smtClean="0"/>
              <a:t>Potenzail</a:t>
            </a:r>
            <a:r>
              <a:rPr lang="de-DE" dirty="0" smtClean="0"/>
              <a:t> von Abfall</a:t>
            </a:r>
            <a:r>
              <a:rPr lang="de-DE" baseline="0" dirty="0" smtClean="0"/>
              <a:t> und Reststoffe zu analysieren. Bisher gab es keine einheitliche Methodik. </a:t>
            </a:r>
            <a:br>
              <a:rPr lang="de-DE" baseline="0" dirty="0" smtClean="0"/>
            </a:br>
            <a:r>
              <a:rPr lang="de-DE" baseline="0" dirty="0" smtClean="0"/>
              <a:t>Dabei </a:t>
            </a:r>
            <a:r>
              <a:rPr lang="de-DE" baseline="0" dirty="0" err="1" smtClean="0"/>
              <a:t>unteruschte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Brosowski</a:t>
            </a:r>
            <a:r>
              <a:rPr lang="de-DE" baseline="0" dirty="0" smtClean="0"/>
              <a:t> 77 verschiedene Biomassekategorien. Die </a:t>
            </a:r>
            <a:r>
              <a:rPr lang="de-DE" baseline="0" dirty="0" err="1" smtClean="0"/>
              <a:t>Ergebnise</a:t>
            </a:r>
            <a:r>
              <a:rPr lang="de-DE" baseline="0" dirty="0" smtClean="0"/>
              <a:t> von </a:t>
            </a:r>
            <a:r>
              <a:rPr lang="de-DE" baseline="0" dirty="0" err="1" smtClean="0"/>
              <a:t>Brosowski</a:t>
            </a:r>
            <a:r>
              <a:rPr lang="de-DE" baseline="0" dirty="0" smtClean="0"/>
              <a:t> mündetet dann in den </a:t>
            </a:r>
            <a:r>
              <a:rPr lang="de-DE" baseline="0" dirty="0" err="1" smtClean="0"/>
              <a:t>Flowcharts</a:t>
            </a:r>
            <a:r>
              <a:rPr lang="de-DE" baseline="0" dirty="0" smtClean="0"/>
              <a:t> vom DBFZ </a:t>
            </a:r>
            <a:r>
              <a:rPr lang="de-DE" baseline="0" dirty="0" err="1" smtClean="0"/>
              <a:t>sowue</a:t>
            </a:r>
            <a:r>
              <a:rPr lang="de-DE" baseline="0" dirty="0" smtClean="0"/>
              <a:t> als Grundlage für die digitale Plattform des DBFZ. </a:t>
            </a:r>
            <a:br>
              <a:rPr lang="de-DE" baseline="0" dirty="0" smtClean="0"/>
            </a:br>
            <a:r>
              <a:rPr lang="de-DE" baseline="0" dirty="0" smtClean="0"/>
              <a:t>Alle Analysen wurden für Deutschland gemacht.</a:t>
            </a:r>
          </a:p>
          <a:p>
            <a:r>
              <a:rPr lang="de-DE" baseline="0" dirty="0" smtClean="0"/>
              <a:t>Die </a:t>
            </a:r>
            <a:r>
              <a:rPr lang="de-DE" baseline="0" dirty="0" err="1" smtClean="0"/>
              <a:t>Flowcharts</a:t>
            </a:r>
            <a:r>
              <a:rPr lang="de-DE" baseline="0" dirty="0" smtClean="0"/>
              <a:t> visualisieren die verscheiden Berechnungsschritte, </a:t>
            </a:r>
            <a:r>
              <a:rPr lang="de-DE" baseline="0" dirty="0" err="1" smtClean="0"/>
              <a:t>leifern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Qullen</a:t>
            </a:r>
            <a:r>
              <a:rPr lang="de-DE" baseline="0" dirty="0" smtClean="0"/>
              <a:t> und Daten Hinweise. Diese </a:t>
            </a:r>
            <a:r>
              <a:rPr lang="de-DE" baseline="0" dirty="0" err="1" smtClean="0"/>
              <a:t>Berechnungsmethdoik</a:t>
            </a:r>
            <a:r>
              <a:rPr lang="de-DE" baseline="0" dirty="0" smtClean="0"/>
              <a:t> wurde mit leichten Änderungen auch für Thüringen </a:t>
            </a:r>
            <a:r>
              <a:rPr lang="de-DE" baseline="0" dirty="0" err="1" smtClean="0"/>
              <a:t>angwendet</a:t>
            </a:r>
            <a:r>
              <a:rPr lang="de-DE" baseline="0" dirty="0" smtClean="0"/>
              <a:t>. Dazu Bedarfs es zunächst eine Datenrecherche. Es müssen Daten zu tierzahlen,. Ernteerträgen, Abfallbilanz </a:t>
            </a:r>
            <a:r>
              <a:rPr lang="de-DE" baseline="0" dirty="0" err="1" smtClean="0"/>
              <a:t>etc</a:t>
            </a:r>
            <a:r>
              <a:rPr lang="de-DE" baseline="0" dirty="0" smtClean="0"/>
              <a:t> gemacht werden. Au0erdem müssen </a:t>
            </a:r>
            <a:r>
              <a:rPr lang="de-DE" baseline="0" dirty="0" err="1" smtClean="0"/>
              <a:t>evrschiedene</a:t>
            </a:r>
            <a:r>
              <a:rPr lang="de-DE" baseline="0" dirty="0" smtClean="0"/>
              <a:t> Paramater herausgefunden werden wie in der nächsten </a:t>
            </a:r>
            <a:r>
              <a:rPr lang="de-DE" baseline="0" dirty="0" err="1" smtClean="0"/>
              <a:t>folie</a:t>
            </a:r>
            <a:r>
              <a:rPr lang="de-DE" baseline="0" dirty="0" smtClean="0"/>
              <a:t> gezeigt.</a:t>
            </a:r>
          </a:p>
          <a:p>
            <a:r>
              <a:rPr lang="de-DE" baseline="0" dirty="0" smtClean="0"/>
              <a:t>SO sieht so ein </a:t>
            </a:r>
            <a:r>
              <a:rPr lang="de-DE" baseline="0" dirty="0" err="1" smtClean="0"/>
              <a:t>Flwochart</a:t>
            </a:r>
            <a:r>
              <a:rPr lang="de-DE" baseline="0" dirty="0" smtClean="0"/>
              <a:t> aus. </a:t>
            </a:r>
            <a:br>
              <a:rPr lang="de-DE" baseline="0" dirty="0" smtClean="0"/>
            </a:br>
            <a:r>
              <a:rPr lang="de-DE" baseline="0" dirty="0" smtClean="0"/>
              <a:t>Für </a:t>
            </a:r>
            <a:r>
              <a:rPr lang="de-DE" baseline="0" dirty="0" err="1" smtClean="0"/>
              <a:t>Thrüignen</a:t>
            </a:r>
            <a:r>
              <a:rPr lang="de-DE" baseline="0" dirty="0" smtClean="0"/>
              <a:t> gibt es </a:t>
            </a:r>
            <a:r>
              <a:rPr lang="de-DE" baseline="0" dirty="0" err="1" smtClean="0"/>
              <a:t>antürlich</a:t>
            </a:r>
            <a:r>
              <a:rPr lang="de-DE" baseline="0" dirty="0" smtClean="0"/>
              <a:t> spezifischere Quellen, aber im </a:t>
            </a:r>
            <a:r>
              <a:rPr lang="de-DE" baseline="0" dirty="0" err="1" smtClean="0"/>
              <a:t>grunde</a:t>
            </a:r>
            <a:r>
              <a:rPr lang="de-DE" baseline="0" dirty="0" smtClean="0"/>
              <a:t> folge ich </a:t>
            </a:r>
            <a:r>
              <a:rPr lang="de-DE" baseline="0" dirty="0" err="1" smtClean="0"/>
              <a:t>disem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schemata</a:t>
            </a:r>
            <a:r>
              <a:rPr lang="de-DE" baseline="0" dirty="0" smtClean="0"/>
              <a:t>. Alle Berechnungen werden in Python durchgeführt. Das Skript wird dokumentiert und </a:t>
            </a:r>
            <a:r>
              <a:rPr lang="de-DE" baseline="0" dirty="0" err="1" smtClean="0"/>
              <a:t>Und</a:t>
            </a:r>
            <a:r>
              <a:rPr lang="de-DE" baseline="0" dirty="0" smtClean="0"/>
              <a:t> alle benötigten </a:t>
            </a:r>
            <a:r>
              <a:rPr lang="de-DE" baseline="0" dirty="0" err="1" smtClean="0"/>
              <a:t>parameter</a:t>
            </a:r>
            <a:r>
              <a:rPr lang="de-DE" baseline="0" dirty="0" smtClean="0"/>
              <a:t> und Daten befinden sich in einer </a:t>
            </a:r>
            <a:r>
              <a:rPr lang="de-DE" baseline="0" dirty="0" err="1" smtClean="0"/>
              <a:t>excel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datei</a:t>
            </a:r>
            <a:r>
              <a:rPr lang="de-DE" baseline="0" dirty="0" smtClean="0"/>
              <a:t>, somit ist das Skript anwendbar auf andere </a:t>
            </a:r>
            <a:r>
              <a:rPr lang="de-DE" baseline="0" dirty="0" err="1" smtClean="0"/>
              <a:t>regionen</a:t>
            </a:r>
            <a:r>
              <a:rPr lang="de-DE" baseline="0" dirty="0" smtClean="0"/>
              <a:t>, da nur die datensäte angepasst werden müssen.</a:t>
            </a:r>
          </a:p>
          <a:p>
            <a:endParaRPr lang="de-DE" baseline="0" dirty="0" smtClean="0"/>
          </a:p>
          <a:p>
            <a:r>
              <a:rPr lang="de-DE" baseline="0" dirty="0" smtClean="0"/>
              <a:t>Die Ergebnisse die </a:t>
            </a:r>
            <a:r>
              <a:rPr lang="de-DE" baseline="0" dirty="0" err="1" smtClean="0"/>
              <a:t>ermittel</a:t>
            </a:r>
            <a:r>
              <a:rPr lang="de-DE" baseline="0" dirty="0" smtClean="0"/>
              <a:t> werden geben das theoretische Bioenergiepotential wieder. </a:t>
            </a:r>
            <a:br>
              <a:rPr lang="de-DE" baseline="0" dirty="0" smtClean="0"/>
            </a:br>
            <a:r>
              <a:rPr lang="de-DE" baseline="0" dirty="0" smtClean="0"/>
              <a:t>Also es wurde zunächst das theoretische Biomassepotential ermittelt, </a:t>
            </a:r>
            <a:r>
              <a:rPr lang="de-DE" baseline="0" dirty="0" err="1" smtClean="0"/>
              <a:t>anahnd</a:t>
            </a:r>
            <a:r>
              <a:rPr lang="de-DE" baseline="0" dirty="0" smtClean="0"/>
              <a:t> von ernte und </a:t>
            </a:r>
            <a:r>
              <a:rPr lang="de-DE" baseline="0" dirty="0" err="1" smtClean="0"/>
              <a:t>ebrgungsverlusten</a:t>
            </a:r>
            <a:r>
              <a:rPr lang="de-DE" baseline="0" dirty="0" smtClean="0"/>
              <a:t> kann das technische Biomassepotenzial bestimmt werden. </a:t>
            </a:r>
            <a:br>
              <a:rPr lang="de-DE" baseline="0" dirty="0" smtClean="0"/>
            </a:br>
            <a:r>
              <a:rPr lang="de-DE" baseline="0" dirty="0" smtClean="0"/>
              <a:t>Dann wird das theoretische Bioenergieträgerpotenzial bestimmt: für die Vergärungen müssend </a:t>
            </a:r>
            <a:r>
              <a:rPr lang="de-DE" baseline="0" dirty="0" err="1" smtClean="0"/>
              <a:t>afür</a:t>
            </a:r>
            <a:r>
              <a:rPr lang="de-DE" baseline="0" dirty="0" smtClean="0"/>
              <a:t> die </a:t>
            </a:r>
            <a:r>
              <a:rPr lang="de-DE" baseline="0" dirty="0" err="1" smtClean="0"/>
              <a:t>biomassen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biogas</a:t>
            </a:r>
            <a:r>
              <a:rPr lang="de-DE" baseline="0" dirty="0" smtClean="0"/>
              <a:t> umgewandelt werden, für die </a:t>
            </a:r>
            <a:r>
              <a:rPr lang="de-DE" baseline="0" dirty="0" err="1" smtClean="0"/>
              <a:t>verbrennungsprodukte</a:t>
            </a:r>
            <a:r>
              <a:rPr lang="de-DE" baseline="0" dirty="0" smtClean="0"/>
              <a:t> wird angenommen, dass das technische biomassepotenzial dem </a:t>
            </a:r>
            <a:r>
              <a:rPr lang="de-DE" baseline="0" dirty="0" err="1" smtClean="0"/>
              <a:t>tehoretischen</a:t>
            </a:r>
            <a:r>
              <a:rPr lang="de-DE" baseline="0" dirty="0" smtClean="0"/>
              <a:t> bioenergieträgerpotenzial entspricht. Anschließend wird über die Heizwerte von Biomethan </a:t>
            </a:r>
            <a:r>
              <a:rPr lang="de-DE" baseline="0" dirty="0" err="1" smtClean="0"/>
              <a:t>bzw</a:t>
            </a:r>
            <a:r>
              <a:rPr lang="de-DE" baseline="0" dirty="0" smtClean="0"/>
              <a:t> der </a:t>
            </a:r>
            <a:r>
              <a:rPr lang="de-DE" baseline="0" dirty="0" err="1" smtClean="0"/>
              <a:t>verbrennunsgprodukte</a:t>
            </a:r>
            <a:r>
              <a:rPr lang="de-DE" baseline="0" dirty="0" smtClean="0"/>
              <a:t> das theoretische </a:t>
            </a:r>
            <a:r>
              <a:rPr lang="de-DE" baseline="0" dirty="0" err="1" smtClean="0"/>
              <a:t>Bioeenrgiepotenzial</a:t>
            </a:r>
            <a:r>
              <a:rPr lang="de-DE" baseline="0" dirty="0" smtClean="0"/>
              <a:t> berechnet. </a:t>
            </a:r>
            <a:br>
              <a:rPr lang="de-DE" baseline="0" dirty="0" smtClean="0"/>
            </a:br>
            <a:r>
              <a:rPr lang="de-DE" baseline="0" dirty="0" smtClean="0"/>
              <a:t>Für das technische Bioenergiepotenzial müssen noch die Verluste in der </a:t>
            </a:r>
            <a:r>
              <a:rPr lang="de-DE" baseline="0" dirty="0" err="1" smtClean="0"/>
              <a:t>Biogasanalge</a:t>
            </a:r>
            <a:r>
              <a:rPr lang="de-DE" baseline="0" dirty="0" smtClean="0"/>
              <a:t>, sowie der </a:t>
            </a:r>
            <a:r>
              <a:rPr lang="de-DE" baseline="0" dirty="0" err="1" smtClean="0"/>
              <a:t>verbrennungstechnologie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ebrücksichtigt</a:t>
            </a:r>
            <a:r>
              <a:rPr lang="de-DE" baseline="0" dirty="0" smtClean="0"/>
              <a:t> werden (</a:t>
            </a:r>
            <a:r>
              <a:rPr lang="de-DE" baseline="0" dirty="0" err="1" smtClean="0"/>
              <a:t>Wirkunsggarde</a:t>
            </a:r>
            <a:r>
              <a:rPr lang="de-DE" baseline="0" dirty="0" smtClean="0"/>
              <a:t>) Dies habe ich bisher außen vor gelassen, da die </a:t>
            </a:r>
            <a:r>
              <a:rPr lang="de-DE" baseline="0" dirty="0" err="1" smtClean="0"/>
              <a:t>Wirkunsggrade</a:t>
            </a:r>
            <a:r>
              <a:rPr lang="de-DE" baseline="0" dirty="0" smtClean="0"/>
              <a:t> im </a:t>
            </a:r>
            <a:r>
              <a:rPr lang="de-DE" baseline="0" dirty="0" err="1" smtClean="0"/>
              <a:t>Energeisystemmodell</a:t>
            </a:r>
            <a:r>
              <a:rPr lang="de-DE" baseline="0" dirty="0" smtClean="0"/>
              <a:t> bereits </a:t>
            </a:r>
            <a:r>
              <a:rPr lang="de-DE" baseline="0" dirty="0" err="1" smtClean="0"/>
              <a:t>intigriert</a:t>
            </a:r>
            <a:r>
              <a:rPr lang="de-DE" baseline="0" dirty="0" smtClean="0"/>
              <a:t> sind und auf die Bioenergieträger angewendet werden können. </a:t>
            </a:r>
            <a:br>
              <a:rPr lang="de-DE" baseline="0" dirty="0" smtClean="0"/>
            </a:b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839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Für die Berechnungen </a:t>
            </a:r>
            <a:r>
              <a:rPr lang="de-DE" dirty="0" err="1" smtClean="0"/>
              <a:t>mseen</a:t>
            </a:r>
            <a:r>
              <a:rPr lang="de-DE" dirty="0" smtClean="0"/>
              <a:t> viele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parameter</a:t>
            </a:r>
            <a:r>
              <a:rPr lang="de-DE" baseline="0" dirty="0" smtClean="0"/>
              <a:t> festgelegt werden. </a:t>
            </a:r>
            <a:br>
              <a:rPr lang="de-DE" baseline="0" dirty="0" smtClean="0"/>
            </a:br>
            <a:r>
              <a:rPr lang="de-DE" baseline="0" dirty="0" smtClean="0"/>
              <a:t>Meine </a:t>
            </a:r>
            <a:r>
              <a:rPr lang="de-DE" baseline="0" dirty="0" err="1" smtClean="0"/>
              <a:t>Berchnungen</a:t>
            </a:r>
            <a:r>
              <a:rPr lang="de-DE" baseline="0" dirty="0" smtClean="0"/>
              <a:t> habe ich immer min Minimum und Maximum werten </a:t>
            </a:r>
            <a:r>
              <a:rPr lang="de-DE" baseline="0" dirty="0" err="1" smtClean="0"/>
              <a:t>durhcegführt</a:t>
            </a:r>
            <a:r>
              <a:rPr lang="de-DE" baseline="0" dirty="0" smtClean="0"/>
              <a:t>. Da es gerade bei der Bioenergie keine genauen Zahlen gibt und viele </a:t>
            </a:r>
            <a:r>
              <a:rPr lang="de-DE" baseline="0" dirty="0" err="1" smtClean="0"/>
              <a:t>Paramter</a:t>
            </a:r>
            <a:r>
              <a:rPr lang="de-DE" baseline="0" dirty="0" smtClean="0"/>
              <a:t> von biologischen Prozessen, Feuchtegehalten </a:t>
            </a:r>
            <a:r>
              <a:rPr lang="de-DE" baseline="0" dirty="0" err="1" smtClean="0"/>
              <a:t>etc</a:t>
            </a:r>
            <a:r>
              <a:rPr lang="de-DE" baseline="0" dirty="0" smtClean="0"/>
              <a:t> abhängen. </a:t>
            </a:r>
          </a:p>
          <a:p>
            <a:r>
              <a:rPr lang="de-DE" dirty="0" smtClean="0"/>
              <a:t>Hier in der </a:t>
            </a:r>
            <a:r>
              <a:rPr lang="de-DE" dirty="0" err="1" smtClean="0"/>
              <a:t>präsentation</a:t>
            </a:r>
            <a:r>
              <a:rPr lang="de-DE" baseline="0" dirty="0" smtClean="0"/>
              <a:t> zeige ich </a:t>
            </a:r>
            <a:r>
              <a:rPr lang="de-DE" baseline="0" dirty="0" err="1" smtClean="0"/>
              <a:t>ejdoch</a:t>
            </a:r>
            <a:r>
              <a:rPr lang="de-DE" baseline="0" dirty="0" smtClean="0"/>
              <a:t> nur die Mittelwerte um es einfacher zu </a:t>
            </a:r>
            <a:r>
              <a:rPr lang="de-DE" baseline="0" dirty="0" err="1" smtClean="0"/>
              <a:t>ahlten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4322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1422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3830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6367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Wie kommen die Unterschiede zu </a:t>
            </a:r>
            <a:r>
              <a:rPr lang="de-DE" dirty="0" err="1" smtClean="0"/>
              <a:t>stande</a:t>
            </a:r>
            <a:r>
              <a:rPr lang="de-DE" dirty="0" smtClean="0"/>
              <a:t>?</a:t>
            </a:r>
            <a:r>
              <a:rPr lang="de-DE" baseline="0" dirty="0" smtClean="0"/>
              <a:t> </a:t>
            </a:r>
            <a:br>
              <a:rPr lang="de-DE" baseline="0" dirty="0" smtClean="0"/>
            </a:br>
            <a:r>
              <a:rPr lang="de-DE" baseline="0" dirty="0" smtClean="0"/>
              <a:t>Ganz klar in den </a:t>
            </a:r>
            <a:r>
              <a:rPr lang="de-DE" baseline="0" dirty="0" err="1" smtClean="0"/>
              <a:t>Untershciedlichen</a:t>
            </a:r>
            <a:r>
              <a:rPr lang="de-DE" baseline="0" dirty="0" smtClean="0"/>
              <a:t> Parameter Annahmen und aufgrund des detaillierungsgrades. </a:t>
            </a:r>
            <a:br>
              <a:rPr lang="de-DE" baseline="0" dirty="0" smtClean="0"/>
            </a:br>
            <a:r>
              <a:rPr lang="de-DE" baseline="0" dirty="0" smtClean="0"/>
              <a:t/>
            </a:r>
            <a:br>
              <a:rPr lang="de-DE" baseline="0" dirty="0" smtClean="0"/>
            </a:br>
            <a:r>
              <a:rPr lang="de-DE" baseline="0" dirty="0" smtClean="0"/>
              <a:t>Bei Holz wurde eine andere </a:t>
            </a:r>
            <a:r>
              <a:rPr lang="de-DE" baseline="0" dirty="0" err="1" smtClean="0"/>
              <a:t>vorgehensweise</a:t>
            </a:r>
            <a:r>
              <a:rPr lang="de-DE" baseline="0" dirty="0" smtClean="0"/>
              <a:t> gewählt, daher kommt es hier zu unterschieden. In </a:t>
            </a:r>
            <a:r>
              <a:rPr lang="de-DE" baseline="0" dirty="0" err="1" smtClean="0"/>
              <a:t>zorro</a:t>
            </a:r>
            <a:r>
              <a:rPr lang="de-DE" baseline="0" dirty="0" smtClean="0"/>
              <a:t> wurde das holz potenzial über den jährlichen </a:t>
            </a:r>
            <a:r>
              <a:rPr lang="de-DE" baseline="0" dirty="0" err="1" smtClean="0"/>
              <a:t>holzuzuwachss</a:t>
            </a:r>
            <a:r>
              <a:rPr lang="de-DE" baseline="0" dirty="0" smtClean="0"/>
              <a:t> auf der nutzbaren </a:t>
            </a:r>
            <a:r>
              <a:rPr lang="de-DE" baseline="0" dirty="0" err="1" smtClean="0"/>
              <a:t>waldfläche</a:t>
            </a:r>
            <a:r>
              <a:rPr lang="de-DE" baseline="0" dirty="0" smtClean="0"/>
              <a:t> ermittelt. Ich habe aber mir die genauen erntemengen angeschaut und habe mithilfe des </a:t>
            </a:r>
            <a:r>
              <a:rPr lang="de-DE" baseline="0" dirty="0" err="1" smtClean="0"/>
              <a:t>rohstoffmonitoring</a:t>
            </a:r>
            <a:r>
              <a:rPr lang="de-DE" baseline="0" dirty="0" smtClean="0"/>
              <a:t> von </a:t>
            </a:r>
            <a:r>
              <a:rPr lang="de-DE" baseline="0" dirty="0" err="1" smtClean="0"/>
              <a:t>Mantau</a:t>
            </a:r>
            <a:r>
              <a:rPr lang="de-DE" baseline="0" dirty="0" smtClean="0"/>
              <a:t> von 2023 die einzelnen </a:t>
            </a:r>
            <a:r>
              <a:rPr lang="de-DE" baseline="0" dirty="0" err="1" smtClean="0"/>
              <a:t>Menegnd</a:t>
            </a:r>
            <a:r>
              <a:rPr lang="de-DE" baseline="0" dirty="0" smtClean="0"/>
              <a:t> er Kategorien </a:t>
            </a:r>
            <a:r>
              <a:rPr lang="de-DE" baseline="0" dirty="0" err="1" smtClean="0"/>
              <a:t>sowied</a:t>
            </a:r>
            <a:r>
              <a:rPr lang="de-DE" baseline="0" dirty="0" smtClean="0"/>
              <a:t> er </a:t>
            </a:r>
            <a:r>
              <a:rPr lang="de-DE" baseline="0" dirty="0" err="1" smtClean="0"/>
              <a:t>enregtisch</a:t>
            </a:r>
            <a:r>
              <a:rPr lang="de-DE" baseline="0" dirty="0" smtClean="0"/>
              <a:t> Nutzbare teil bestimmt.</a:t>
            </a:r>
          </a:p>
          <a:p>
            <a:endParaRPr lang="de-DE" baseline="0" dirty="0" smtClean="0"/>
          </a:p>
          <a:p>
            <a:r>
              <a:rPr lang="de-DE" baseline="0" dirty="0" smtClean="0"/>
              <a:t>Bei den Energiepflanzen habe ich noch Getreide als Korn sowie Getreide als GPS  hinzugenommen und auch hier gibt es </a:t>
            </a:r>
            <a:r>
              <a:rPr lang="de-DE" baseline="0" dirty="0" err="1" smtClean="0"/>
              <a:t>unterhsciede</a:t>
            </a:r>
            <a:r>
              <a:rPr lang="de-DE" baseline="0" dirty="0" smtClean="0"/>
              <a:t> in den </a:t>
            </a:r>
            <a:r>
              <a:rPr lang="de-DE" baseline="0" dirty="0" err="1" smtClean="0"/>
              <a:t>parametern</a:t>
            </a:r>
            <a:r>
              <a:rPr lang="de-DE" baseline="0" dirty="0" smtClean="0"/>
              <a:t> wie </a:t>
            </a:r>
            <a:r>
              <a:rPr lang="de-DE" baseline="0" dirty="0" err="1" smtClean="0"/>
              <a:t>biogaserträge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etc</a:t>
            </a:r>
            <a:r>
              <a:rPr lang="de-DE" baseline="0" dirty="0" smtClean="0"/>
              <a:t>, aber ein größter </a:t>
            </a:r>
            <a:r>
              <a:rPr lang="de-DE" baseline="0" dirty="0" err="1" smtClean="0"/>
              <a:t>uNterschied</a:t>
            </a:r>
            <a:r>
              <a:rPr lang="de-DE" baseline="0" dirty="0" smtClean="0"/>
              <a:t> ist, dass ich die folgenden Restriktionen vorgenommen </a:t>
            </a:r>
            <a:r>
              <a:rPr lang="de-DE" baseline="0" dirty="0" err="1" smtClean="0"/>
              <a:t>ahbe</a:t>
            </a:r>
            <a:r>
              <a:rPr lang="de-DE" baseline="0" dirty="0" smtClean="0"/>
              <a:t>: max. 20 % der AF dürfen Energiepflanzen sein (aktuell sind es eher rund 10%) und auf maximal 8 % darf Mais als </a:t>
            </a:r>
            <a:r>
              <a:rPr lang="de-DE" baseline="0" dirty="0" err="1" smtClean="0"/>
              <a:t>enrgiepflanze</a:t>
            </a:r>
            <a:r>
              <a:rPr lang="de-DE" baseline="0" dirty="0" smtClean="0"/>
              <a:t> angebaut werden. [Neue </a:t>
            </a:r>
            <a:r>
              <a:rPr lang="de-DE" baseline="0" dirty="0" err="1" smtClean="0"/>
              <a:t>Energei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frü</a:t>
            </a:r>
            <a:r>
              <a:rPr lang="de-DE" baseline="0" dirty="0" smtClean="0"/>
              <a:t> Thüringen]</a:t>
            </a:r>
          </a:p>
          <a:p>
            <a:pPr algn="l"/>
            <a:endParaRPr lang="de-DE" baseline="0" dirty="0" smtClean="0"/>
          </a:p>
          <a:p>
            <a:pPr algn="l"/>
            <a:r>
              <a:rPr lang="de-DE" baseline="0" dirty="0" smtClean="0"/>
              <a:t>Für die Ermittlung des Stroh potenzial gibt es die </a:t>
            </a:r>
            <a:r>
              <a:rPr lang="de-DE" baseline="0" dirty="0" err="1" smtClean="0"/>
              <a:t>Ändeurng</a:t>
            </a:r>
            <a:r>
              <a:rPr lang="de-DE" baseline="0" dirty="0" smtClean="0"/>
              <a:t>, dass nur ein teil genutzt werden kann. Die strohmenge wird ebenfalls über </a:t>
            </a:r>
            <a:r>
              <a:rPr lang="de-DE" baseline="0" dirty="0" err="1" smtClean="0"/>
              <a:t>getreideerträge</a:t>
            </a:r>
            <a:r>
              <a:rPr lang="de-DE" baseline="0" dirty="0" smtClean="0"/>
              <a:t> und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korn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stroh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verhältnis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berehcnet</a:t>
            </a:r>
            <a:r>
              <a:rPr lang="de-DE" baseline="0" dirty="0" smtClean="0"/>
              <a:t>. Anschließend werden aber etwa 50 % des </a:t>
            </a:r>
            <a:r>
              <a:rPr lang="de-DE" baseline="0" dirty="0" err="1" smtClean="0"/>
              <a:t>strohs</a:t>
            </a:r>
            <a:r>
              <a:rPr lang="de-DE" baseline="0" dirty="0" smtClean="0"/>
              <a:t> auf dem </a:t>
            </a:r>
            <a:r>
              <a:rPr lang="de-DE" baseline="0" dirty="0" err="1" smtClean="0"/>
              <a:t>feld</a:t>
            </a:r>
            <a:r>
              <a:rPr lang="de-DE" baseline="0" dirty="0" smtClean="0"/>
              <a:t> für die </a:t>
            </a:r>
            <a:r>
              <a:rPr lang="de-DE" baseline="0" dirty="0" err="1" smtClean="0"/>
              <a:t>humusbilanz</a:t>
            </a:r>
            <a:r>
              <a:rPr lang="de-DE" baseline="0" dirty="0" smtClean="0"/>
              <a:t> gelassen und es können maximal 75 % des </a:t>
            </a:r>
            <a:r>
              <a:rPr lang="de-DE" baseline="0" dirty="0" err="1" smtClean="0"/>
              <a:t>stroh</a:t>
            </a:r>
            <a:r>
              <a:rPr lang="de-DE" baseline="0" dirty="0" smtClean="0"/>
              <a:t> überhaupt </a:t>
            </a:r>
            <a:r>
              <a:rPr lang="de-DE" baseline="0" dirty="0" err="1" smtClean="0"/>
              <a:t>geboregn</a:t>
            </a:r>
            <a:r>
              <a:rPr lang="de-DE" baseline="0" dirty="0" smtClean="0"/>
              <a:t> werden. Außerdem werden 30 % des zur </a:t>
            </a:r>
            <a:r>
              <a:rPr lang="de-DE" baseline="0" dirty="0" err="1" smtClean="0"/>
              <a:t>verfügungstehenden</a:t>
            </a:r>
            <a:r>
              <a:rPr lang="de-DE" baseline="0" dirty="0" smtClean="0"/>
              <a:t> Strohs für stoffliche</a:t>
            </a:r>
          </a:p>
          <a:p>
            <a:pPr algn="l"/>
            <a:r>
              <a:rPr lang="de-DE" baseline="0" dirty="0" smtClean="0"/>
              <a:t>Zwecke genutzt</a:t>
            </a:r>
          </a:p>
          <a:p>
            <a:pPr algn="l"/>
            <a:endParaRPr lang="de-DE" baseline="0" dirty="0" smtClean="0"/>
          </a:p>
          <a:p>
            <a:pPr algn="l"/>
            <a:r>
              <a:rPr lang="de-DE" baseline="0" dirty="0" smtClean="0"/>
              <a:t>Grassialge ist der selbe </a:t>
            </a:r>
            <a:r>
              <a:rPr lang="de-DE" baseline="0" dirty="0" err="1" smtClean="0"/>
              <a:t>vorgang</a:t>
            </a:r>
            <a:r>
              <a:rPr lang="de-DE" baseline="0" dirty="0" smtClean="0"/>
              <a:t>  bei mir wie bei den energiepflanzen. Mit der </a:t>
            </a:r>
            <a:r>
              <a:rPr lang="de-DE" baseline="0" dirty="0" err="1" smtClean="0"/>
              <a:t>restriktion</a:t>
            </a:r>
            <a:r>
              <a:rPr lang="de-DE" baseline="0" dirty="0" smtClean="0"/>
              <a:t> dass aufgrund des KUAP nur 10 % als Energiepflanze </a:t>
            </a:r>
            <a:r>
              <a:rPr lang="de-DE" baseline="0" dirty="0" err="1" smtClean="0"/>
              <a:t>eingestezt</a:t>
            </a:r>
            <a:r>
              <a:rPr lang="de-DE" baseline="0" dirty="0" smtClean="0"/>
              <a:t> werden, daher gibt es dort die starken </a:t>
            </a:r>
            <a:r>
              <a:rPr lang="de-DE" baseline="0" dirty="0" err="1" smtClean="0"/>
              <a:t>abweichungen</a:t>
            </a:r>
            <a:endParaRPr lang="de-DE" baseline="0" dirty="0" smtClean="0"/>
          </a:p>
          <a:p>
            <a:pPr algn="l"/>
            <a:endParaRPr lang="de-DE" baseline="0" dirty="0" smtClean="0"/>
          </a:p>
          <a:p>
            <a:pPr algn="l"/>
            <a:r>
              <a:rPr lang="de-DE" baseline="0" dirty="0" smtClean="0"/>
              <a:t>Bei den Reststoffen muss zwischen tierischen Exkrementen und den Abfällen </a:t>
            </a:r>
            <a:r>
              <a:rPr lang="de-DE" baseline="0" dirty="0" err="1" smtClean="0"/>
              <a:t>untershcieden</a:t>
            </a:r>
            <a:r>
              <a:rPr lang="de-DE" baseline="0" dirty="0" smtClean="0"/>
              <a:t> werden.</a:t>
            </a:r>
          </a:p>
          <a:p>
            <a:pPr algn="l"/>
            <a:endParaRPr lang="de-DE" baseline="0" dirty="0" smtClean="0"/>
          </a:p>
          <a:p>
            <a:pPr algn="l"/>
            <a:r>
              <a:rPr lang="de-DE" baseline="0" dirty="0" smtClean="0"/>
              <a:t>Bei den </a:t>
            </a:r>
            <a:r>
              <a:rPr lang="de-DE" baseline="0" dirty="0" err="1" smtClean="0"/>
              <a:t>Tierieschen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exkremten</a:t>
            </a:r>
            <a:r>
              <a:rPr lang="de-DE" baseline="0" dirty="0" smtClean="0"/>
              <a:t> ist der </a:t>
            </a:r>
            <a:r>
              <a:rPr lang="de-DE" baseline="0" dirty="0" err="1" smtClean="0"/>
              <a:t>hauptuntershcied</a:t>
            </a:r>
            <a:r>
              <a:rPr lang="de-DE" baseline="0" dirty="0" smtClean="0"/>
              <a:t>, dass mehr </a:t>
            </a:r>
            <a:r>
              <a:rPr lang="de-DE" baseline="0" dirty="0" err="1" smtClean="0"/>
              <a:t>tioerarten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dazugenommen</a:t>
            </a:r>
            <a:r>
              <a:rPr lang="de-DE" baseline="0" dirty="0" smtClean="0"/>
              <a:t> wurden, und dass der detaillierungsgrad genauer ist und für jede </a:t>
            </a:r>
            <a:r>
              <a:rPr lang="de-DE" baseline="0" dirty="0" err="1" smtClean="0"/>
              <a:t>tierart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ferkel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kälber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etc</a:t>
            </a:r>
            <a:r>
              <a:rPr lang="de-DE" baseline="0" dirty="0" smtClean="0"/>
              <a:t> eigene </a:t>
            </a:r>
            <a:r>
              <a:rPr lang="de-DE" baseline="0" dirty="0" err="1" smtClean="0"/>
              <a:t>parameter</a:t>
            </a:r>
            <a:r>
              <a:rPr lang="de-DE" baseline="0" dirty="0" smtClean="0"/>
              <a:t> angenommen wurden)</a:t>
            </a:r>
          </a:p>
          <a:p>
            <a:pPr algn="l"/>
            <a:endParaRPr lang="de-DE" baseline="0" dirty="0" smtClean="0"/>
          </a:p>
          <a:p>
            <a:pPr algn="l"/>
            <a:r>
              <a:rPr lang="de-DE" baseline="0" dirty="0" smtClean="0"/>
              <a:t>Bei den </a:t>
            </a:r>
            <a:r>
              <a:rPr lang="de-DE" baseline="0" dirty="0" err="1" smtClean="0"/>
              <a:t>biaabfällen</a:t>
            </a:r>
            <a:r>
              <a:rPr lang="de-DE" baseline="0" dirty="0" smtClean="0"/>
              <a:t> gibt es kleine </a:t>
            </a:r>
            <a:r>
              <a:rPr lang="de-DE" baseline="0" dirty="0" err="1" smtClean="0"/>
              <a:t>differenzen</a:t>
            </a:r>
            <a:r>
              <a:rPr lang="de-DE" baseline="0" dirty="0" smtClean="0"/>
              <a:t> in den angenommenen mengen und der </a:t>
            </a:r>
            <a:r>
              <a:rPr lang="de-DE" baseline="0" dirty="0" err="1" smtClean="0"/>
              <a:t>biogasparameter</a:t>
            </a:r>
            <a:endParaRPr lang="de-DE" baseline="0" dirty="0" smtClean="0"/>
          </a:p>
          <a:p>
            <a:pPr algn="l"/>
            <a:endParaRPr lang="de-DE" baseline="0" dirty="0" smtClean="0"/>
          </a:p>
          <a:p>
            <a:pPr algn="l"/>
            <a:r>
              <a:rPr lang="de-DE" baseline="0" dirty="0" smtClean="0"/>
              <a:t>Zusätzlich </a:t>
            </a:r>
            <a:r>
              <a:rPr lang="de-DE" baseline="0" dirty="0" err="1" smtClean="0"/>
              <a:t>ahbe</a:t>
            </a:r>
            <a:r>
              <a:rPr lang="de-DE" baseline="0" dirty="0" smtClean="0"/>
              <a:t> ich noch die </a:t>
            </a:r>
            <a:r>
              <a:rPr lang="de-DE" baseline="0" dirty="0" err="1" smtClean="0"/>
              <a:t>verbrennung</a:t>
            </a:r>
            <a:r>
              <a:rPr lang="de-DE" baseline="0" dirty="0" smtClean="0"/>
              <a:t> von </a:t>
            </a:r>
            <a:r>
              <a:rPr lang="de-DE" baseline="0" dirty="0" err="1" smtClean="0"/>
              <a:t>rest</a:t>
            </a:r>
            <a:r>
              <a:rPr lang="de-DE" baseline="0" dirty="0" smtClean="0"/>
              <a:t> und </a:t>
            </a:r>
            <a:r>
              <a:rPr lang="de-DE" baseline="0" dirty="0" err="1" smtClean="0"/>
              <a:t>spermüll</a:t>
            </a:r>
            <a:r>
              <a:rPr lang="de-DE" baseline="0" dirty="0" smtClean="0"/>
              <a:t> hinzugezogen</a:t>
            </a:r>
          </a:p>
          <a:p>
            <a:pPr algn="l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8526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3395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22141-06EA-48EA-863A-378A4A77524E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6843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gif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">
    <p:bg>
      <p:bgPr>
        <a:solidFill>
          <a:srgbClr val="0059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6167438" y="873125"/>
            <a:ext cx="5569291" cy="71913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4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tITEL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1736725"/>
            <a:ext cx="4767122" cy="198875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UNTERTITEL</a:t>
            </a:r>
          </a:p>
          <a:p>
            <a:pPr lvl="0"/>
            <a:r>
              <a:rPr lang="de-DE" dirty="0" smtClean="0"/>
              <a:t>BEI BEDARF ÜBER MEHRERE </a:t>
            </a:r>
          </a:p>
          <a:p>
            <a:pPr lvl="0"/>
            <a:r>
              <a:rPr lang="de-DE" dirty="0" smtClean="0"/>
              <a:t>ZEILEN</a:t>
            </a:r>
            <a:endParaRPr lang="de-DE" dirty="0"/>
          </a:p>
        </p:txBody>
      </p:sp>
      <p:sp>
        <p:nvSpPr>
          <p:cNvPr id="10" name="Textplatzhalt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6167438" y="3500438"/>
            <a:ext cx="4767122" cy="198875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2000" baseline="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Speaker / Autor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37"/>
                    </a14:imgEffect>
                    <a14:imgEffect>
                      <a14:brightnessContrast bright="4000" contras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783" b="12035"/>
          <a:stretch/>
        </p:blipFill>
        <p:spPr>
          <a:xfrm>
            <a:off x="-34725" y="-120265"/>
            <a:ext cx="6018835" cy="701877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</a:effectLst>
        </p:spPr>
      </p:pic>
      <p:pic>
        <p:nvPicPr>
          <p:cNvPr id="6" name="Grafik 5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915" y="6053559"/>
            <a:ext cx="1786281" cy="648183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391" y="6056823"/>
            <a:ext cx="2123337" cy="66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328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ischen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1" cy="6858000"/>
          </a:xfrm>
          <a:prstGeom prst="rect">
            <a:avLst/>
          </a:prstGeom>
        </p:spPr>
        <p:txBody>
          <a:bodyPr/>
          <a:lstStyle/>
          <a:p>
            <a:r>
              <a:rPr lang="de-DE" dirty="0" smtClean="0"/>
              <a:t>Bild durch Klicken auf Symbol hinzufügen</a:t>
            </a:r>
            <a:endParaRPr lang="de-DE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2927350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071812" y="728663"/>
            <a:ext cx="7596187" cy="88639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32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Zwischentitel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4924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2927350" cy="893804"/>
          </a:xfrm>
          <a:prstGeom prst="rect">
            <a:avLst/>
          </a:prstGeom>
          <a:solidFill>
            <a:srgbClr val="67BD00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071812" y="728663"/>
            <a:ext cx="7596187" cy="88639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3200" b="1" cap="all" spc="0" baseline="0">
                <a:solidFill>
                  <a:srgbClr val="67BD00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Zwischentitel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0A39C4E-7596-4127-8E9B-96E035D951C8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21"/>
          </p:nvPr>
        </p:nvSpPr>
        <p:spPr>
          <a:xfrm>
            <a:off x="1524001" y="1736725"/>
            <a:ext cx="10668000" cy="42481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1221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-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67BD00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67BD00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1552575" y="2152650"/>
            <a:ext cx="9115425" cy="3438525"/>
          </a:xfrm>
          <a:prstGeom prst="rect">
            <a:avLst/>
          </a:prstGeom>
        </p:spPr>
        <p:txBody>
          <a:bodyPr lIns="0" tIns="0" rIns="0" bIns="0" numCol="2" spcCol="288000">
            <a:noAutofit/>
          </a:bodyPr>
          <a:lstStyle>
            <a:lvl1pPr marL="0" indent="0">
              <a:buNone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 </a:t>
            </a:r>
            <a:r>
              <a:rPr lang="de-DE" dirty="0" err="1" smtClean="0"/>
              <a:t>iusto</a:t>
            </a:r>
            <a:r>
              <a:rPr lang="de-DE" dirty="0" smtClean="0"/>
              <a:t> </a:t>
            </a:r>
            <a:r>
              <a:rPr lang="de-DE" dirty="0" err="1" smtClean="0"/>
              <a:t>odio</a:t>
            </a:r>
            <a:r>
              <a:rPr lang="de-DE" dirty="0" smtClean="0"/>
              <a:t> </a:t>
            </a:r>
            <a:r>
              <a:rPr lang="de-DE" dirty="0" err="1" smtClean="0"/>
              <a:t>dignissim</a:t>
            </a:r>
            <a:r>
              <a:rPr lang="de-DE" dirty="0" smtClean="0"/>
              <a:t> </a:t>
            </a:r>
            <a:r>
              <a:rPr lang="de-DE" dirty="0" err="1" smtClean="0"/>
              <a:t>qui</a:t>
            </a:r>
            <a:r>
              <a:rPr lang="de-DE" dirty="0" smtClean="0"/>
              <a:t> </a:t>
            </a:r>
            <a:r>
              <a:rPr lang="de-DE" dirty="0" err="1" smtClean="0"/>
              <a:t>blandit</a:t>
            </a:r>
            <a:r>
              <a:rPr lang="de-DE" dirty="0" smtClean="0"/>
              <a:t> </a:t>
            </a:r>
            <a:r>
              <a:rPr lang="de-DE" dirty="0" err="1" smtClean="0"/>
              <a:t>praesent</a:t>
            </a:r>
            <a:r>
              <a:rPr lang="de-DE" dirty="0" smtClean="0"/>
              <a:t> </a:t>
            </a:r>
            <a:r>
              <a:rPr lang="de-DE" dirty="0" err="1" smtClean="0"/>
              <a:t>luptatum</a:t>
            </a:r>
            <a:r>
              <a:rPr lang="de-DE" dirty="0" smtClean="0"/>
              <a:t> </a:t>
            </a:r>
            <a:r>
              <a:rPr lang="de-DE" dirty="0" err="1" smtClean="0"/>
              <a:t>zzril</a:t>
            </a:r>
            <a:r>
              <a:rPr lang="de-DE" dirty="0" smtClean="0"/>
              <a:t> </a:t>
            </a:r>
            <a:r>
              <a:rPr lang="de-DE" dirty="0" err="1" smtClean="0"/>
              <a:t>delenit</a:t>
            </a:r>
            <a:r>
              <a:rPr lang="de-DE" dirty="0" smtClean="0"/>
              <a:t> </a:t>
            </a:r>
            <a:r>
              <a:rPr lang="de-DE" dirty="0" err="1" smtClean="0"/>
              <a:t>augue</a:t>
            </a:r>
            <a:r>
              <a:rPr lang="de-DE" dirty="0" smtClean="0"/>
              <a:t> </a:t>
            </a:r>
            <a:r>
              <a:rPr lang="de-DE" dirty="0" err="1" smtClean="0"/>
              <a:t>duis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te</a:t>
            </a:r>
            <a:r>
              <a:rPr lang="de-DE" dirty="0" smtClean="0"/>
              <a:t> </a:t>
            </a:r>
            <a:r>
              <a:rPr lang="de-DE" dirty="0" err="1" smtClean="0"/>
              <a:t>feugait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</a:t>
            </a:r>
            <a:r>
              <a:rPr lang="de-DE" dirty="0" smtClean="0"/>
              <a:t>.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consectetuer</a:t>
            </a:r>
            <a:r>
              <a:rPr lang="de-DE" dirty="0" smtClean="0"/>
              <a:t> </a:t>
            </a:r>
            <a:r>
              <a:rPr lang="de-DE" dirty="0" err="1" smtClean="0"/>
              <a:t>adipiscing</a:t>
            </a:r>
            <a:r>
              <a:rPr lang="de-DE" dirty="0" smtClean="0"/>
              <a:t> </a:t>
            </a:r>
            <a:r>
              <a:rPr lang="de-DE" dirty="0" err="1" smtClean="0"/>
              <a:t>elit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nonummy</a:t>
            </a:r>
            <a:r>
              <a:rPr lang="de-DE" dirty="0" smtClean="0"/>
              <a:t> </a:t>
            </a:r>
            <a:r>
              <a:rPr lang="de-DE" dirty="0" err="1" smtClean="0"/>
              <a:t>nibh</a:t>
            </a:r>
            <a:r>
              <a:rPr lang="de-DE" dirty="0" smtClean="0"/>
              <a:t> </a:t>
            </a:r>
            <a:r>
              <a:rPr lang="de-DE" dirty="0" err="1" smtClean="0"/>
              <a:t>euismod</a:t>
            </a:r>
            <a:r>
              <a:rPr lang="de-DE" dirty="0" smtClean="0"/>
              <a:t> </a:t>
            </a:r>
            <a:r>
              <a:rPr lang="de-DE" dirty="0" err="1" smtClean="0"/>
              <a:t>tincidunt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laoreet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 </a:t>
            </a:r>
            <a:r>
              <a:rPr lang="de-DE" dirty="0" err="1" smtClean="0"/>
              <a:t>volutpat</a:t>
            </a:r>
            <a:r>
              <a:rPr lang="de-DE" dirty="0" smtClean="0"/>
              <a:t>. 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E5E59E-6EDE-4A4B-B051-B5686A87C695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44703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-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67BD00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67BD00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3071813" y="2152650"/>
            <a:ext cx="7596187" cy="3438525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0" indent="0">
              <a:buNone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013F395-6568-484D-BDCF-AD8D9AAC39A1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12613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67BD00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67BD00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3071813" y="2152650"/>
            <a:ext cx="7596187" cy="3438525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144000" indent="-180000">
              <a:spcBef>
                <a:spcPts val="1800"/>
              </a:spcBef>
              <a:buClr>
                <a:srgbClr val="67BD00"/>
              </a:buClr>
              <a:buFont typeface="Arial" panose="020B0604020202020204" pitchFamily="34" charset="0"/>
              <a:buChar char="̶"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660895C-F005-41AB-B098-A8E90E453BAA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08979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67BD00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67BD00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4883412" y="1736725"/>
            <a:ext cx="5784588" cy="4248150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144000" indent="-144000">
              <a:spcBef>
                <a:spcPts val="1800"/>
              </a:spcBef>
              <a:buClr>
                <a:srgbClr val="67BD00"/>
              </a:buClr>
              <a:buFont typeface="Arial" panose="020B0604020202020204" pitchFamily="34" charset="0"/>
              <a:buChar char="̶"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endParaRPr lang="de-DE" dirty="0" smtClean="0"/>
          </a:p>
          <a:p>
            <a:pPr lvl="0"/>
            <a:r>
              <a:rPr lang="de-DE" dirty="0" smtClean="0"/>
              <a:t>Labore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</a:t>
            </a:r>
          </a:p>
          <a:p>
            <a:pPr lvl="0"/>
            <a:r>
              <a:rPr lang="de-DE" dirty="0" smtClean="0"/>
              <a:t>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5"/>
            <a:ext cx="2951163" cy="42481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FAC78E3-8492-4997-95C8-17AAF8977D6C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4700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67BD00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67BD00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5"/>
            <a:ext cx="9144000" cy="4250602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CFF7C45-A1E7-4C76-B91D-C6C6B9B4E5B8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1204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ß +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67BD00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67BD00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4"/>
            <a:ext cx="9144000" cy="37306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552575" y="5611812"/>
            <a:ext cx="7869238" cy="3730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indent="0">
              <a:buNone/>
              <a:defRPr sz="1600" i="1">
                <a:solidFill>
                  <a:srgbClr val="151718"/>
                </a:solidFill>
              </a:defRPr>
            </a:lvl1pPr>
          </a:lstStyle>
          <a:p>
            <a:pPr lvl="0"/>
            <a:r>
              <a:rPr lang="de-DE" dirty="0" smtClean="0"/>
              <a:t>Bildunterschrift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CFA0EE38-F44F-4EEF-A009-EC86F194828C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62132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2927350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071812" y="728663"/>
            <a:ext cx="7596187" cy="88639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32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Zwischentitel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11" name="Datumsplatzhalter 1"/>
          <p:cNvSpPr>
            <a:spLocks noGrp="1"/>
          </p:cNvSpPr>
          <p:nvPr>
            <p:ph type="dt" sz="half" idx="18"/>
          </p:nvPr>
        </p:nvSpPr>
        <p:spPr>
          <a:xfrm>
            <a:off x="1524000" y="6271350"/>
            <a:ext cx="1403350" cy="365125"/>
          </a:xfrm>
        </p:spPr>
        <p:txBody>
          <a:bodyPr/>
          <a:lstStyle/>
          <a:p>
            <a:fld id="{CEFAE5CF-EFFC-465E-A1D9-64785CAAAC7F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12" name="Fußzeilenplatzhalter 2"/>
          <p:cNvSpPr>
            <a:spLocks noGrp="1"/>
          </p:cNvSpPr>
          <p:nvPr>
            <p:ph type="ftr" sz="quarter" idx="19"/>
          </p:nvPr>
        </p:nvSpPr>
        <p:spPr>
          <a:xfrm>
            <a:off x="3071813" y="6271348"/>
            <a:ext cx="4114800" cy="365125"/>
          </a:xfrm>
        </p:spPr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637247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u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1A5E8A8-1850-48FA-8362-6C36A76C5180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7279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-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1552575" y="2152650"/>
            <a:ext cx="9115425" cy="3438525"/>
          </a:xfrm>
          <a:prstGeom prst="rect">
            <a:avLst/>
          </a:prstGeom>
        </p:spPr>
        <p:txBody>
          <a:bodyPr lIns="0" tIns="0" rIns="0" bIns="0" numCol="2" spcCol="288000">
            <a:noAutofit/>
          </a:bodyPr>
          <a:lstStyle>
            <a:lvl1pPr marL="0" indent="0">
              <a:buNone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 </a:t>
            </a:r>
            <a:r>
              <a:rPr lang="de-DE" dirty="0" err="1" smtClean="0"/>
              <a:t>iusto</a:t>
            </a:r>
            <a:r>
              <a:rPr lang="de-DE" dirty="0" smtClean="0"/>
              <a:t> </a:t>
            </a:r>
            <a:r>
              <a:rPr lang="de-DE" dirty="0" err="1" smtClean="0"/>
              <a:t>odio</a:t>
            </a:r>
            <a:r>
              <a:rPr lang="de-DE" dirty="0" smtClean="0"/>
              <a:t> </a:t>
            </a:r>
            <a:r>
              <a:rPr lang="de-DE" dirty="0" err="1" smtClean="0"/>
              <a:t>dignissim</a:t>
            </a:r>
            <a:r>
              <a:rPr lang="de-DE" dirty="0" smtClean="0"/>
              <a:t> </a:t>
            </a:r>
            <a:r>
              <a:rPr lang="de-DE" dirty="0" err="1" smtClean="0"/>
              <a:t>qui</a:t>
            </a:r>
            <a:r>
              <a:rPr lang="de-DE" dirty="0" smtClean="0"/>
              <a:t> </a:t>
            </a:r>
            <a:r>
              <a:rPr lang="de-DE" dirty="0" err="1" smtClean="0"/>
              <a:t>blandit</a:t>
            </a:r>
            <a:r>
              <a:rPr lang="de-DE" dirty="0" smtClean="0"/>
              <a:t> </a:t>
            </a:r>
            <a:r>
              <a:rPr lang="de-DE" dirty="0" err="1" smtClean="0"/>
              <a:t>praesent</a:t>
            </a:r>
            <a:r>
              <a:rPr lang="de-DE" dirty="0" smtClean="0"/>
              <a:t> </a:t>
            </a:r>
            <a:r>
              <a:rPr lang="de-DE" dirty="0" err="1" smtClean="0"/>
              <a:t>luptatum</a:t>
            </a:r>
            <a:r>
              <a:rPr lang="de-DE" dirty="0" smtClean="0"/>
              <a:t> </a:t>
            </a:r>
            <a:r>
              <a:rPr lang="de-DE" dirty="0" err="1" smtClean="0"/>
              <a:t>zzril</a:t>
            </a:r>
            <a:r>
              <a:rPr lang="de-DE" dirty="0" smtClean="0"/>
              <a:t> </a:t>
            </a:r>
            <a:r>
              <a:rPr lang="de-DE" dirty="0" err="1" smtClean="0"/>
              <a:t>delenit</a:t>
            </a:r>
            <a:r>
              <a:rPr lang="de-DE" dirty="0" smtClean="0"/>
              <a:t> </a:t>
            </a:r>
            <a:r>
              <a:rPr lang="de-DE" dirty="0" err="1" smtClean="0"/>
              <a:t>augue</a:t>
            </a:r>
            <a:r>
              <a:rPr lang="de-DE" dirty="0" smtClean="0"/>
              <a:t> </a:t>
            </a:r>
            <a:r>
              <a:rPr lang="de-DE" dirty="0" err="1" smtClean="0"/>
              <a:t>duis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te</a:t>
            </a:r>
            <a:r>
              <a:rPr lang="de-DE" dirty="0" smtClean="0"/>
              <a:t> </a:t>
            </a:r>
            <a:r>
              <a:rPr lang="de-DE" dirty="0" err="1" smtClean="0"/>
              <a:t>feugait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</a:t>
            </a:r>
            <a:r>
              <a:rPr lang="de-DE" dirty="0" smtClean="0"/>
              <a:t>.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consectetuer</a:t>
            </a:r>
            <a:r>
              <a:rPr lang="de-DE" dirty="0" smtClean="0"/>
              <a:t> </a:t>
            </a:r>
            <a:r>
              <a:rPr lang="de-DE" dirty="0" err="1" smtClean="0"/>
              <a:t>adipiscing</a:t>
            </a:r>
            <a:r>
              <a:rPr lang="de-DE" dirty="0" smtClean="0"/>
              <a:t> </a:t>
            </a:r>
            <a:r>
              <a:rPr lang="de-DE" dirty="0" err="1" smtClean="0"/>
              <a:t>elit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nonummy</a:t>
            </a:r>
            <a:r>
              <a:rPr lang="de-DE" dirty="0" smtClean="0"/>
              <a:t> </a:t>
            </a:r>
            <a:r>
              <a:rPr lang="de-DE" dirty="0" err="1" smtClean="0"/>
              <a:t>nibh</a:t>
            </a:r>
            <a:r>
              <a:rPr lang="de-DE" dirty="0" smtClean="0"/>
              <a:t> </a:t>
            </a:r>
            <a:r>
              <a:rPr lang="de-DE" dirty="0" err="1" smtClean="0"/>
              <a:t>euismod</a:t>
            </a:r>
            <a:r>
              <a:rPr lang="de-DE" dirty="0" smtClean="0"/>
              <a:t> </a:t>
            </a:r>
            <a:r>
              <a:rPr lang="de-DE" dirty="0" err="1" smtClean="0"/>
              <a:t>tincidunt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laoreet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 </a:t>
            </a:r>
            <a:r>
              <a:rPr lang="de-DE" dirty="0" err="1" smtClean="0"/>
              <a:t>volutpat</a:t>
            </a:r>
            <a:r>
              <a:rPr lang="de-DE" dirty="0" smtClean="0"/>
              <a:t>. 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452AEAE-D9A5-42FC-8328-92D4E3FE5BCF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3503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-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3071813" y="2152650"/>
            <a:ext cx="7596187" cy="3438525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0" indent="0">
              <a:buNone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9028486-81A2-4B43-B268-3E820C6BFA1E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18091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3071813" y="2152650"/>
            <a:ext cx="7596187" cy="3438525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144000" indent="-180000">
              <a:spcBef>
                <a:spcPts val="1800"/>
              </a:spcBef>
              <a:buClr>
                <a:srgbClr val="0059B9"/>
              </a:buClr>
              <a:buFont typeface="Arial" panose="020B0604020202020204" pitchFamily="34" charset="0"/>
              <a:buChar char="̶"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EA8FD3C-3FEF-4241-ACD0-70091CD7B88A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252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Stichpu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4883412" y="1736725"/>
            <a:ext cx="5784588" cy="4248150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144000" indent="-144000">
              <a:spcBef>
                <a:spcPts val="1800"/>
              </a:spcBef>
              <a:buClr>
                <a:srgbClr val="0059B9"/>
              </a:buClr>
              <a:buFont typeface="Arial" panose="020B0604020202020204" pitchFamily="34" charset="0"/>
              <a:buChar char="̶"/>
              <a:defRPr sz="1800">
                <a:solidFill>
                  <a:srgbClr val="151718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endParaRPr lang="de-DE" dirty="0" smtClean="0"/>
          </a:p>
          <a:p>
            <a:pPr lvl="0"/>
            <a:r>
              <a:rPr lang="de-DE" dirty="0" smtClean="0"/>
              <a:t>Labore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</a:t>
            </a:r>
          </a:p>
          <a:p>
            <a:pPr lvl="0"/>
            <a:r>
              <a:rPr lang="de-DE" dirty="0" smtClean="0"/>
              <a:t>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5"/>
            <a:ext cx="2951163" cy="42481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EF8643A-2CB0-4669-9B46-D8867377C939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5728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5"/>
            <a:ext cx="9144000" cy="4250602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EF8DB74A-A15E-4952-B6D6-88E0F1694883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4758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ß +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4"/>
            <a:ext cx="9144000" cy="37306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552575" y="5611812"/>
            <a:ext cx="7869238" cy="3730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indent="0">
              <a:buNone/>
              <a:defRPr sz="1600" i="1">
                <a:solidFill>
                  <a:srgbClr val="151718"/>
                </a:solidFill>
              </a:defRPr>
            </a:lvl1pPr>
          </a:lstStyle>
          <a:p>
            <a:pPr lvl="0"/>
            <a:r>
              <a:rPr lang="de-DE" dirty="0" smtClean="0"/>
              <a:t>Bildunterschrift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A88E5FE-B6F2-4720-B038-C08B82E55DB8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8163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C32608A-5077-4B2B-971F-420D394E1289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1066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1552575" y="2152650"/>
            <a:ext cx="9115425" cy="3438525"/>
          </a:xfrm>
          <a:prstGeom prst="rect">
            <a:avLst/>
          </a:prstGeom>
        </p:spPr>
        <p:txBody>
          <a:bodyPr lIns="0" tIns="0" rIns="0" bIns="0" numCol="2" spcCol="28800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 </a:t>
            </a:r>
            <a:r>
              <a:rPr lang="de-DE" dirty="0" err="1" smtClean="0"/>
              <a:t>iusto</a:t>
            </a:r>
            <a:r>
              <a:rPr lang="de-DE" dirty="0" smtClean="0"/>
              <a:t> </a:t>
            </a:r>
            <a:r>
              <a:rPr lang="de-DE" dirty="0" err="1" smtClean="0"/>
              <a:t>odio</a:t>
            </a:r>
            <a:r>
              <a:rPr lang="de-DE" dirty="0" smtClean="0"/>
              <a:t> </a:t>
            </a:r>
            <a:r>
              <a:rPr lang="de-DE" dirty="0" err="1" smtClean="0"/>
              <a:t>dignissim</a:t>
            </a:r>
            <a:r>
              <a:rPr lang="de-DE" dirty="0" smtClean="0"/>
              <a:t> </a:t>
            </a:r>
            <a:r>
              <a:rPr lang="de-DE" dirty="0" err="1" smtClean="0"/>
              <a:t>qui</a:t>
            </a:r>
            <a:r>
              <a:rPr lang="de-DE" dirty="0" smtClean="0"/>
              <a:t> </a:t>
            </a:r>
            <a:r>
              <a:rPr lang="de-DE" dirty="0" err="1" smtClean="0"/>
              <a:t>blandit</a:t>
            </a:r>
            <a:r>
              <a:rPr lang="de-DE" dirty="0" smtClean="0"/>
              <a:t> </a:t>
            </a:r>
            <a:r>
              <a:rPr lang="de-DE" dirty="0" err="1" smtClean="0"/>
              <a:t>praesent</a:t>
            </a:r>
            <a:r>
              <a:rPr lang="de-DE" dirty="0" smtClean="0"/>
              <a:t> </a:t>
            </a:r>
            <a:r>
              <a:rPr lang="de-DE" dirty="0" err="1" smtClean="0"/>
              <a:t>luptatum</a:t>
            </a:r>
            <a:r>
              <a:rPr lang="de-DE" dirty="0" smtClean="0"/>
              <a:t> </a:t>
            </a:r>
            <a:r>
              <a:rPr lang="de-DE" dirty="0" err="1" smtClean="0"/>
              <a:t>zzril</a:t>
            </a:r>
            <a:r>
              <a:rPr lang="de-DE" dirty="0" smtClean="0"/>
              <a:t> </a:t>
            </a:r>
            <a:r>
              <a:rPr lang="de-DE" dirty="0" err="1" smtClean="0"/>
              <a:t>delenit</a:t>
            </a:r>
            <a:r>
              <a:rPr lang="de-DE" dirty="0" smtClean="0"/>
              <a:t> </a:t>
            </a:r>
            <a:r>
              <a:rPr lang="de-DE" dirty="0" err="1" smtClean="0"/>
              <a:t>augue</a:t>
            </a:r>
            <a:r>
              <a:rPr lang="de-DE" dirty="0" smtClean="0"/>
              <a:t> </a:t>
            </a:r>
            <a:r>
              <a:rPr lang="de-DE" dirty="0" err="1" smtClean="0"/>
              <a:t>duis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te</a:t>
            </a:r>
            <a:r>
              <a:rPr lang="de-DE" dirty="0" smtClean="0"/>
              <a:t> </a:t>
            </a:r>
            <a:r>
              <a:rPr lang="de-DE" dirty="0" err="1" smtClean="0"/>
              <a:t>feugait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</a:t>
            </a:r>
            <a:r>
              <a:rPr lang="de-DE" dirty="0" smtClean="0"/>
              <a:t>.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consectetuer</a:t>
            </a:r>
            <a:r>
              <a:rPr lang="de-DE" dirty="0" smtClean="0"/>
              <a:t> </a:t>
            </a:r>
            <a:r>
              <a:rPr lang="de-DE" dirty="0" err="1" smtClean="0"/>
              <a:t>adipiscing</a:t>
            </a:r>
            <a:r>
              <a:rPr lang="de-DE" dirty="0" smtClean="0"/>
              <a:t> </a:t>
            </a:r>
            <a:r>
              <a:rPr lang="de-DE" dirty="0" err="1" smtClean="0"/>
              <a:t>elit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nonummy</a:t>
            </a:r>
            <a:r>
              <a:rPr lang="de-DE" dirty="0" smtClean="0"/>
              <a:t> </a:t>
            </a:r>
            <a:r>
              <a:rPr lang="de-DE" dirty="0" err="1" smtClean="0"/>
              <a:t>nibh</a:t>
            </a:r>
            <a:r>
              <a:rPr lang="de-DE" dirty="0" smtClean="0"/>
              <a:t> </a:t>
            </a:r>
            <a:r>
              <a:rPr lang="de-DE" dirty="0" err="1" smtClean="0"/>
              <a:t>euismod</a:t>
            </a:r>
            <a:r>
              <a:rPr lang="de-DE" dirty="0" smtClean="0"/>
              <a:t> </a:t>
            </a:r>
            <a:r>
              <a:rPr lang="de-DE" dirty="0" err="1" smtClean="0"/>
              <a:t>tincidunt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laoreet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 </a:t>
            </a:r>
            <a:r>
              <a:rPr lang="de-DE" dirty="0" err="1" smtClean="0"/>
              <a:t>volutpat</a:t>
            </a:r>
            <a:r>
              <a:rPr lang="de-DE" dirty="0" smtClean="0"/>
              <a:t>. 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425901B-29EE-4C06-A7C1-309905ACB52E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5625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rgbClr val="0059B9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3071813" y="2152650"/>
            <a:ext cx="7596187" cy="3438525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95E2445-D384-4D15-AA13-A8BEB8327E26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5355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3071813" y="2152650"/>
            <a:ext cx="7596187" cy="3438525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144000" indent="-180000">
              <a:spcBef>
                <a:spcPts val="1800"/>
              </a:spcBef>
              <a:buClr>
                <a:srgbClr val="0059B9"/>
              </a:buClr>
              <a:buFont typeface="Arial" panose="020B0604020202020204" pitchFamily="34" charset="0"/>
              <a:buChar char="̶"/>
              <a:defRPr sz="180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  <a:r>
              <a:rPr lang="de-DE" dirty="0" err="1" smtClean="0"/>
              <a:t>takimata</a:t>
            </a:r>
            <a:r>
              <a:rPr lang="de-DE" dirty="0" smtClean="0"/>
              <a:t> sanctus </a:t>
            </a:r>
            <a:r>
              <a:rPr lang="de-DE" dirty="0" err="1" smtClean="0"/>
              <a:t>est</a:t>
            </a:r>
            <a:r>
              <a:rPr lang="de-DE" dirty="0" smtClean="0"/>
              <a:t> </a:t>
            </a:r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.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r>
              <a:rPr lang="de-DE" dirty="0" smtClean="0"/>
              <a:t> </a:t>
            </a:r>
            <a:r>
              <a:rPr lang="de-DE" dirty="0" err="1" smtClean="0"/>
              <a:t>ut</a:t>
            </a:r>
            <a:r>
              <a:rPr lang="de-DE" dirty="0" smtClean="0"/>
              <a:t> </a:t>
            </a:r>
            <a:r>
              <a:rPr lang="de-DE" dirty="0" err="1" smtClean="0"/>
              <a:t>labore</a:t>
            </a:r>
            <a:r>
              <a:rPr lang="de-DE" dirty="0" smtClean="0"/>
              <a:t>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  <a:p>
            <a:pPr lvl="0"/>
            <a:r>
              <a:rPr lang="de-DE" dirty="0" smtClean="0"/>
              <a:t>Duis </a:t>
            </a:r>
            <a:r>
              <a:rPr lang="de-DE" dirty="0" err="1" smtClean="0"/>
              <a:t>autem</a:t>
            </a:r>
            <a:r>
              <a:rPr lang="de-DE" dirty="0" smtClean="0"/>
              <a:t>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eum</a:t>
            </a:r>
            <a:r>
              <a:rPr lang="de-DE" dirty="0" smtClean="0"/>
              <a:t> </a:t>
            </a:r>
            <a:r>
              <a:rPr lang="de-DE" dirty="0" err="1" smtClean="0"/>
              <a:t>iriure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in </a:t>
            </a:r>
            <a:r>
              <a:rPr lang="de-DE" dirty="0" err="1" smtClean="0"/>
              <a:t>hendrerit</a:t>
            </a:r>
            <a:r>
              <a:rPr lang="de-DE" dirty="0" smtClean="0"/>
              <a:t> in </a:t>
            </a:r>
            <a:r>
              <a:rPr lang="de-DE" dirty="0" err="1" smtClean="0"/>
              <a:t>vulputate</a:t>
            </a:r>
            <a:r>
              <a:rPr lang="de-DE" dirty="0" smtClean="0"/>
              <a:t> </a:t>
            </a:r>
            <a:r>
              <a:rPr lang="de-DE" dirty="0" err="1" smtClean="0"/>
              <a:t>velit</a:t>
            </a:r>
            <a:r>
              <a:rPr lang="de-DE" dirty="0" smtClean="0"/>
              <a:t> esse </a:t>
            </a:r>
            <a:r>
              <a:rPr lang="de-DE" dirty="0" err="1" smtClean="0"/>
              <a:t>molestie</a:t>
            </a:r>
            <a:r>
              <a:rPr lang="de-DE" dirty="0" smtClean="0"/>
              <a:t> </a:t>
            </a:r>
            <a:r>
              <a:rPr lang="de-DE" dirty="0" err="1" smtClean="0"/>
              <a:t>consequat</a:t>
            </a:r>
            <a:r>
              <a:rPr lang="de-DE" dirty="0" smtClean="0"/>
              <a:t>, </a:t>
            </a:r>
            <a:r>
              <a:rPr lang="de-DE" dirty="0" err="1" smtClean="0"/>
              <a:t>vel</a:t>
            </a:r>
            <a:r>
              <a:rPr lang="de-DE" dirty="0" smtClean="0"/>
              <a:t> </a:t>
            </a:r>
            <a:r>
              <a:rPr lang="de-DE" dirty="0" err="1" smtClean="0"/>
              <a:t>illum</a:t>
            </a:r>
            <a:r>
              <a:rPr lang="de-DE" dirty="0" smtClean="0"/>
              <a:t> </a:t>
            </a:r>
            <a:r>
              <a:rPr lang="de-DE" dirty="0" err="1" smtClean="0"/>
              <a:t>dolore</a:t>
            </a:r>
            <a:r>
              <a:rPr lang="de-DE" dirty="0" smtClean="0"/>
              <a:t> </a:t>
            </a:r>
            <a:r>
              <a:rPr lang="de-DE" dirty="0" err="1" smtClean="0"/>
              <a:t>eu</a:t>
            </a:r>
            <a:r>
              <a:rPr lang="de-DE" dirty="0" smtClean="0"/>
              <a:t> </a:t>
            </a:r>
            <a:r>
              <a:rPr lang="de-DE" dirty="0" err="1" smtClean="0"/>
              <a:t>feugiat</a:t>
            </a:r>
            <a:r>
              <a:rPr lang="de-DE" dirty="0" smtClean="0"/>
              <a:t> </a:t>
            </a:r>
            <a:r>
              <a:rPr lang="de-DE" dirty="0" err="1" smtClean="0"/>
              <a:t>nulla</a:t>
            </a:r>
            <a:r>
              <a:rPr lang="de-DE" dirty="0" smtClean="0"/>
              <a:t> </a:t>
            </a:r>
            <a:r>
              <a:rPr lang="de-DE" dirty="0" err="1" smtClean="0"/>
              <a:t>facilisis</a:t>
            </a:r>
            <a:r>
              <a:rPr lang="de-DE" dirty="0" smtClean="0"/>
              <a:t>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eros</a:t>
            </a:r>
            <a:r>
              <a:rPr lang="de-DE" dirty="0" smtClean="0"/>
              <a:t> et </a:t>
            </a:r>
            <a:r>
              <a:rPr lang="de-DE" dirty="0" err="1" smtClean="0"/>
              <a:t>accumsan</a:t>
            </a:r>
            <a:r>
              <a:rPr lang="de-DE" dirty="0" smtClean="0"/>
              <a:t> et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4257A54-D0BE-4FEC-A221-DC94C14694E3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1072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6167438" y="1758951"/>
            <a:ext cx="4500562" cy="3438525"/>
          </a:xfrm>
          <a:prstGeom prst="rect">
            <a:avLst/>
          </a:prstGeom>
        </p:spPr>
        <p:txBody>
          <a:bodyPr lIns="0" tIns="0" rIns="0" bIns="0" numCol="1">
            <a:normAutofit/>
          </a:bodyPr>
          <a:lstStyle>
            <a:lvl1pPr marL="144000" indent="-144000">
              <a:spcBef>
                <a:spcPts val="1800"/>
              </a:spcBef>
              <a:buClr>
                <a:schemeClr val="bg1"/>
              </a:buClr>
              <a:buFont typeface="Arial" panose="020B0604020202020204" pitchFamily="34" charset="0"/>
              <a:buChar char="̶"/>
              <a:defRPr sz="180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400">
                <a:latin typeface="News Gothic MT" panose="020B0503020103020203" pitchFamily="34" charset="0"/>
              </a:defRPr>
            </a:lvl2pPr>
            <a:lvl3pPr marL="914400" indent="0">
              <a:buNone/>
              <a:defRPr sz="1400">
                <a:latin typeface="News Gothic MT" panose="020B0503020103020203" pitchFamily="34" charset="0"/>
              </a:defRPr>
            </a:lvl3pPr>
            <a:lvl4pPr marL="1371600" indent="0">
              <a:buNone/>
              <a:defRPr sz="1400">
                <a:latin typeface="News Gothic MT" panose="020B0503020103020203" pitchFamily="34" charset="0"/>
              </a:defRPr>
            </a:lvl4pPr>
            <a:lvl5pPr marL="1828800" indent="0">
              <a:buNone/>
              <a:defRPr sz="1400"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</a:p>
          <a:p>
            <a:pPr lvl="0"/>
            <a:r>
              <a:rPr lang="de-DE" dirty="0" err="1" smtClean="0"/>
              <a:t>Lorem</a:t>
            </a:r>
            <a:r>
              <a:rPr lang="de-DE" dirty="0" smtClean="0"/>
              <a:t> </a:t>
            </a:r>
            <a:r>
              <a:rPr lang="de-DE" dirty="0" err="1" smtClean="0"/>
              <a:t>ipsum</a:t>
            </a:r>
            <a:r>
              <a:rPr lang="de-DE" dirty="0" smtClean="0"/>
              <a:t> </a:t>
            </a:r>
            <a:r>
              <a:rPr lang="de-DE" dirty="0" err="1" smtClean="0"/>
              <a:t>dolor</a:t>
            </a:r>
            <a:r>
              <a:rPr lang="de-DE" dirty="0" smtClean="0"/>
              <a:t> </a:t>
            </a:r>
            <a:r>
              <a:rPr lang="de-DE" dirty="0" err="1" smtClean="0"/>
              <a:t>sit</a:t>
            </a:r>
            <a:r>
              <a:rPr lang="de-DE" dirty="0" smtClean="0"/>
              <a:t> </a:t>
            </a:r>
            <a:r>
              <a:rPr lang="de-DE" dirty="0" err="1" smtClean="0"/>
              <a:t>amet</a:t>
            </a:r>
            <a:r>
              <a:rPr lang="de-DE" dirty="0" smtClean="0"/>
              <a:t>, </a:t>
            </a:r>
            <a:r>
              <a:rPr lang="de-DE" dirty="0" err="1" smtClean="0"/>
              <a:t>consetetur</a:t>
            </a:r>
            <a:r>
              <a:rPr lang="de-DE" dirty="0" smtClean="0"/>
              <a:t> </a:t>
            </a:r>
            <a:r>
              <a:rPr lang="de-DE" dirty="0" err="1" smtClean="0"/>
              <a:t>sadipscing</a:t>
            </a:r>
            <a:r>
              <a:rPr lang="de-DE" dirty="0" smtClean="0"/>
              <a:t> </a:t>
            </a:r>
            <a:r>
              <a:rPr lang="de-DE" dirty="0" err="1" smtClean="0"/>
              <a:t>elitr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nonumy</a:t>
            </a:r>
            <a:r>
              <a:rPr lang="de-DE" dirty="0" smtClean="0"/>
              <a:t> </a:t>
            </a:r>
            <a:r>
              <a:rPr lang="de-DE" dirty="0" err="1" smtClean="0"/>
              <a:t>eirmod</a:t>
            </a:r>
            <a:r>
              <a:rPr lang="de-DE" dirty="0" smtClean="0"/>
              <a:t> </a:t>
            </a:r>
            <a:r>
              <a:rPr lang="de-DE" dirty="0" err="1" smtClean="0"/>
              <a:t>tempor</a:t>
            </a:r>
            <a:r>
              <a:rPr lang="de-DE" dirty="0" smtClean="0"/>
              <a:t> </a:t>
            </a:r>
            <a:r>
              <a:rPr lang="de-DE" dirty="0" err="1" smtClean="0"/>
              <a:t>invidunt</a:t>
            </a:r>
            <a:endParaRPr lang="de-DE" dirty="0" smtClean="0"/>
          </a:p>
          <a:p>
            <a:pPr lvl="0"/>
            <a:r>
              <a:rPr lang="de-DE" dirty="0" smtClean="0"/>
              <a:t>Labore et </a:t>
            </a:r>
            <a:r>
              <a:rPr lang="de-DE" dirty="0" err="1" smtClean="0"/>
              <a:t>dolore</a:t>
            </a:r>
            <a:r>
              <a:rPr lang="de-DE" dirty="0" smtClean="0"/>
              <a:t> magna </a:t>
            </a:r>
            <a:r>
              <a:rPr lang="de-DE" dirty="0" err="1" smtClean="0"/>
              <a:t>aliquyam</a:t>
            </a:r>
            <a:r>
              <a:rPr lang="de-DE" dirty="0" smtClean="0"/>
              <a:t> </a:t>
            </a:r>
            <a:r>
              <a:rPr lang="de-DE" dirty="0" err="1" smtClean="0"/>
              <a:t>erat</a:t>
            </a:r>
            <a:r>
              <a:rPr lang="de-DE" dirty="0" smtClean="0"/>
              <a:t>, </a:t>
            </a:r>
            <a:r>
              <a:rPr lang="de-DE" dirty="0" err="1" smtClean="0"/>
              <a:t>sed</a:t>
            </a:r>
            <a:r>
              <a:rPr lang="de-DE" dirty="0" smtClean="0"/>
              <a:t> </a:t>
            </a:r>
            <a:r>
              <a:rPr lang="de-DE" dirty="0" err="1" smtClean="0"/>
              <a:t>diam</a:t>
            </a:r>
            <a:r>
              <a:rPr lang="de-DE" dirty="0" smtClean="0"/>
              <a:t> </a:t>
            </a:r>
            <a:r>
              <a:rPr lang="de-DE" dirty="0" err="1" smtClean="0"/>
              <a:t>voluptua</a:t>
            </a:r>
            <a:r>
              <a:rPr lang="de-DE" dirty="0" smtClean="0"/>
              <a:t>. At </a:t>
            </a:r>
            <a:r>
              <a:rPr lang="de-DE" dirty="0" err="1" smtClean="0"/>
              <a:t>vero</a:t>
            </a:r>
            <a:r>
              <a:rPr lang="de-DE" dirty="0" smtClean="0"/>
              <a:t> </a:t>
            </a:r>
            <a:r>
              <a:rPr lang="de-DE" dirty="0" err="1" smtClean="0"/>
              <a:t>eos</a:t>
            </a:r>
            <a:r>
              <a:rPr lang="de-DE" dirty="0" smtClean="0"/>
              <a:t> et </a:t>
            </a:r>
            <a:r>
              <a:rPr lang="de-DE" dirty="0" err="1" smtClean="0"/>
              <a:t>accusam</a:t>
            </a:r>
            <a:r>
              <a:rPr lang="de-DE" dirty="0" smtClean="0"/>
              <a:t> et </a:t>
            </a:r>
            <a:r>
              <a:rPr lang="de-DE" dirty="0" err="1" smtClean="0"/>
              <a:t>justo</a:t>
            </a:r>
            <a:r>
              <a:rPr lang="de-DE" dirty="0" smtClean="0"/>
              <a:t> </a:t>
            </a:r>
            <a:r>
              <a:rPr lang="de-DE" dirty="0" err="1" smtClean="0"/>
              <a:t>duo</a:t>
            </a:r>
            <a:r>
              <a:rPr lang="de-DE" dirty="0" smtClean="0"/>
              <a:t> </a:t>
            </a:r>
            <a:r>
              <a:rPr lang="de-DE" dirty="0" err="1" smtClean="0"/>
              <a:t>dolores</a:t>
            </a:r>
            <a:r>
              <a:rPr lang="de-DE" dirty="0" smtClean="0"/>
              <a:t> et </a:t>
            </a:r>
            <a:r>
              <a:rPr lang="de-DE" dirty="0" err="1" smtClean="0"/>
              <a:t>ea</a:t>
            </a:r>
            <a:r>
              <a:rPr lang="de-DE" dirty="0" smtClean="0"/>
              <a:t> </a:t>
            </a:r>
            <a:r>
              <a:rPr lang="de-DE" dirty="0" err="1" smtClean="0"/>
              <a:t>rebum</a:t>
            </a:r>
            <a:r>
              <a:rPr lang="de-DE" dirty="0" smtClean="0"/>
              <a:t>. </a:t>
            </a:r>
          </a:p>
          <a:p>
            <a:pPr lvl="0"/>
            <a:r>
              <a:rPr lang="de-DE" dirty="0" smtClean="0"/>
              <a:t>Stet </a:t>
            </a:r>
            <a:r>
              <a:rPr lang="de-DE" dirty="0" err="1" smtClean="0"/>
              <a:t>clita</a:t>
            </a:r>
            <a:r>
              <a:rPr lang="de-DE" dirty="0" smtClean="0"/>
              <a:t> </a:t>
            </a:r>
            <a:r>
              <a:rPr lang="de-DE" dirty="0" err="1" smtClean="0"/>
              <a:t>kasd</a:t>
            </a:r>
            <a:r>
              <a:rPr lang="de-DE" dirty="0" smtClean="0"/>
              <a:t> </a:t>
            </a:r>
            <a:r>
              <a:rPr lang="de-DE" dirty="0" err="1" smtClean="0"/>
              <a:t>gubergren</a:t>
            </a:r>
            <a:r>
              <a:rPr lang="de-DE" dirty="0" smtClean="0"/>
              <a:t>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sea</a:t>
            </a:r>
            <a:r>
              <a:rPr lang="de-DE" dirty="0" smtClean="0"/>
              <a:t> 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5"/>
            <a:ext cx="4500563" cy="42481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87AB5A0-131E-488A-AC15-90A531792AD2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5598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5"/>
            <a:ext cx="9144000" cy="4250602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89EDABB2-7C60-4BC0-80AA-7C5737E0659F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4020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8"/>
            <a:ext cx="1166437" cy="291013"/>
          </a:xfrm>
          <a:prstGeom prst="rect">
            <a:avLst/>
          </a:prstGeom>
        </p:spPr>
      </p:pic>
      <p:sp>
        <p:nvSpPr>
          <p:cNvPr id="16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8459"/>
            <a:ext cx="1379538" cy="893804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r">
              <a:buNone/>
              <a:defRPr sz="5000" b="1">
                <a:solidFill>
                  <a:srgbClr val="0059B9"/>
                </a:solidFill>
                <a:latin typeface="News Gothic MT" panose="020B0503020103020203" pitchFamily="34" charset="0"/>
              </a:defRPr>
            </a:lvl1pPr>
          </a:lstStyle>
          <a:p>
            <a:pPr lvl="0"/>
            <a:r>
              <a:rPr lang="de-DE" dirty="0" smtClean="0"/>
              <a:t>1.1</a:t>
            </a:r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52394" y="728663"/>
            <a:ext cx="9115606" cy="4810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000" b="1" cap="all" spc="0" baseline="0">
                <a:solidFill>
                  <a:schemeClr val="bg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3000" b="1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ÜBERSCHRIFT (</a:t>
            </a:r>
            <a:r>
              <a:rPr lang="de-DE" dirty="0" err="1" smtClean="0"/>
              <a:t>Grossbuchstaben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1921397" y="1220788"/>
            <a:ext cx="8746603" cy="3714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>
                <a:solidFill>
                  <a:srgbClr val="B0B1B1"/>
                </a:solidFill>
                <a:latin typeface="News Gothic MT" panose="020B0503020103020203" pitchFamily="34" charset="0"/>
              </a:defRPr>
            </a:lvl1pPr>
            <a:lvl2pPr marL="4572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2pPr>
            <a:lvl3pPr marL="9144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3pPr>
            <a:lvl4pPr marL="13716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4pPr>
            <a:lvl5pPr marL="1828800" indent="0">
              <a:buNone/>
              <a:defRPr sz="1600">
                <a:solidFill>
                  <a:srgbClr val="616263"/>
                </a:solidFill>
                <a:latin typeface="News Gothic MT" panose="020B0503020103020203" pitchFamily="34" charset="0"/>
              </a:defRPr>
            </a:lvl5pPr>
          </a:lstStyle>
          <a:p>
            <a:pPr lvl="0"/>
            <a:r>
              <a:rPr lang="de-DE" dirty="0" smtClean="0"/>
              <a:t>UNTERÜBERSCHRIFT (GROSSBUCHSTABEN)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1524000" y="1736724"/>
            <a:ext cx="9144000" cy="37306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552575" y="5611812"/>
            <a:ext cx="7869238" cy="3730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indent="0">
              <a:buNone/>
              <a:defRPr sz="1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smtClean="0"/>
              <a:t>Bildunterschrift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E3C2D34-8A77-431A-83E1-E7AD91A5A203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8734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63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6" r:id="rId2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atumsplatzhalter 3"/>
          <p:cNvSpPr>
            <a:spLocks noGrp="1"/>
          </p:cNvSpPr>
          <p:nvPr>
            <p:ph type="dt" sz="half" idx="2"/>
          </p:nvPr>
        </p:nvSpPr>
        <p:spPr>
          <a:xfrm>
            <a:off x="1524000" y="6271350"/>
            <a:ext cx="1403350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rgbClr val="616263"/>
                </a:solidFill>
              </a:defRPr>
            </a:lvl1pPr>
          </a:lstStyle>
          <a:p>
            <a:fld id="{C7EA5559-3E0A-46D6-B77F-0273A3992A4F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12463" y="6271349"/>
            <a:ext cx="1040013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rgbClr val="616263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47" name="Grafik 4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9"/>
            <a:ext cx="1166437" cy="291011"/>
          </a:xfrm>
          <a:prstGeom prst="rect">
            <a:avLst/>
          </a:prstGeom>
        </p:spPr>
      </p:pic>
      <p:sp>
        <p:nvSpPr>
          <p:cNvPr id="49" name="Fußzeilenplatzhalter 48"/>
          <p:cNvSpPr>
            <a:spLocks noGrp="1"/>
          </p:cNvSpPr>
          <p:nvPr>
            <p:ph type="ftr" sz="quarter" idx="3"/>
          </p:nvPr>
        </p:nvSpPr>
        <p:spPr>
          <a:xfrm>
            <a:off x="3071813" y="6271348"/>
            <a:ext cx="41148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400">
                <a:solidFill>
                  <a:srgbClr val="616263"/>
                </a:solidFill>
              </a:defRPr>
            </a:lvl1pPr>
          </a:lstStyle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cxnSp>
        <p:nvCxnSpPr>
          <p:cNvPr id="50" name="Gerader Verbinder 49"/>
          <p:cNvCxnSpPr/>
          <p:nvPr userDrawn="1"/>
        </p:nvCxnSpPr>
        <p:spPr>
          <a:xfrm>
            <a:off x="1524000" y="6129338"/>
            <a:ext cx="10668000" cy="0"/>
          </a:xfrm>
          <a:prstGeom prst="line">
            <a:avLst/>
          </a:prstGeom>
          <a:ln w="25400">
            <a:solidFill>
              <a:srgbClr val="6162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55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56" r:id="rId2"/>
    <p:sldLayoutId id="2147483657" r:id="rId3"/>
    <p:sldLayoutId id="2147483658" r:id="rId4"/>
    <p:sldLayoutId id="2147483695" r:id="rId5"/>
    <p:sldLayoutId id="2147483660" r:id="rId6"/>
    <p:sldLayoutId id="2147483661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819">
          <p15:clr>
            <a:srgbClr val="F26B43"/>
          </p15:clr>
        </p15:guide>
        <p15:guide id="3" pos="960">
          <p15:clr>
            <a:srgbClr val="F26B43"/>
          </p15:clr>
        </p15:guide>
        <p15:guide id="4" orient="horz" pos="436" userDrawn="1">
          <p15:clr>
            <a:srgbClr val="F26B43"/>
          </p15:clr>
        </p15:guide>
        <p15:guide id="5" orient="horz" pos="1003">
          <p15:clr>
            <a:srgbClr val="F26B43"/>
          </p15:clr>
        </p15:guide>
        <p15:guide id="6" orient="horz" pos="1094">
          <p15:clr>
            <a:srgbClr val="F26B43"/>
          </p15:clr>
        </p15:guide>
        <p15:guide id="7" pos="1935">
          <p15:clr>
            <a:srgbClr val="F26B43"/>
          </p15:clr>
        </p15:guide>
        <p15:guide id="8" pos="1844">
          <p15:clr>
            <a:srgbClr val="F26B43"/>
          </p15:clr>
        </p15:guide>
        <p15:guide id="9" pos="2910">
          <p15:clr>
            <a:srgbClr val="F26B43"/>
          </p15:clr>
        </p15:guide>
        <p15:guide id="10" pos="3795">
          <p15:clr>
            <a:srgbClr val="F26B43"/>
          </p15:clr>
        </p15:guide>
        <p15:guide id="11" pos="3885">
          <p15:clr>
            <a:srgbClr val="F26B43"/>
          </p15:clr>
        </p15:guide>
        <p15:guide id="12" pos="869">
          <p15:clr>
            <a:srgbClr val="F26B43"/>
          </p15:clr>
        </p15:guide>
        <p15:guide id="13" pos="4770">
          <p15:clr>
            <a:srgbClr val="F26B43"/>
          </p15:clr>
        </p15:guide>
        <p15:guide id="14" pos="4861">
          <p15:clr>
            <a:srgbClr val="F26B43"/>
          </p15:clr>
        </p15:guide>
        <p15:guide id="15" pos="5745">
          <p15:clr>
            <a:srgbClr val="F26B43"/>
          </p15:clr>
        </p15:guide>
        <p15:guide id="16" pos="5836">
          <p15:clr>
            <a:srgbClr val="F26B43"/>
          </p15:clr>
        </p15:guide>
        <p15:guide id="17" pos="6720">
          <p15:clr>
            <a:srgbClr val="F26B43"/>
          </p15:clr>
        </p15:guide>
        <p15:guide id="18" pos="6811">
          <p15:clr>
            <a:srgbClr val="F26B43"/>
          </p15:clr>
        </p15:guide>
        <p15:guide id="20" orient="horz" pos="1570">
          <p15:clr>
            <a:srgbClr val="F26B43"/>
          </p15:clr>
        </p15:guide>
        <p15:guide id="21" orient="horz" pos="1661">
          <p15:clr>
            <a:srgbClr val="F26B43"/>
          </p15:clr>
        </p15:guide>
        <p15:guide id="22" orient="horz" pos="2115">
          <p15:clr>
            <a:srgbClr val="F26B43"/>
          </p15:clr>
        </p15:guide>
        <p15:guide id="23" orient="horz" pos="2205">
          <p15:clr>
            <a:srgbClr val="F26B43"/>
          </p15:clr>
        </p15:guide>
        <p15:guide id="25" orient="horz" pos="3203">
          <p15:clr>
            <a:srgbClr val="F26B43"/>
          </p15:clr>
        </p15:guide>
        <p15:guide id="26" orient="horz" pos="2750">
          <p15:clr>
            <a:srgbClr val="F26B43"/>
          </p15:clr>
        </p15:guide>
        <p15:guide id="27" orient="horz" pos="2659">
          <p15:clr>
            <a:srgbClr val="F26B43"/>
          </p15:clr>
        </p15:guide>
        <p15:guide id="28" orient="horz" pos="3748" userDrawn="1">
          <p15:clr>
            <a:srgbClr val="F26B43"/>
          </p15:clr>
        </p15:guide>
        <p15:guide id="29" orient="horz" pos="3294">
          <p15:clr>
            <a:srgbClr val="F26B43"/>
          </p15:clr>
        </p15:guide>
        <p15:guide id="30" orient="horz" pos="3861">
          <p15:clr>
            <a:srgbClr val="F26B43"/>
          </p15:clr>
        </p15:guide>
        <p15:guide id="31" orient="horz" pos="1344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atumsplatzhalter 3"/>
          <p:cNvSpPr>
            <a:spLocks noGrp="1"/>
          </p:cNvSpPr>
          <p:nvPr>
            <p:ph type="dt" sz="half" idx="2"/>
          </p:nvPr>
        </p:nvSpPr>
        <p:spPr>
          <a:xfrm>
            <a:off x="1524000" y="6271350"/>
            <a:ext cx="1403350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rgbClr val="616263"/>
                </a:solidFill>
              </a:defRPr>
            </a:lvl1pPr>
          </a:lstStyle>
          <a:p>
            <a:fld id="{3FCDD6CF-D357-4268-A426-6293DB721DCC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12463" y="6271349"/>
            <a:ext cx="1040013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rgbClr val="616263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47" name="Grafik 46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9"/>
            <a:ext cx="1166437" cy="291011"/>
          </a:xfrm>
          <a:prstGeom prst="rect">
            <a:avLst/>
          </a:prstGeom>
        </p:spPr>
      </p:pic>
      <p:sp>
        <p:nvSpPr>
          <p:cNvPr id="49" name="Fußzeilenplatzhalter 48"/>
          <p:cNvSpPr>
            <a:spLocks noGrp="1"/>
          </p:cNvSpPr>
          <p:nvPr>
            <p:ph type="ftr" sz="quarter" idx="3"/>
          </p:nvPr>
        </p:nvSpPr>
        <p:spPr>
          <a:xfrm>
            <a:off x="3071813" y="6271348"/>
            <a:ext cx="41148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400">
                <a:solidFill>
                  <a:srgbClr val="616263"/>
                </a:solidFill>
              </a:defRPr>
            </a:lvl1pPr>
          </a:lstStyle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cxnSp>
        <p:nvCxnSpPr>
          <p:cNvPr id="50" name="Gerader Verbinder 49"/>
          <p:cNvCxnSpPr/>
          <p:nvPr userDrawn="1"/>
        </p:nvCxnSpPr>
        <p:spPr>
          <a:xfrm>
            <a:off x="1524000" y="6129338"/>
            <a:ext cx="10668000" cy="0"/>
          </a:xfrm>
          <a:prstGeom prst="line">
            <a:avLst/>
          </a:prstGeom>
          <a:ln w="25400">
            <a:solidFill>
              <a:srgbClr val="6162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83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36" userDrawn="1">
          <p15:clr>
            <a:srgbClr val="F26B43"/>
          </p15:clr>
        </p15:guide>
        <p15:guide id="2" pos="2819">
          <p15:clr>
            <a:srgbClr val="F26B43"/>
          </p15:clr>
        </p15:guide>
        <p15:guide id="3" pos="960">
          <p15:clr>
            <a:srgbClr val="F26B43"/>
          </p15:clr>
        </p15:guide>
        <p15:guide id="5" orient="horz" pos="1003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pos="1935">
          <p15:clr>
            <a:srgbClr val="F26B43"/>
          </p15:clr>
        </p15:guide>
        <p15:guide id="8" pos="1844">
          <p15:clr>
            <a:srgbClr val="F26B43"/>
          </p15:clr>
        </p15:guide>
        <p15:guide id="9" pos="2910">
          <p15:clr>
            <a:srgbClr val="F26B43"/>
          </p15:clr>
        </p15:guide>
        <p15:guide id="10" pos="3795">
          <p15:clr>
            <a:srgbClr val="F26B43"/>
          </p15:clr>
        </p15:guide>
        <p15:guide id="11" pos="3885">
          <p15:clr>
            <a:srgbClr val="F26B43"/>
          </p15:clr>
        </p15:guide>
        <p15:guide id="12" pos="869">
          <p15:clr>
            <a:srgbClr val="F26B43"/>
          </p15:clr>
        </p15:guide>
        <p15:guide id="13" pos="4770">
          <p15:clr>
            <a:srgbClr val="F26B43"/>
          </p15:clr>
        </p15:guide>
        <p15:guide id="14" pos="4861">
          <p15:clr>
            <a:srgbClr val="F26B43"/>
          </p15:clr>
        </p15:guide>
        <p15:guide id="15" pos="5745">
          <p15:clr>
            <a:srgbClr val="F26B43"/>
          </p15:clr>
        </p15:guide>
        <p15:guide id="16" pos="5836">
          <p15:clr>
            <a:srgbClr val="F26B43"/>
          </p15:clr>
        </p15:guide>
        <p15:guide id="17" pos="6720">
          <p15:clr>
            <a:srgbClr val="F26B43"/>
          </p15:clr>
        </p15:guide>
        <p15:guide id="18" pos="6811">
          <p15:clr>
            <a:srgbClr val="F26B43"/>
          </p15:clr>
        </p15:guide>
        <p15:guide id="20" orient="horz" pos="1570">
          <p15:clr>
            <a:srgbClr val="F26B43"/>
          </p15:clr>
        </p15:guide>
        <p15:guide id="21" orient="horz" pos="1661">
          <p15:clr>
            <a:srgbClr val="F26B43"/>
          </p15:clr>
        </p15:guide>
        <p15:guide id="22" orient="horz" pos="2115">
          <p15:clr>
            <a:srgbClr val="F26B43"/>
          </p15:clr>
        </p15:guide>
        <p15:guide id="23" orient="horz" pos="2205">
          <p15:clr>
            <a:srgbClr val="F26B43"/>
          </p15:clr>
        </p15:guide>
        <p15:guide id="25" orient="horz" pos="3203">
          <p15:clr>
            <a:srgbClr val="F26B43"/>
          </p15:clr>
        </p15:guide>
        <p15:guide id="26" orient="horz" pos="2750">
          <p15:clr>
            <a:srgbClr val="F26B43"/>
          </p15:clr>
        </p15:guide>
        <p15:guide id="27" orient="horz" pos="2659">
          <p15:clr>
            <a:srgbClr val="F26B43"/>
          </p15:clr>
        </p15:guide>
        <p15:guide id="28" orient="horz" pos="3748" userDrawn="1">
          <p15:clr>
            <a:srgbClr val="F26B43"/>
          </p15:clr>
        </p15:guide>
        <p15:guide id="29" orient="horz" pos="3294">
          <p15:clr>
            <a:srgbClr val="F26B43"/>
          </p15:clr>
        </p15:guide>
        <p15:guide id="30" orient="horz" pos="3861">
          <p15:clr>
            <a:srgbClr val="F26B43"/>
          </p15:clr>
        </p15:guide>
        <p15:guide id="31" orient="horz" pos="1321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59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atumsplatzhalter 3"/>
          <p:cNvSpPr>
            <a:spLocks noGrp="1"/>
          </p:cNvSpPr>
          <p:nvPr>
            <p:ph type="dt" sz="half" idx="2"/>
          </p:nvPr>
        </p:nvSpPr>
        <p:spPr>
          <a:xfrm>
            <a:off x="1524000" y="6271350"/>
            <a:ext cx="1403350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rgbClr val="B0B1B1"/>
                </a:solidFill>
              </a:defRPr>
            </a:lvl1pPr>
          </a:lstStyle>
          <a:p>
            <a:fld id="{79417443-4155-4A74-96CB-54600A3BF923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12463" y="6271349"/>
            <a:ext cx="1040013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rgbClr val="B0B1B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47" name="Grafik 4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762" y="318929"/>
            <a:ext cx="1166437" cy="291011"/>
          </a:xfrm>
          <a:prstGeom prst="rect">
            <a:avLst/>
          </a:prstGeom>
        </p:spPr>
      </p:pic>
      <p:sp>
        <p:nvSpPr>
          <p:cNvPr id="49" name="Fußzeilenplatzhalter 48"/>
          <p:cNvSpPr>
            <a:spLocks noGrp="1"/>
          </p:cNvSpPr>
          <p:nvPr>
            <p:ph type="ftr" sz="quarter" idx="3"/>
          </p:nvPr>
        </p:nvSpPr>
        <p:spPr>
          <a:xfrm>
            <a:off x="3071813" y="6271348"/>
            <a:ext cx="41148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400">
                <a:solidFill>
                  <a:srgbClr val="B0B1B1"/>
                </a:solidFill>
              </a:defRPr>
            </a:lvl1pPr>
          </a:lstStyle>
          <a:p>
            <a:r>
              <a:rPr lang="de-DE" smtClean="0"/>
              <a:t>Biomassepotenziale in Thüringen</a:t>
            </a:r>
            <a:endParaRPr lang="de-DE" dirty="0"/>
          </a:p>
        </p:txBody>
      </p:sp>
      <p:cxnSp>
        <p:nvCxnSpPr>
          <p:cNvPr id="50" name="Gerader Verbinder 49"/>
          <p:cNvCxnSpPr/>
          <p:nvPr userDrawn="1"/>
        </p:nvCxnSpPr>
        <p:spPr>
          <a:xfrm>
            <a:off x="1524000" y="6129338"/>
            <a:ext cx="10668000" cy="0"/>
          </a:xfrm>
          <a:prstGeom prst="line">
            <a:avLst/>
          </a:prstGeom>
          <a:ln w="25400">
            <a:solidFill>
              <a:srgbClr val="B0B1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56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819">
          <p15:clr>
            <a:srgbClr val="F26B43"/>
          </p15:clr>
        </p15:guide>
        <p15:guide id="3" pos="960">
          <p15:clr>
            <a:srgbClr val="F26B43"/>
          </p15:clr>
        </p15:guide>
        <p15:guide id="5" orient="horz" pos="1003">
          <p15:clr>
            <a:srgbClr val="F26B43"/>
          </p15:clr>
        </p15:guide>
        <p15:guide id="6" orient="horz" pos="1094">
          <p15:clr>
            <a:srgbClr val="F26B43"/>
          </p15:clr>
        </p15:guide>
        <p15:guide id="7" pos="1935">
          <p15:clr>
            <a:srgbClr val="F26B43"/>
          </p15:clr>
        </p15:guide>
        <p15:guide id="8" pos="1844">
          <p15:clr>
            <a:srgbClr val="F26B43"/>
          </p15:clr>
        </p15:guide>
        <p15:guide id="9" pos="2910">
          <p15:clr>
            <a:srgbClr val="F26B43"/>
          </p15:clr>
        </p15:guide>
        <p15:guide id="10" pos="3795">
          <p15:clr>
            <a:srgbClr val="F26B43"/>
          </p15:clr>
        </p15:guide>
        <p15:guide id="11" pos="3885">
          <p15:clr>
            <a:srgbClr val="F26B43"/>
          </p15:clr>
        </p15:guide>
        <p15:guide id="12" pos="869">
          <p15:clr>
            <a:srgbClr val="F26B43"/>
          </p15:clr>
        </p15:guide>
        <p15:guide id="13" pos="4770">
          <p15:clr>
            <a:srgbClr val="F26B43"/>
          </p15:clr>
        </p15:guide>
        <p15:guide id="14" pos="4861">
          <p15:clr>
            <a:srgbClr val="F26B43"/>
          </p15:clr>
        </p15:guide>
        <p15:guide id="15" pos="5745">
          <p15:clr>
            <a:srgbClr val="F26B43"/>
          </p15:clr>
        </p15:guide>
        <p15:guide id="16" pos="5836">
          <p15:clr>
            <a:srgbClr val="F26B43"/>
          </p15:clr>
        </p15:guide>
        <p15:guide id="17" pos="6720">
          <p15:clr>
            <a:srgbClr val="F26B43"/>
          </p15:clr>
        </p15:guide>
        <p15:guide id="18" pos="6811">
          <p15:clr>
            <a:srgbClr val="F26B43"/>
          </p15:clr>
        </p15:guide>
        <p15:guide id="20" orient="horz" pos="1570">
          <p15:clr>
            <a:srgbClr val="F26B43"/>
          </p15:clr>
        </p15:guide>
        <p15:guide id="21" orient="horz" pos="1661">
          <p15:clr>
            <a:srgbClr val="F26B43"/>
          </p15:clr>
        </p15:guide>
        <p15:guide id="22" orient="horz" pos="2115">
          <p15:clr>
            <a:srgbClr val="F26B43"/>
          </p15:clr>
        </p15:guide>
        <p15:guide id="23" orient="horz" pos="2205">
          <p15:clr>
            <a:srgbClr val="F26B43"/>
          </p15:clr>
        </p15:guide>
        <p15:guide id="25" orient="horz" pos="3203">
          <p15:clr>
            <a:srgbClr val="F26B43"/>
          </p15:clr>
        </p15:guide>
        <p15:guide id="26" orient="horz" pos="2750">
          <p15:clr>
            <a:srgbClr val="F26B43"/>
          </p15:clr>
        </p15:guide>
        <p15:guide id="27" orient="horz" pos="2659">
          <p15:clr>
            <a:srgbClr val="F26B43"/>
          </p15:clr>
        </p15:guide>
        <p15:guide id="28" orient="horz" pos="3748" userDrawn="1">
          <p15:clr>
            <a:srgbClr val="F26B43"/>
          </p15:clr>
        </p15:guide>
        <p15:guide id="29" orient="horz" pos="3294">
          <p15:clr>
            <a:srgbClr val="F26B43"/>
          </p15:clr>
        </p15:guide>
        <p15:guide id="30" orient="horz" pos="3861">
          <p15:clr>
            <a:srgbClr val="F26B43"/>
          </p15:clr>
        </p15:guide>
        <p15:guide id="31" orient="horz" pos="436" userDrawn="1">
          <p15:clr>
            <a:srgbClr val="F26B43"/>
          </p15:clr>
        </p15:guide>
        <p15:guide id="32" orient="horz" pos="1344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D:\Desktop\AEE_Nutzungspfade_von_Energiepflanzen_jan13_72dpi.jp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file:///D:\Desktop\Seiten%20aus%20AEE_Potenzialatlas_Bioenergie_Thueringen_jan13.pdf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D:\Desktop\AEE_Nutzungspfade_von_Energiepflanzen_jan13_72dpi.jp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D:\Desktop\Promotion\2_Daten\04_Potenziale\28112024_DBFZ_Ressourcendatenbank_Flowcharts_D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D:\Desktop\Promotion\2_Daten\02_Python\Potentiale.xls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6032968" y="494324"/>
            <a:ext cx="5569292" cy="294042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 err="1" smtClean="0"/>
              <a:t>Biomasse</a:t>
            </a:r>
            <a:r>
              <a:rPr lang="en-US" dirty="0" smtClean="0"/>
              <a:t> </a:t>
            </a:r>
            <a:r>
              <a:rPr lang="en-US" dirty="0" err="1" smtClean="0"/>
              <a:t>Potenziale</a:t>
            </a:r>
            <a:r>
              <a:rPr lang="en-US" dirty="0" smtClean="0"/>
              <a:t> in Thüringen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6"/>
          </p:nvPr>
        </p:nvSpPr>
        <p:spPr>
          <a:xfrm>
            <a:off x="6032968" y="2536646"/>
            <a:ext cx="4767122" cy="1582917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de-DE" dirty="0" smtClean="0"/>
              <a:t/>
            </a:r>
            <a:br>
              <a:rPr lang="de-DE" dirty="0" smtClean="0"/>
            </a:b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6032968" y="4119563"/>
            <a:ext cx="4767122" cy="1988756"/>
          </a:xfrm>
        </p:spPr>
        <p:txBody>
          <a:bodyPr/>
          <a:lstStyle/>
          <a:p>
            <a:r>
              <a:rPr lang="de-DE" dirty="0" smtClean="0"/>
              <a:t>Lynn Vincent</a:t>
            </a:r>
          </a:p>
          <a:p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Prof. Dr. mont</a:t>
            </a:r>
            <a:r>
              <a:rPr lang="de-DE" dirty="0"/>
              <a:t>.</a:t>
            </a:r>
            <a:r>
              <a:rPr lang="de-DE" dirty="0" smtClean="0"/>
              <a:t> Michael Nelles</a:t>
            </a:r>
          </a:p>
          <a:p>
            <a:r>
              <a:rPr lang="de-DE" dirty="0" smtClean="0"/>
              <a:t>Prof. Dr.-Ing. Viktor Wesselak</a:t>
            </a:r>
          </a:p>
          <a:p>
            <a:endParaRPr lang="de-DE" dirty="0"/>
          </a:p>
        </p:txBody>
      </p:sp>
      <p:pic>
        <p:nvPicPr>
          <p:cNvPr id="1026" name="Picture 2" descr="Universität Rostock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60" y="5489194"/>
            <a:ext cx="57150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69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0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F9B501D-91B5-4B76-8C8A-C281D72B8EBA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04159EC-EC62-40B5-86E9-FC0E403A2141}" type="slidenum">
              <a:rPr lang="de-DE" smtClean="0"/>
              <a:t>2</a:t>
            </a:fld>
            <a:endParaRPr lang="de-DE" dirty="0"/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7"/>
          </p:nvPr>
        </p:nvSpPr>
        <p:spPr>
          <a:xfrm>
            <a:off x="1552395" y="2152650"/>
            <a:ext cx="9115606" cy="343852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 smtClean="0"/>
              <a:t>Definitionen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smtClean="0"/>
              <a:t>Nutzungspfade</a:t>
            </a:r>
            <a:endParaRPr lang="de-DE" dirty="0" smtClean="0"/>
          </a:p>
          <a:p>
            <a:pPr marL="342900" indent="-342900">
              <a:buFont typeface="+mj-lt"/>
              <a:buAutoNum type="arabicPeriod"/>
            </a:pPr>
            <a:r>
              <a:rPr lang="de-DE" dirty="0" smtClean="0"/>
              <a:t>Biomassekategorien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smtClean="0"/>
              <a:t>Methodik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smtClean="0"/>
              <a:t>Annahmen und Parameter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smtClean="0"/>
              <a:t>Ergebnisse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smtClean="0"/>
              <a:t>Diskussion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smtClean="0"/>
              <a:t>Ausblick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605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1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Definitionen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Potenzialebenen und </a:t>
            </a:r>
            <a:r>
              <a:rPr lang="de-DE" dirty="0" smtClean="0"/>
              <a:t>Potenzialkategorien</a:t>
            </a:r>
            <a:r>
              <a:rPr lang="de-DE" dirty="0"/>
              <a:t>:</a:t>
            </a:r>
          </a:p>
          <a:p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7"/>
          </p:nvPr>
        </p:nvSpPr>
        <p:spPr>
          <a:xfrm>
            <a:off x="1552395" y="2152650"/>
            <a:ext cx="9115606" cy="34385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Rohstoffpotenzial (Massen- oder Volumeneinheiten)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Bioenergieträgerpotenzial </a:t>
            </a:r>
            <a:r>
              <a:rPr lang="de-DE" dirty="0"/>
              <a:t>(</a:t>
            </a:r>
            <a:r>
              <a:rPr lang="de-DE" dirty="0" smtClean="0"/>
              <a:t>Massen- </a:t>
            </a:r>
            <a:r>
              <a:rPr lang="de-DE" dirty="0"/>
              <a:t>oder Volumeneinheiten</a:t>
            </a:r>
            <a:r>
              <a:rPr lang="de-DE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smtClean="0"/>
              <a:t>Bioenergiepotenzial (Energieeinheit)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Potenzialkategorien: </a:t>
            </a:r>
          </a:p>
          <a:p>
            <a:pPr marL="5989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theoretisches, </a:t>
            </a:r>
          </a:p>
          <a:p>
            <a:pPr marL="598950" lvl="1" indent="-285750">
              <a:buFont typeface="Arial" panose="020B0604020202020204" pitchFamily="34" charset="0"/>
              <a:buChar char="•"/>
            </a:pPr>
            <a:r>
              <a:rPr lang="de-DE" b="1" dirty="0" smtClean="0"/>
              <a:t>technisches, </a:t>
            </a:r>
          </a:p>
          <a:p>
            <a:pPr marL="5989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wirtschaftliches oder ökonomisches,</a:t>
            </a:r>
            <a:endParaRPr lang="de-DE" dirty="0" smtClean="0"/>
          </a:p>
          <a:p>
            <a:pPr marL="5989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nachhaltiges,</a:t>
            </a:r>
          </a:p>
          <a:p>
            <a:pPr marL="5989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erschließbares oder realisierbares Potenzial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19F1775-84CE-4854-9B1E-5A26C3D9AD50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C98A14D-15F0-49BC-991B-33D99DDF69E7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719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2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Bioenergie Nutzungspfade 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660895C-F005-41AB-B098-A8E90E453BAA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8768862" y="2743200"/>
            <a:ext cx="159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hlinkClick r:id="rId3" action="ppaction://hlinkfile"/>
              </a:rPr>
              <a:t>Bild:</a:t>
            </a:r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42900"/>
            <a:ext cx="8649395" cy="6858000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10812463" y="5193323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hlinkClick r:id="rId5" action="ppaction://hlinkfile"/>
              </a:rPr>
              <a:t>Bild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9962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2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Bioenergie Nutzungspfade 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660895C-F005-41AB-B098-A8E90E453BAA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8768862" y="2743200"/>
            <a:ext cx="159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hlinkClick r:id="rId3" action="ppaction://hlinkfile"/>
              </a:rPr>
              <a:t>Bild: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394" y="0"/>
            <a:ext cx="8382203" cy="663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0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3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Biomassekategorien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7"/>
          </p:nvPr>
        </p:nvSpPr>
        <p:spPr>
          <a:xfrm>
            <a:off x="1814767" y="1991956"/>
            <a:ext cx="8997696" cy="427939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smtClean="0"/>
              <a:t>Tierische </a:t>
            </a:r>
            <a:r>
              <a:rPr lang="de-DE" dirty="0" smtClean="0"/>
              <a:t>Exkremente,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smtClean="0"/>
              <a:t>Energiepflanzen,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smtClean="0"/>
              <a:t>Bioabfall, </a:t>
            </a:r>
            <a:r>
              <a:rPr lang="de-DE" dirty="0" err="1" smtClean="0"/>
              <a:t>Grüngut</a:t>
            </a:r>
            <a:endParaRPr lang="de-DE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de-DE" dirty="0" smtClean="0"/>
              <a:t> Restmüll</a:t>
            </a:r>
            <a:r>
              <a:rPr lang="de-DE" dirty="0"/>
              <a:t>, </a:t>
            </a:r>
            <a:r>
              <a:rPr lang="de-DE" dirty="0" smtClean="0"/>
              <a:t>Sperrmüll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smtClean="0"/>
              <a:t>Stroh</a:t>
            </a:r>
            <a:r>
              <a:rPr lang="de-DE" dirty="0" smtClean="0"/>
              <a:t>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smtClean="0"/>
              <a:t>Holz</a:t>
            </a:r>
            <a:r>
              <a:rPr lang="de-DE" dirty="0" smtClean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 smtClean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E5A1F77-7BA4-42AB-9FD8-E3555F211CE9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643866B-A096-4293-8A41-9347DBB4C8C9}" type="slidenum">
              <a:rPr lang="de-DE" smtClean="0"/>
              <a:t>6</a:t>
            </a:fld>
            <a:endParaRPr lang="de-DE" dirty="0"/>
          </a:p>
        </p:txBody>
      </p:sp>
      <p:sp>
        <p:nvSpPr>
          <p:cNvPr id="4" name="Geschweifte Klammer rechts 3"/>
          <p:cNvSpPr/>
          <p:nvPr/>
        </p:nvSpPr>
        <p:spPr>
          <a:xfrm>
            <a:off x="4543997" y="1991954"/>
            <a:ext cx="674179" cy="1214542"/>
          </a:xfrm>
          <a:prstGeom prst="rightBrace">
            <a:avLst>
              <a:gd name="adj1" fmla="val 8333"/>
              <a:gd name="adj2" fmla="val 48148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Geschweifte Klammer rechts 9"/>
          <p:cNvSpPr/>
          <p:nvPr/>
        </p:nvSpPr>
        <p:spPr>
          <a:xfrm>
            <a:off x="4543996" y="3442573"/>
            <a:ext cx="674179" cy="1214542"/>
          </a:xfrm>
          <a:prstGeom prst="rightBrace">
            <a:avLst>
              <a:gd name="adj1" fmla="val 8333"/>
              <a:gd name="adj2" fmla="val 48148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5508943" y="2374543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Vergärung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5508943" y="3762320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Verbrennung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4281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4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smtClean="0"/>
              <a:t>Methodik</a:t>
            </a:r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7"/>
          </p:nvPr>
        </p:nvSpPr>
        <p:spPr>
          <a:xfrm>
            <a:off x="1921397" y="2152650"/>
            <a:ext cx="9600043" cy="34385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Entwickelte Methodik von </a:t>
            </a:r>
            <a:r>
              <a:rPr lang="de-DE" dirty="0" err="1"/>
              <a:t>Brosowksi</a:t>
            </a:r>
            <a:r>
              <a:rPr lang="de-DE" dirty="0"/>
              <a:t> </a:t>
            </a:r>
            <a:r>
              <a:rPr lang="de-DE" dirty="0" smtClean="0"/>
              <a:t>2019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Anwendung </a:t>
            </a:r>
            <a:r>
              <a:rPr lang="de-DE" dirty="0" smtClean="0"/>
              <a:t>DBFZ Flow-Charts 2024 zur Potenzialberechnung mit </a:t>
            </a:r>
            <a:r>
              <a:rPr lang="de-DE" dirty="0" smtClean="0"/>
              <a:t>Änderungen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Nutzung </a:t>
            </a:r>
            <a:r>
              <a:rPr lang="de-DE" dirty="0" smtClean="0"/>
              <a:t>von Statistiken (TLS)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Annahmen basierend auf Literatur und Studien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Beispiel </a:t>
            </a:r>
            <a:r>
              <a:rPr lang="de-DE" dirty="0" smtClean="0">
                <a:hlinkClick r:id="rId3" action="ppaction://hlinkfile"/>
              </a:rPr>
              <a:t>Flow Charts</a:t>
            </a:r>
            <a:r>
              <a:rPr lang="de-DE" dirty="0" smtClean="0"/>
              <a:t> 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Theoretische Biomassepotenzial &gt; technischen Biomassepotenzial&gt; theoretisches Bioenergieträgerpotenzial &gt;theoretisches Bioenergiepotenzial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21DA4C0-C849-4F46-AD49-C165613B5740}" type="datetime1">
              <a:rPr lang="de-DE" smtClean="0"/>
              <a:pPr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A09159-5E91-4A71-BA05-6BA145804DC4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496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5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smtClean="0"/>
              <a:t>Annahmen und Parameter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1455043" y="1981201"/>
            <a:ext cx="10618423" cy="313266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TM-Gehalte,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Biogaserträge,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Ernteerträge,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Methangehalte,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Verluste,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Heizwerte,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Bergungsraten,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Annahmen zur energetischen Nutzung, 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Abfallaufkommen,</a:t>
            </a:r>
            <a:endParaRPr lang="de-DE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Holzeinschlag,</a:t>
            </a:r>
            <a:endParaRPr lang="de-DE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Erntemengen,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Tierzahlen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Güllefaktoren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Stallhaltungszeiten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 smtClean="0"/>
              <a:t>Silageverluste</a:t>
            </a:r>
            <a:endParaRPr lang="de-DE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smtClean="0"/>
              <a:t> </a:t>
            </a:r>
            <a:r>
              <a:rPr lang="de-DE" sz="2000" dirty="0" smtClean="0">
                <a:hlinkClick r:id="rId3" action="ppaction://hlinkfile"/>
              </a:rPr>
              <a:t>Excel</a:t>
            </a:r>
            <a:endParaRPr lang="de-DE" sz="2000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DE7264-4691-46F9-9977-64035DD066ED}" type="datetime1">
              <a:rPr lang="de-DE" smtClean="0"/>
              <a:pPr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556BF26-66BE-4941-9FFC-1E238B11B706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834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6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Ergebnisse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smtClean="0"/>
              <a:t>Bioenergiepotenzial Tierische Exkremente in </a:t>
            </a:r>
            <a:r>
              <a:rPr lang="de-DE" dirty="0" err="1" smtClean="0"/>
              <a:t>GWh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B50FAE5-B349-4853-AD47-7F6E18DB16F2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2C321D8-A855-4859-8B9E-AB13924EE357}" type="slidenum">
              <a:rPr lang="de-DE" smtClean="0"/>
              <a:t>9</a:t>
            </a:fld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195190"/>
              </p:ext>
            </p:extLst>
          </p:nvPr>
        </p:nvGraphicFramePr>
        <p:xfrm>
          <a:off x="243842" y="2152650"/>
          <a:ext cx="11777472" cy="3334034"/>
        </p:xfrm>
        <a:graphic>
          <a:graphicData uri="http://schemas.openxmlformats.org/drawingml/2006/table">
            <a:tbl>
              <a:tblPr firstRow="1" firstCol="1" lastRow="1" lastCol="1" bandRow="1">
                <a:tableStyleId>{93296810-A885-4BE3-A3E7-6D5BEEA58F35}</a:tableStyleId>
              </a:tblPr>
              <a:tblGrid>
                <a:gridCol w="2292094">
                  <a:extLst>
                    <a:ext uri="{9D8B030D-6E8A-4147-A177-3AD203B41FA5}">
                      <a16:colId xmlns:a16="http://schemas.microsoft.com/office/drawing/2014/main" val="4258566484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77465877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1658036022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1822166989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382708671"/>
                    </a:ext>
                  </a:extLst>
                </a:gridCol>
                <a:gridCol w="3304032">
                  <a:extLst>
                    <a:ext uri="{9D8B030D-6E8A-4147-A177-3AD203B41FA5}">
                      <a16:colId xmlns:a16="http://schemas.microsoft.com/office/drawing/2014/main" val="3943337711"/>
                    </a:ext>
                  </a:extLst>
                </a:gridCol>
                <a:gridCol w="1280162">
                  <a:extLst>
                    <a:ext uri="{9D8B030D-6E8A-4147-A177-3AD203B41FA5}">
                      <a16:colId xmlns:a16="http://schemas.microsoft.com/office/drawing/2014/main" val="1304319967"/>
                    </a:ext>
                  </a:extLst>
                </a:gridCol>
              </a:tblGrid>
              <a:tr h="480822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Rind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Schwein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Huhn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Geflügel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Schafe, Ziegen, Pferde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Summe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513770"/>
                  </a:ext>
                </a:extLst>
              </a:tr>
              <a:tr h="621863">
                <a:tc>
                  <a:txBody>
                    <a:bodyPr/>
                    <a:lstStyle/>
                    <a:p>
                      <a:r>
                        <a:rPr lang="de-DE" dirty="0" smtClean="0"/>
                        <a:t>Nordthüringen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116,8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18,0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3,0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1,1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8,6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147,5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68889"/>
                  </a:ext>
                </a:extLst>
              </a:tr>
              <a:tr h="621863">
                <a:tc>
                  <a:txBody>
                    <a:bodyPr/>
                    <a:lstStyle/>
                    <a:p>
                      <a:r>
                        <a:rPr lang="de-DE" dirty="0" smtClean="0"/>
                        <a:t>Mittelthüringen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123,3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20,0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25,9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0,2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10,1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179,5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619250"/>
                  </a:ext>
                </a:extLst>
              </a:tr>
              <a:tr h="621863">
                <a:tc>
                  <a:txBody>
                    <a:bodyPr/>
                    <a:lstStyle/>
                    <a:p>
                      <a:r>
                        <a:rPr lang="de-DE" dirty="0" smtClean="0"/>
                        <a:t>Ostthüringen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mtClean="0"/>
                        <a:t>305,8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26,2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1,7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1,0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14,1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348,9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09956"/>
                  </a:ext>
                </a:extLst>
              </a:tr>
              <a:tr h="621863">
                <a:tc>
                  <a:txBody>
                    <a:bodyPr/>
                    <a:lstStyle/>
                    <a:p>
                      <a:r>
                        <a:rPr lang="de-DE" dirty="0" smtClean="0"/>
                        <a:t>Südwestthüringen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206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3,0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10,6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230,8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50290"/>
                  </a:ext>
                </a:extLst>
              </a:tr>
              <a:tr h="360285">
                <a:tc>
                  <a:txBody>
                    <a:bodyPr/>
                    <a:lstStyle/>
                    <a:p>
                      <a:r>
                        <a:rPr lang="de-DE" dirty="0" smtClean="0"/>
                        <a:t>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751,9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75,4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33,6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2,3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43,4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u="sng" dirty="0" smtClean="0"/>
                        <a:t>906,6</a:t>
                      </a:r>
                      <a:endParaRPr lang="de-DE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34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36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6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Ergebnisse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smtClean="0"/>
              <a:t>Energiepflanzen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B50FAE5-B349-4853-AD47-7F6E18DB16F2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2C321D8-A855-4859-8B9E-AB13924EE357}" type="slidenum">
              <a:rPr lang="de-DE" smtClean="0"/>
              <a:t>10</a:t>
            </a:fld>
            <a:endParaRPr lang="de-DE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565002"/>
              </p:ext>
            </p:extLst>
          </p:nvPr>
        </p:nvGraphicFramePr>
        <p:xfrm>
          <a:off x="633984" y="1683111"/>
          <a:ext cx="11218492" cy="4034936"/>
        </p:xfrm>
        <a:graphic>
          <a:graphicData uri="http://schemas.openxmlformats.org/drawingml/2006/table">
            <a:tbl>
              <a:tblPr firstRow="1" firstCol="1" lastRow="1" lastCol="1" bandRow="1">
                <a:tableStyleId>{93296810-A885-4BE3-A3E7-6D5BEEA58F35}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496817919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749137877"/>
                    </a:ext>
                  </a:extLst>
                </a:gridCol>
                <a:gridCol w="1418548">
                  <a:extLst>
                    <a:ext uri="{9D8B030D-6E8A-4147-A177-3AD203B41FA5}">
                      <a16:colId xmlns:a16="http://schemas.microsoft.com/office/drawing/2014/main" val="3944093110"/>
                    </a:ext>
                  </a:extLst>
                </a:gridCol>
                <a:gridCol w="1602642">
                  <a:extLst>
                    <a:ext uri="{9D8B030D-6E8A-4147-A177-3AD203B41FA5}">
                      <a16:colId xmlns:a16="http://schemas.microsoft.com/office/drawing/2014/main" val="4288194572"/>
                    </a:ext>
                  </a:extLst>
                </a:gridCol>
                <a:gridCol w="1602642">
                  <a:extLst>
                    <a:ext uri="{9D8B030D-6E8A-4147-A177-3AD203B41FA5}">
                      <a16:colId xmlns:a16="http://schemas.microsoft.com/office/drawing/2014/main" val="688254489"/>
                    </a:ext>
                  </a:extLst>
                </a:gridCol>
                <a:gridCol w="1602642">
                  <a:extLst>
                    <a:ext uri="{9D8B030D-6E8A-4147-A177-3AD203B41FA5}">
                      <a16:colId xmlns:a16="http://schemas.microsoft.com/office/drawing/2014/main" val="668403634"/>
                    </a:ext>
                  </a:extLst>
                </a:gridCol>
                <a:gridCol w="1602642">
                  <a:extLst>
                    <a:ext uri="{9D8B030D-6E8A-4147-A177-3AD203B41FA5}">
                      <a16:colId xmlns:a16="http://schemas.microsoft.com/office/drawing/2014/main" val="2344039099"/>
                    </a:ext>
                  </a:extLst>
                </a:gridCol>
              </a:tblGrid>
              <a:tr h="643515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GPS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Getreide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Grassilage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Silomais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Zuckerrübe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Summe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691471"/>
                  </a:ext>
                </a:extLst>
              </a:tr>
              <a:tr h="655145">
                <a:tc>
                  <a:txBody>
                    <a:bodyPr/>
                    <a:lstStyle/>
                    <a:p>
                      <a:r>
                        <a:rPr lang="de-DE" dirty="0" smtClean="0"/>
                        <a:t>Nordthüringen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8,2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580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1,4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428,3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35,9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1053,9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11859"/>
                  </a:ext>
                </a:extLst>
              </a:tr>
              <a:tr h="655145">
                <a:tc>
                  <a:txBody>
                    <a:bodyPr/>
                    <a:lstStyle/>
                    <a:p>
                      <a:r>
                        <a:rPr lang="de-DE" dirty="0" smtClean="0"/>
                        <a:t>Mittelthüringen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3,1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553,8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4,3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518,4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52,1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1131,8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482043"/>
                  </a:ext>
                </a:extLst>
              </a:tr>
              <a:tr h="655145">
                <a:tc>
                  <a:txBody>
                    <a:bodyPr/>
                    <a:lstStyle/>
                    <a:p>
                      <a:r>
                        <a:rPr lang="de-DE" dirty="0" smtClean="0"/>
                        <a:t>Ostthüringen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456,1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6,3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654,3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24,9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1144,5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809353"/>
                  </a:ext>
                </a:extLst>
              </a:tr>
              <a:tr h="838815">
                <a:tc>
                  <a:txBody>
                    <a:bodyPr/>
                    <a:lstStyle/>
                    <a:p>
                      <a:r>
                        <a:rPr lang="de-DE" dirty="0" smtClean="0"/>
                        <a:t>Südwestthüringen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1,4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180,3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286,8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1,6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481,3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144470"/>
                  </a:ext>
                </a:extLst>
              </a:tr>
              <a:tr h="587171">
                <a:tc>
                  <a:txBody>
                    <a:bodyPr/>
                    <a:lstStyle/>
                    <a:p>
                      <a:r>
                        <a:rPr lang="de-DE" dirty="0" smtClean="0"/>
                        <a:t>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15,5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1770,2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23,2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1887,8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114,5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u="sng" dirty="0" smtClean="0"/>
                        <a:t>3811,5</a:t>
                      </a:r>
                      <a:endParaRPr lang="de-DE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2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358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6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Ergebnisse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smtClean="0"/>
              <a:t>Bioabfall und </a:t>
            </a:r>
            <a:r>
              <a:rPr lang="de-DE" dirty="0" err="1" smtClean="0"/>
              <a:t>Grüngut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B50FAE5-B349-4853-AD47-7F6E18DB16F2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2C321D8-A855-4859-8B9E-AB13924EE357}" type="slidenum">
              <a:rPr lang="de-DE" smtClean="0"/>
              <a:t>11</a:t>
            </a:fld>
            <a:endParaRPr lang="de-DE" dirty="0"/>
          </a:p>
        </p:txBody>
      </p:sp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28556"/>
              </p:ext>
            </p:extLst>
          </p:nvPr>
        </p:nvGraphicFramePr>
        <p:xfrm>
          <a:off x="1260762" y="2759392"/>
          <a:ext cx="9074728" cy="2494280"/>
        </p:xfrm>
        <a:graphic>
          <a:graphicData uri="http://schemas.openxmlformats.org/drawingml/2006/table">
            <a:tbl>
              <a:tblPr firstRow="1" firstCol="1" lastRow="1" lastCol="1" bandRow="1">
                <a:tableStyleId>{93296810-A885-4BE3-A3E7-6D5BEEA58F35}</a:tableStyleId>
              </a:tblPr>
              <a:tblGrid>
                <a:gridCol w="2268682">
                  <a:extLst>
                    <a:ext uri="{9D8B030D-6E8A-4147-A177-3AD203B41FA5}">
                      <a16:colId xmlns:a16="http://schemas.microsoft.com/office/drawing/2014/main" val="761510639"/>
                    </a:ext>
                  </a:extLst>
                </a:gridCol>
                <a:gridCol w="2268682">
                  <a:extLst>
                    <a:ext uri="{9D8B030D-6E8A-4147-A177-3AD203B41FA5}">
                      <a16:colId xmlns:a16="http://schemas.microsoft.com/office/drawing/2014/main" val="2948467449"/>
                    </a:ext>
                  </a:extLst>
                </a:gridCol>
                <a:gridCol w="2268682">
                  <a:extLst>
                    <a:ext uri="{9D8B030D-6E8A-4147-A177-3AD203B41FA5}">
                      <a16:colId xmlns:a16="http://schemas.microsoft.com/office/drawing/2014/main" val="4085801900"/>
                    </a:ext>
                  </a:extLst>
                </a:gridCol>
                <a:gridCol w="2268682">
                  <a:extLst>
                    <a:ext uri="{9D8B030D-6E8A-4147-A177-3AD203B41FA5}">
                      <a16:colId xmlns:a16="http://schemas.microsoft.com/office/drawing/2014/main" val="3600306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Grüngut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Bioabfall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Gesamt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Nordthüringen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32,2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9,8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25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Mittelthüringen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37,4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22,1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212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Ostthüringen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58,8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16,9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52808"/>
                  </a:ext>
                </a:extLst>
              </a:tr>
              <a:tr h="440084">
                <a:tc>
                  <a:txBody>
                    <a:bodyPr/>
                    <a:lstStyle/>
                    <a:p>
                      <a:r>
                        <a:rPr lang="de-DE" dirty="0" smtClean="0"/>
                        <a:t>Südwestthüringen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27,7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7,7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20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156,2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56,4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212,6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611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457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6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Ergebnisse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smtClean="0"/>
              <a:t>Stroh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B50FAE5-B349-4853-AD47-7F6E18DB16F2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2C321D8-A855-4859-8B9E-AB13924EE357}" type="slidenum">
              <a:rPr lang="de-DE" smtClean="0"/>
              <a:t>12</a:t>
            </a:fld>
            <a:endParaRPr lang="de-DE" dirty="0"/>
          </a:p>
        </p:txBody>
      </p:sp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89762"/>
              </p:ext>
            </p:extLst>
          </p:nvPr>
        </p:nvGraphicFramePr>
        <p:xfrm>
          <a:off x="2419880" y="2435530"/>
          <a:ext cx="5418666" cy="22273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915620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44754030"/>
                    </a:ext>
                  </a:extLst>
                </a:gridCol>
              </a:tblGrid>
              <a:tr h="373177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Stroh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00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Nordthüringen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181,5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85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Mittelthüringen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199,7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42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Ostthüringen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108,2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0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Südwestthüringen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58,6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547,9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94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45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6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Ergebnisse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smtClean="0"/>
              <a:t>Holz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B50FAE5-B349-4853-AD47-7F6E18DB16F2}" type="datetime1">
              <a:rPr lang="de-DE" smtClean="0"/>
              <a:t>15.05.2025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2C321D8-A855-4859-8B9E-AB13924EE357}" type="slidenum">
              <a:rPr lang="de-DE" smtClean="0"/>
              <a:t>13</a:t>
            </a:fld>
            <a:endParaRPr lang="de-DE" dirty="0"/>
          </a:p>
        </p:txBody>
      </p:sp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204321"/>
              </p:ext>
            </p:extLst>
          </p:nvPr>
        </p:nvGraphicFramePr>
        <p:xfrm>
          <a:off x="180107" y="1817731"/>
          <a:ext cx="11817928" cy="3640962"/>
        </p:xfrm>
        <a:graphic>
          <a:graphicData uri="http://schemas.openxmlformats.org/drawingml/2006/table">
            <a:tbl>
              <a:tblPr firstRow="1" firstCol="1" lastRow="1" lastCol="1" bandRow="1">
                <a:tableStyleId>{93296810-A885-4BE3-A3E7-6D5BEEA58F35}</a:tableStyleId>
              </a:tblPr>
              <a:tblGrid>
                <a:gridCol w="2175166">
                  <a:extLst>
                    <a:ext uri="{9D8B030D-6E8A-4147-A177-3AD203B41FA5}">
                      <a16:colId xmlns:a16="http://schemas.microsoft.com/office/drawing/2014/main" val="277612125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869641709"/>
                    </a:ext>
                  </a:extLst>
                </a:gridCol>
                <a:gridCol w="1468581">
                  <a:extLst>
                    <a:ext uri="{9D8B030D-6E8A-4147-A177-3AD203B41FA5}">
                      <a16:colId xmlns:a16="http://schemas.microsoft.com/office/drawing/2014/main" val="1613146830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148823262"/>
                    </a:ext>
                  </a:extLst>
                </a:gridCol>
                <a:gridCol w="1248639">
                  <a:extLst>
                    <a:ext uri="{9D8B030D-6E8A-4147-A177-3AD203B41FA5}">
                      <a16:colId xmlns:a16="http://schemas.microsoft.com/office/drawing/2014/main" val="2055611777"/>
                    </a:ext>
                  </a:extLst>
                </a:gridCol>
                <a:gridCol w="1477241">
                  <a:extLst>
                    <a:ext uri="{9D8B030D-6E8A-4147-A177-3AD203B41FA5}">
                      <a16:colId xmlns:a16="http://schemas.microsoft.com/office/drawing/2014/main" val="3390647206"/>
                    </a:ext>
                  </a:extLst>
                </a:gridCol>
                <a:gridCol w="1477241">
                  <a:extLst>
                    <a:ext uri="{9D8B030D-6E8A-4147-A177-3AD203B41FA5}">
                      <a16:colId xmlns:a16="http://schemas.microsoft.com/office/drawing/2014/main" val="3186895320"/>
                    </a:ext>
                  </a:extLst>
                </a:gridCol>
                <a:gridCol w="1477241">
                  <a:extLst>
                    <a:ext uri="{9D8B030D-6E8A-4147-A177-3AD203B41FA5}">
                      <a16:colId xmlns:a16="http://schemas.microsoft.com/office/drawing/2014/main" val="2466952500"/>
                    </a:ext>
                  </a:extLst>
                </a:gridCol>
              </a:tblGrid>
              <a:tr h="84331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Rinde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Energieholz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Industrierest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Waldrest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Sägeneben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Altholz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680747"/>
                  </a:ext>
                </a:extLst>
              </a:tr>
              <a:tr h="488585">
                <a:tc>
                  <a:txBody>
                    <a:bodyPr/>
                    <a:lstStyle/>
                    <a:p>
                      <a:r>
                        <a:rPr lang="de-DE" dirty="0" smtClean="0"/>
                        <a:t>Nordthüringen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14217"/>
                  </a:ext>
                </a:extLst>
              </a:tr>
              <a:tr h="488585">
                <a:tc>
                  <a:txBody>
                    <a:bodyPr/>
                    <a:lstStyle/>
                    <a:p>
                      <a:r>
                        <a:rPr lang="de-DE" dirty="0" smtClean="0"/>
                        <a:t>Mittelthüringen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017701"/>
                  </a:ext>
                </a:extLst>
              </a:tr>
              <a:tr h="488585">
                <a:tc>
                  <a:txBody>
                    <a:bodyPr/>
                    <a:lstStyle/>
                    <a:p>
                      <a:r>
                        <a:rPr lang="de-DE" dirty="0" smtClean="0"/>
                        <a:t>Ostthüringen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23418"/>
                  </a:ext>
                </a:extLst>
              </a:tr>
              <a:tr h="843311">
                <a:tc>
                  <a:txBody>
                    <a:bodyPr/>
                    <a:lstStyle/>
                    <a:p>
                      <a:r>
                        <a:rPr lang="de-DE" dirty="0" smtClean="0"/>
                        <a:t>Südwestthüringen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490725"/>
                  </a:ext>
                </a:extLst>
              </a:tr>
              <a:tr h="488585">
                <a:tc>
                  <a:txBody>
                    <a:bodyPr/>
                    <a:lstStyle/>
                    <a:p>
                      <a:r>
                        <a:rPr lang="de-DE" dirty="0" smtClean="0"/>
                        <a:t>Thüringen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668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370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7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Diskussion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7"/>
          </p:nvPr>
        </p:nvSpPr>
        <p:spPr>
          <a:xfrm>
            <a:off x="1828800" y="1762910"/>
            <a:ext cx="8839200" cy="3438525"/>
          </a:xfrm>
        </p:spPr>
        <p:txBody>
          <a:bodyPr/>
          <a:lstStyle/>
          <a:p>
            <a:r>
              <a:rPr lang="de-DE" dirty="0" smtClean="0"/>
              <a:t>Kategorisierung zur Vergleichbarkeit von „So geht‘s“ übernommen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7653E23-C045-4A7D-A43C-B659F4780CF5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01B923F-A2A7-4AAA-BD00-85C87C4B3433}" type="slidenum">
              <a:rPr lang="de-DE" smtClean="0"/>
              <a:t>14</a:t>
            </a:fld>
            <a:endParaRPr lang="de-DE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477650"/>
              </p:ext>
            </p:extLst>
          </p:nvPr>
        </p:nvGraphicFramePr>
        <p:xfrm>
          <a:off x="1921397" y="2145497"/>
          <a:ext cx="8127999" cy="3337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592725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45385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60802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ZO.RRO</a:t>
                      </a:r>
                      <a:r>
                        <a:rPr lang="de-DE" baseline="0" dirty="0" smtClean="0"/>
                        <a:t> (So geht‘s)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Neue Berechnung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1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Biomasse gesamt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12.324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45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Holz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3691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52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Energiepflanzen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4132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3788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068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Stroh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2365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548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55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Grassilage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1120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23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169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Reststoffe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1016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1120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807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- Tierische Exkremente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839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907</a:t>
                      </a:r>
                      <a:r>
                        <a:rPr lang="de-DE" baseline="0" dirty="0" smtClean="0"/>
                        <a:t> (861)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25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- Bioabfälle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176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213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694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00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8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Ausblick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7"/>
          </p:nvPr>
        </p:nvSpPr>
        <p:spPr>
          <a:xfrm>
            <a:off x="1743457" y="2152650"/>
            <a:ext cx="8924544" cy="3438525"/>
          </a:xfrm>
        </p:spPr>
        <p:txBody>
          <a:bodyPr/>
          <a:lstStyle/>
          <a:p>
            <a:r>
              <a:rPr lang="de-DE" dirty="0" smtClean="0"/>
              <a:t>Räumliche Verteilung darstellen (Hot Spots )</a:t>
            </a:r>
          </a:p>
          <a:p>
            <a:r>
              <a:rPr lang="de-DE" dirty="0" smtClean="0"/>
              <a:t>Abgleich mit Bedarf</a:t>
            </a:r>
          </a:p>
          <a:p>
            <a:r>
              <a:rPr lang="de-DE" dirty="0" smtClean="0"/>
              <a:t>Holz weiter ausbauen</a:t>
            </a:r>
          </a:p>
          <a:p>
            <a:r>
              <a:rPr lang="de-DE" dirty="0" smtClean="0"/>
              <a:t>Restmüll, Küchenabfälle, Landschaftspflegegras und weitere Kategorien noch berechnen.</a:t>
            </a:r>
          </a:p>
          <a:p>
            <a:r>
              <a:rPr lang="de-DE" dirty="0" smtClean="0"/>
              <a:t>Vorstellung der Ergebnisse bei TLLLR</a:t>
            </a:r>
          </a:p>
          <a:p>
            <a:r>
              <a:rPr lang="de-DE" dirty="0" smtClean="0"/>
              <a:t>Technische Parameter der Konversionstechnologien </a:t>
            </a:r>
          </a:p>
          <a:p>
            <a:r>
              <a:rPr lang="de-DE" dirty="0" smtClean="0"/>
              <a:t>Ökonomische Parameter überprüfen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9787890-7B3E-4CBF-AD77-21239EE5344E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smtClean="0"/>
              <a:t>Biomassepotenziale in Thüringen</a:t>
            </a:r>
            <a:endParaRPr lang="de-DE" dirty="0" smtClean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760D74D-6558-47B1-BD25-5E85A78D0E03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434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/>
          <p:cNvSpPr>
            <a:spLocks noGrp="1"/>
          </p:cNvSpPr>
          <p:nvPr>
            <p:ph type="body" sz="quarter" idx="15"/>
          </p:nvPr>
        </p:nvSpPr>
        <p:spPr>
          <a:xfrm>
            <a:off x="5862638" y="334962"/>
            <a:ext cx="5569291" cy="1341438"/>
          </a:xfrm>
        </p:spPr>
        <p:txBody>
          <a:bodyPr>
            <a:normAutofit/>
          </a:bodyPr>
          <a:lstStyle/>
          <a:p>
            <a:r>
              <a:rPr lang="en-US" dirty="0" err="1" smtClean="0"/>
              <a:t>Vielen</a:t>
            </a:r>
            <a:r>
              <a:rPr lang="en-US" dirty="0" smtClean="0"/>
              <a:t> Dank!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5862638" y="2082800"/>
            <a:ext cx="5770562" cy="37084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de-DE" sz="2500" b="1" dirty="0"/>
              <a:t>Lynn Vincent (M. Eng.)</a:t>
            </a:r>
            <a:br>
              <a:rPr lang="de-DE" sz="2500" b="1" dirty="0"/>
            </a:br>
            <a:r>
              <a:rPr lang="de-DE" sz="2500" b="1" i="1" dirty="0"/>
              <a:t>wissenschaftliche </a:t>
            </a:r>
            <a:r>
              <a:rPr lang="de-DE" sz="2500" b="1" i="1" dirty="0" smtClean="0"/>
              <a:t>Mitarbeiterin/Promovendin</a:t>
            </a:r>
            <a:endParaRPr lang="de-DE" sz="2500" b="1" i="1" dirty="0"/>
          </a:p>
          <a:p>
            <a:pPr>
              <a:lnSpc>
                <a:spcPct val="170000"/>
              </a:lnSpc>
            </a:pPr>
            <a:endParaRPr lang="de-DE" sz="2500" b="1" dirty="0"/>
          </a:p>
          <a:p>
            <a:pPr>
              <a:lnSpc>
                <a:spcPct val="170000"/>
              </a:lnSpc>
            </a:pPr>
            <a:r>
              <a:rPr lang="de-DE" sz="2500" b="1" dirty="0"/>
              <a:t>in.RET - Institut für Regenerative Energietechnik</a:t>
            </a:r>
            <a:br>
              <a:rPr lang="de-DE" sz="2500" b="1" dirty="0"/>
            </a:br>
            <a:r>
              <a:rPr lang="de-DE" sz="2500" dirty="0"/>
              <a:t>Hochschule Nordhausen</a:t>
            </a:r>
            <a:br>
              <a:rPr lang="de-DE" sz="2500" dirty="0"/>
            </a:br>
            <a:r>
              <a:rPr lang="de-DE" sz="2500" dirty="0"/>
              <a:t>Weinberghof 4, D-99734 Nordhausen</a:t>
            </a:r>
            <a:br>
              <a:rPr lang="de-DE" sz="2500" dirty="0"/>
            </a:br>
            <a:r>
              <a:rPr lang="de-DE" sz="2500" dirty="0"/>
              <a:t>Haus </a:t>
            </a:r>
            <a:r>
              <a:rPr lang="de-DE" sz="2500" dirty="0" smtClean="0"/>
              <a:t>34, </a:t>
            </a:r>
            <a:r>
              <a:rPr lang="de-DE" sz="2500" dirty="0"/>
              <a:t>Zimmer </a:t>
            </a:r>
            <a:r>
              <a:rPr lang="de-DE" sz="2500" dirty="0" smtClean="0"/>
              <a:t>34.0010</a:t>
            </a:r>
            <a:endParaRPr lang="de-DE" sz="2500" dirty="0"/>
          </a:p>
          <a:p>
            <a:pPr>
              <a:lnSpc>
                <a:spcPct val="170000"/>
              </a:lnSpc>
            </a:pPr>
            <a:r>
              <a:rPr lang="de-DE" sz="2500" b="1" dirty="0"/>
              <a:t/>
            </a:r>
            <a:br>
              <a:rPr lang="de-DE" sz="2500" b="1" dirty="0"/>
            </a:br>
            <a:r>
              <a:rPr lang="de-DE" sz="2500" b="1" dirty="0"/>
              <a:t>Tel: +49 3631 420 837</a:t>
            </a:r>
          </a:p>
          <a:p>
            <a:pPr>
              <a:lnSpc>
                <a:spcPct val="170000"/>
              </a:lnSpc>
            </a:pPr>
            <a:r>
              <a:rPr lang="de-DE" sz="2500" b="1" dirty="0"/>
              <a:t>E-Mail: lynn.vincent@hs-nordhausen.de</a:t>
            </a:r>
          </a:p>
          <a:p>
            <a:endParaRPr lang="de-DE" dirty="0"/>
          </a:p>
        </p:txBody>
      </p:sp>
      <p:pic>
        <p:nvPicPr>
          <p:cNvPr id="20" name="Picture 2" descr="Universität Rostock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60" y="5619750"/>
            <a:ext cx="57150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03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nret">
      <a:majorFont>
        <a:latin typeface="News Gothic MT"/>
        <a:ea typeface=""/>
        <a:cs typeface=""/>
      </a:majorFont>
      <a:minorFont>
        <a:latin typeface="News Gothic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ret" id="{8CDA9764-597B-4EC4-B23B-B2E19C969EEC}" vid="{C06F9E11-99A9-430D-AD2D-3B53CBD8C9D8}"/>
    </a:ext>
  </a:extLst>
</a:theme>
</file>

<file path=ppt/theme/theme2.xml><?xml version="1.0" encoding="utf-8"?>
<a:theme xmlns:a="http://schemas.openxmlformats.org/drawingml/2006/main" name="GRÜ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nret">
      <a:majorFont>
        <a:latin typeface="News Gothic MT"/>
        <a:ea typeface=""/>
        <a:cs typeface=""/>
      </a:majorFont>
      <a:minorFont>
        <a:latin typeface="News Gothic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ret" id="{8CDA9764-597B-4EC4-B23B-B2E19C969EEC}" vid="{668737C9-3C82-40C9-A029-CD228256D7D3}"/>
    </a:ext>
  </a:extLst>
</a:theme>
</file>

<file path=ppt/theme/theme3.xml><?xml version="1.0" encoding="utf-8"?>
<a:theme xmlns:a="http://schemas.openxmlformats.org/drawingml/2006/main" name="BLAU">
  <a:themeElements>
    <a:clrScheme name="Benutzerdefiniert 8">
      <a:dk1>
        <a:srgbClr val="151718"/>
      </a:dk1>
      <a:lt1>
        <a:srgbClr val="FFFFFF"/>
      </a:lt1>
      <a:dk2>
        <a:srgbClr val="616263"/>
      </a:dk2>
      <a:lt2>
        <a:srgbClr val="B0B1B1"/>
      </a:lt2>
      <a:accent1>
        <a:srgbClr val="0059B9"/>
      </a:accent1>
      <a:accent2>
        <a:srgbClr val="67BD00"/>
      </a:accent2>
      <a:accent3>
        <a:srgbClr val="FFFFFF"/>
      </a:accent3>
      <a:accent4>
        <a:srgbClr val="0059B9"/>
      </a:accent4>
      <a:accent5>
        <a:srgbClr val="67BD00"/>
      </a:accent5>
      <a:accent6>
        <a:srgbClr val="FFFFFF"/>
      </a:accent6>
      <a:hlink>
        <a:srgbClr val="0059B9"/>
      </a:hlink>
      <a:folHlink>
        <a:srgbClr val="0059B9"/>
      </a:folHlink>
    </a:clrScheme>
    <a:fontScheme name="inret">
      <a:majorFont>
        <a:latin typeface="News Gothic MT"/>
        <a:ea typeface=""/>
        <a:cs typeface=""/>
      </a:majorFont>
      <a:minorFont>
        <a:latin typeface="News Gothic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ret" id="{8CDA9764-597B-4EC4-B23B-B2E19C969EEC}" vid="{5A5D1F36-F00D-42D1-9B1F-BF33FCDEAE72}"/>
    </a:ext>
  </a:extLst>
</a:theme>
</file>

<file path=ppt/theme/theme4.xml><?xml version="1.0" encoding="utf-8"?>
<a:theme xmlns:a="http://schemas.openxmlformats.org/drawingml/2006/main" name="3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nret">
      <a:majorFont>
        <a:latin typeface="News Gothic MT"/>
        <a:ea typeface=""/>
        <a:cs typeface=""/>
      </a:majorFont>
      <a:minorFont>
        <a:latin typeface="News Gothic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ret" id="{8CDA9764-597B-4EC4-B23B-B2E19C969EEC}" vid="{066D3C30-1E59-4DFB-A4FA-F97EB7BF55C8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inret</Template>
  <TotalTime>0</TotalTime>
  <Words>1643</Words>
  <Application>Microsoft Office PowerPoint</Application>
  <PresentationFormat>Breitbild</PresentationFormat>
  <Paragraphs>359</Paragraphs>
  <Slides>16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16</vt:i4>
      </vt:variant>
    </vt:vector>
  </HeadingPairs>
  <TitlesOfParts>
    <vt:vector size="24" baseType="lpstr">
      <vt:lpstr>Arial</vt:lpstr>
      <vt:lpstr>Calibri</vt:lpstr>
      <vt:lpstr>News Gothic MT</vt:lpstr>
      <vt:lpstr>Wingdings</vt:lpstr>
      <vt:lpstr>Benutzerdefiniertes Design</vt:lpstr>
      <vt:lpstr>GRÜN</vt:lpstr>
      <vt:lpstr>BLAU</vt:lpstr>
      <vt:lpstr>3_Office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Nordhausen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Eberhard, Nina</dc:creator>
  <cp:lastModifiedBy>Vincent, Lynn</cp:lastModifiedBy>
  <cp:revision>200</cp:revision>
  <dcterms:created xsi:type="dcterms:W3CDTF">2023-02-20T12:14:14Z</dcterms:created>
  <dcterms:modified xsi:type="dcterms:W3CDTF">2025-05-15T10:49:17Z</dcterms:modified>
</cp:coreProperties>
</file>